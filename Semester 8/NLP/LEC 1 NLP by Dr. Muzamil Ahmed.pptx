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34"/>
  </p:notesMasterIdLst>
  <p:sldIdLst>
    <p:sldId id="257" r:id="rId3"/>
    <p:sldId id="259" r:id="rId4"/>
    <p:sldId id="431" r:id="rId5"/>
    <p:sldId id="360" r:id="rId6"/>
    <p:sldId id="403" r:id="rId7"/>
    <p:sldId id="456" r:id="rId8"/>
    <p:sldId id="457" r:id="rId9"/>
    <p:sldId id="458" r:id="rId10"/>
    <p:sldId id="459" r:id="rId11"/>
    <p:sldId id="460" r:id="rId12"/>
    <p:sldId id="477" r:id="rId13"/>
    <p:sldId id="461" r:id="rId14"/>
    <p:sldId id="464" r:id="rId15"/>
    <p:sldId id="463" r:id="rId16"/>
    <p:sldId id="465" r:id="rId17"/>
    <p:sldId id="462" r:id="rId18"/>
    <p:sldId id="467" r:id="rId19"/>
    <p:sldId id="468" r:id="rId20"/>
    <p:sldId id="469" r:id="rId21"/>
    <p:sldId id="470" r:id="rId22"/>
    <p:sldId id="466" r:id="rId23"/>
    <p:sldId id="471" r:id="rId24"/>
    <p:sldId id="472" r:id="rId25"/>
    <p:sldId id="455" r:id="rId26"/>
    <p:sldId id="473" r:id="rId27"/>
    <p:sldId id="432" r:id="rId28"/>
    <p:sldId id="474" r:id="rId29"/>
    <p:sldId id="475" r:id="rId30"/>
    <p:sldId id="476" r:id="rId31"/>
    <p:sldId id="444" r:id="rId32"/>
    <p:sldId id="423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50" autoAdjust="0"/>
  </p:normalViewPr>
  <p:slideViewPr>
    <p:cSldViewPr>
      <p:cViewPr varScale="1">
        <p:scale>
          <a:sx n="70" d="100"/>
          <a:sy n="70" d="100"/>
        </p:scale>
        <p:origin x="1066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60721-94BF-4411-A1EA-5F660A4BE96A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6D184-5CFF-481F-B21F-761C7DC0E7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971FF-EF28-4195-A575-329446EFAA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28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70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1. Discrete yet Structured</a:t>
            </a:r>
            <a:br>
              <a:rPr lang="en-US" dirty="0"/>
            </a:br>
            <a:r>
              <a:rPr lang="en-US" dirty="0"/>
              <a:t>Language consists of separate words arranged in grammatical structure.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“AI improves healthcare.” (Clear subject–verb–object structure)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Hierarchical</a:t>
            </a:r>
            <a:br>
              <a:rPr lang="en-US" dirty="0"/>
            </a:br>
            <a:r>
              <a:rPr lang="en-US" dirty="0"/>
              <a:t>Sentences contain nested phrases and clauses.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“The student [who won the award] is happy.”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Context-Sensitive</a:t>
            </a:r>
            <a:br>
              <a:rPr lang="en-US" dirty="0"/>
            </a:br>
            <a:r>
              <a:rPr lang="en-US" dirty="0"/>
              <a:t>Meaning depends on surrounding context.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“It’s hot.” (Statement or request to turn on AC)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Ambiguous</a:t>
            </a:r>
            <a:br>
              <a:rPr lang="en-US" dirty="0"/>
            </a:br>
            <a:r>
              <a:rPr lang="en-US" dirty="0"/>
              <a:t>A sentence may have multiple interpretations.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“I saw her duck.” (She lowered her head / She owns a duck)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Sequential but Not Strictly Markovian</a:t>
            </a:r>
            <a:br>
              <a:rPr lang="en-US" dirty="0"/>
            </a:br>
            <a:r>
              <a:rPr lang="en-US" dirty="0"/>
              <a:t>Words are sequential, but dependencies may span long distances.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“The keys on the table </a:t>
            </a:r>
            <a:r>
              <a:rPr lang="en-US" b="1" dirty="0"/>
              <a:t>are</a:t>
            </a:r>
            <a:r>
              <a:rPr lang="en-US" dirty="0"/>
              <a:t> missing.” (Verb agrees with “keys”)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No Fixed Grammar</a:t>
            </a:r>
            <a:br>
              <a:rPr lang="en-US" dirty="0"/>
            </a:br>
            <a:r>
              <a:rPr lang="en-US" dirty="0"/>
              <a:t>Rules are flexible and evolve over time.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Informal forms like “</a:t>
            </a:r>
            <a:r>
              <a:rPr lang="en-US" dirty="0" err="1"/>
              <a:t>gonna</a:t>
            </a:r>
            <a:r>
              <a:rPr lang="en-US" dirty="0"/>
              <a:t>” are understood.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7. Pragmatic Meaning</a:t>
            </a:r>
            <a:br>
              <a:rPr lang="en-US" dirty="0"/>
            </a:br>
            <a:r>
              <a:rPr lang="en-US" dirty="0" err="1"/>
              <a:t>Meaning</a:t>
            </a:r>
            <a:r>
              <a:rPr lang="en-US" dirty="0"/>
              <a:t> depends on speaker intention.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“Can you open the window?” (Request, not ability question)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8. Requires World Knowledge</a:t>
            </a:r>
            <a:br>
              <a:rPr lang="en-US" dirty="0"/>
            </a:br>
            <a:r>
              <a:rPr lang="en-US" dirty="0"/>
              <a:t>Understanding relies on real-world understanding.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“She put ice in the drink to cool it.”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44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Probabilistic Models</a:t>
            </a:r>
          </a:p>
          <a:p>
            <a:r>
              <a:rPr lang="en-US" dirty="0"/>
              <a:t>Instead of:</a:t>
            </a:r>
            <a:br>
              <a:rPr lang="en-US" dirty="0"/>
            </a:br>
            <a:r>
              <a:rPr lang="en-US" dirty="0"/>
              <a:t>“If X then Y”</a:t>
            </a:r>
          </a:p>
          <a:p>
            <a:r>
              <a:rPr lang="en-US" dirty="0"/>
              <a:t>We model:</a:t>
            </a:r>
          </a:p>
          <a:p>
            <a:r>
              <a:rPr lang="en-US" dirty="0"/>
              <a:t>Probability of Y given X</a:t>
            </a:r>
          </a:p>
          <a:p>
            <a:r>
              <a:rPr lang="en-US" b="1" dirty="0"/>
              <a:t>N-gram Language Models</a:t>
            </a:r>
          </a:p>
          <a:p>
            <a:r>
              <a:rPr lang="en-US" dirty="0"/>
              <a:t>Predict next word using previous words.</a:t>
            </a:r>
          </a:p>
          <a:p>
            <a:r>
              <a:rPr lang="en-US" b="1" dirty="0"/>
              <a:t>Hidden Markov Models (HMMs)</a:t>
            </a:r>
          </a:p>
          <a:p>
            <a:r>
              <a:rPr lang="en-US" dirty="0"/>
              <a:t>Used for:</a:t>
            </a:r>
          </a:p>
          <a:p>
            <a:r>
              <a:rPr lang="en-US" dirty="0"/>
              <a:t>Part-of-speech tagging</a:t>
            </a:r>
          </a:p>
          <a:p>
            <a:r>
              <a:rPr lang="en-US" dirty="0"/>
              <a:t>Speech recognition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/>
              <a:t>CRFs</a:t>
            </a:r>
            <a:endParaRPr lang="en-US" b="1" dirty="0"/>
          </a:p>
          <a:p>
            <a:r>
              <a:rPr lang="en-US" dirty="0"/>
              <a:t>“New York City”</a:t>
            </a:r>
          </a:p>
          <a:p>
            <a:r>
              <a:rPr lang="en-US" dirty="0"/>
              <a:t>CRF ensures:</a:t>
            </a:r>
            <a:br>
              <a:rPr lang="en-US" dirty="0"/>
            </a:br>
            <a:r>
              <a:rPr lang="en-US" dirty="0"/>
              <a:t>B-LOC → I-LOC → I-LOC</a:t>
            </a:r>
          </a:p>
          <a:p>
            <a:r>
              <a:rPr lang="en-US" dirty="0"/>
              <a:t>Probability of current word</a:t>
            </a:r>
            <a:br>
              <a:rPr lang="en-US" dirty="0"/>
            </a:br>
            <a:r>
              <a:rPr lang="en-US" dirty="0"/>
              <a:t>given previous n words.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93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b="1" dirty="0"/>
                  <a:t>Step-by-Step Explanation:</a:t>
                </a:r>
              </a:p>
              <a:p>
                <a:r>
                  <a:rPr lang="it-IT" dirty="0"/>
                  <a:t>Compute similarity: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𝑄</m:t>
                      </m:r>
                      <m:sSup>
                        <m:sSupPr>
                          <m:ctrlPr>
                            <a:rPr lang="ur-PK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ur-PK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𝐾</m:t>
                          </m:r>
                        </m:e>
                        <m:sup>
                          <m:r>
                            <a:rPr lang="ur-PK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Measures how relevant each word is to another.</a:t>
                </a:r>
              </a:p>
              <a:p>
                <a:r>
                  <a:rPr lang="it-IT" dirty="0"/>
                  <a:t>Scale: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ur-PK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ur-PK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  <m:sSup>
                            <m:sSupPr>
                              <m:ctrlPr>
                                <a:rPr lang="ur-PK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ur-PK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ur-PK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ur-PK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ur-PK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ur-PK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ur-PK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Prevents large values that destabilize softmax.</a:t>
                </a:r>
              </a:p>
              <a:p>
                <a:r>
                  <a:rPr lang="it-IT" dirty="0"/>
                  <a:t>Apply Softmax:</a:t>
                </a:r>
                <a:br>
                  <a:rPr lang="it-IT" dirty="0"/>
                </a:br>
                <a:r>
                  <a:rPr lang="it-IT" dirty="0"/>
                  <a:t>Produces attention weights (probability distribution).</a:t>
                </a:r>
              </a:p>
              <a:p>
                <a:r>
                  <a:rPr lang="it-IT" dirty="0"/>
                  <a:t>Multiply with V:</a:t>
                </a:r>
                <a:br>
                  <a:rPr lang="it-IT" dirty="0"/>
                </a:br>
                <a:r>
                  <a:rPr lang="it-IT" dirty="0"/>
                  <a:t>Generates weighted combination of values.</a:t>
                </a:r>
              </a:p>
              <a:p>
                <a:endParaRPr lang="en-PK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b="1" dirty="0"/>
                  <a:t>Step-by-Step Explanation:</a:t>
                </a:r>
              </a:p>
              <a:p>
                <a:r>
                  <a:rPr lang="it-IT" dirty="0"/>
                  <a:t>Compute similarity:</a:t>
                </a:r>
              </a:p>
              <a:p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𝐾^𝑇</a:t>
                </a:r>
                <a:endParaRPr lang="ur-PK" dirty="0"/>
              </a:p>
              <a:p>
                <a:r>
                  <a:rPr lang="it-IT" dirty="0"/>
                  <a:t>Measures how relevant each word is to another.</a:t>
                </a:r>
              </a:p>
              <a:p>
                <a:r>
                  <a:rPr lang="it-IT" dirty="0"/>
                  <a:t>Scale:</a:t>
                </a:r>
              </a:p>
              <a:p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(𝑄𝐾^𝑇)/√(𝑑_𝑘 )</a:t>
                </a:r>
                <a:endParaRPr lang="ur-PK" dirty="0"/>
              </a:p>
              <a:p>
                <a:r>
                  <a:rPr lang="it-IT" dirty="0"/>
                  <a:t>Prevents large values that destabilize softmax.</a:t>
                </a:r>
              </a:p>
              <a:p>
                <a:r>
                  <a:rPr lang="it-IT" dirty="0"/>
                  <a:t>Apply Softmax:</a:t>
                </a:r>
                <a:br>
                  <a:rPr lang="it-IT" dirty="0"/>
                </a:br>
                <a:r>
                  <a:rPr lang="it-IT" dirty="0"/>
                  <a:t>Produces attention weights (probability distribution).</a:t>
                </a:r>
              </a:p>
              <a:p>
                <a:r>
                  <a:rPr lang="it-IT" dirty="0"/>
                  <a:t>Multiply with V:</a:t>
                </a:r>
                <a:br>
                  <a:rPr lang="it-IT" dirty="0"/>
                </a:br>
                <a:r>
                  <a:rPr lang="it-IT" dirty="0"/>
                  <a:t>Generates weighted combination of values.</a:t>
                </a:r>
              </a:p>
              <a:p>
                <a:endParaRPr lang="en-PK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62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0C0D7E8-BF32-438F-84C1-648083C955EA}" type="datetime1">
              <a:rPr lang="en-US" smtClean="0"/>
              <a:t>2/24/2026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5222-7FFD-458D-AA7A-4839D09D2800}" type="datetime1">
              <a:rPr lang="en-US" smtClean="0"/>
              <a:t>2/24/2026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5447-4F93-453B-9334-D6376E7308C7}" type="datetime1">
              <a:rPr lang="en-US" smtClean="0"/>
              <a:t>2/24/2026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4E7F0E-8329-46BA-AEFC-B25BD543546E}" type="datetime1">
              <a:rPr lang="en-US" smtClean="0"/>
              <a:t>2/24/2026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397755-24C4-4CB8-A24E-CE875D52ADFE}" type="datetime1">
              <a:rPr lang="en-US" smtClean="0"/>
              <a:t>2/24/2026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BC2-AD67-4B36-8D3D-00D5A970F27C}" type="datetime1">
              <a:rPr lang="en-US" smtClean="0"/>
              <a:t>2/24/2026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7C5A3-E0F5-420B-BF58-C61AC76EA112}" type="datetime1">
              <a:rPr lang="en-US" smtClean="0"/>
              <a:t>2/24/2026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3648-7D39-4045-95DD-019E6055DCA9}" type="datetime1">
              <a:rPr lang="en-US" smtClean="0"/>
              <a:t>2/24/2026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34AD72A-2615-44F1-AEE6-5D7304D3515A}" type="datetime1">
              <a:rPr lang="en-US" smtClean="0"/>
              <a:t>2/24/2026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0B56-782F-4474-B90E-D53FC6B5852A}" type="datetime1">
              <a:rPr lang="en-US" smtClean="0"/>
              <a:t>2/24/2026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9E114A5-3191-4D8F-942E-022FACD68F64}" type="datetime1">
              <a:rPr lang="en-US" smtClean="0"/>
              <a:t>2/24/2026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460" y="0"/>
            <a:ext cx="1219212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map" descr="Map of North America"/>
          <p:cNvSpPr>
            <a:spLocks noEditPoints="1"/>
          </p:cNvSpPr>
          <p:nvPr/>
        </p:nvSpPr>
        <p:spPr bwMode="auto">
          <a:xfrm>
            <a:off x="4474740" y="3175"/>
            <a:ext cx="7717260" cy="6858000"/>
          </a:xfrm>
          <a:custGeom>
            <a:avLst/>
            <a:gdLst>
              <a:gd name="T0" fmla="*/ 1783 w 2440"/>
              <a:gd name="T1" fmla="*/ 1830 h 2169"/>
              <a:gd name="T2" fmla="*/ 1735 w 2440"/>
              <a:gd name="T3" fmla="*/ 1818 h 2169"/>
              <a:gd name="T4" fmla="*/ 1585 w 2440"/>
              <a:gd name="T5" fmla="*/ 1660 h 2169"/>
              <a:gd name="T6" fmla="*/ 1935 w 2440"/>
              <a:gd name="T7" fmla="*/ 1809 h 2169"/>
              <a:gd name="T8" fmla="*/ 2317 w 2440"/>
              <a:gd name="T9" fmla="*/ 1119 h 2169"/>
              <a:gd name="T10" fmla="*/ 2190 w 2440"/>
              <a:gd name="T11" fmla="*/ 2077 h 2169"/>
              <a:gd name="T12" fmla="*/ 1647 w 2440"/>
              <a:gd name="T13" fmla="*/ 1932 h 2169"/>
              <a:gd name="T14" fmla="*/ 1622 w 2440"/>
              <a:gd name="T15" fmla="*/ 1637 h 2169"/>
              <a:gd name="T16" fmla="*/ 1891 w 2440"/>
              <a:gd name="T17" fmla="*/ 1481 h 2169"/>
              <a:gd name="T18" fmla="*/ 2135 w 2440"/>
              <a:gd name="T19" fmla="*/ 1264 h 2169"/>
              <a:gd name="T20" fmla="*/ 2103 w 2440"/>
              <a:gd name="T21" fmla="*/ 1148 h 2169"/>
              <a:gd name="T22" fmla="*/ 2166 w 2440"/>
              <a:gd name="T23" fmla="*/ 926 h 2169"/>
              <a:gd name="T24" fmla="*/ 1907 w 2440"/>
              <a:gd name="T25" fmla="*/ 793 h 2169"/>
              <a:gd name="T26" fmla="*/ 1529 w 2440"/>
              <a:gd name="T27" fmla="*/ 903 h 2169"/>
              <a:gd name="T28" fmla="*/ 1721 w 2440"/>
              <a:gd name="T29" fmla="*/ 639 h 2169"/>
              <a:gd name="T30" fmla="*/ 1521 w 2440"/>
              <a:gd name="T31" fmla="*/ 462 h 2169"/>
              <a:gd name="T32" fmla="*/ 1474 w 2440"/>
              <a:gd name="T33" fmla="*/ 597 h 2169"/>
              <a:gd name="T34" fmla="*/ 928 w 2440"/>
              <a:gd name="T35" fmla="*/ 540 h 2169"/>
              <a:gd name="T36" fmla="*/ 608 w 2440"/>
              <a:gd name="T37" fmla="*/ 553 h 2169"/>
              <a:gd name="T38" fmla="*/ 20 w 2440"/>
              <a:gd name="T39" fmla="*/ 675 h 2169"/>
              <a:gd name="T40" fmla="*/ 168 w 2440"/>
              <a:gd name="T41" fmla="*/ 903 h 2169"/>
              <a:gd name="T42" fmla="*/ 325 w 2440"/>
              <a:gd name="T43" fmla="*/ 853 h 2169"/>
              <a:gd name="T44" fmla="*/ 664 w 2440"/>
              <a:gd name="T45" fmla="*/ 899 h 2169"/>
              <a:gd name="T46" fmla="*/ 810 w 2440"/>
              <a:gd name="T47" fmla="*/ 1049 h 2169"/>
              <a:gd name="T48" fmla="*/ 910 w 2440"/>
              <a:gd name="T49" fmla="*/ 1255 h 2169"/>
              <a:gd name="T50" fmla="*/ 1116 w 2440"/>
              <a:gd name="T51" fmla="*/ 1654 h 2169"/>
              <a:gd name="T52" fmla="*/ 1741 w 2440"/>
              <a:gd name="T53" fmla="*/ 2103 h 2169"/>
              <a:gd name="T54" fmla="*/ 1733 w 2440"/>
              <a:gd name="T55" fmla="*/ 1251 h 2169"/>
              <a:gd name="T56" fmla="*/ 1647 w 2440"/>
              <a:gd name="T57" fmla="*/ 1181 h 2169"/>
              <a:gd name="T58" fmla="*/ 892 w 2440"/>
              <a:gd name="T59" fmla="*/ 671 h 2169"/>
              <a:gd name="T60" fmla="*/ 1451 w 2440"/>
              <a:gd name="T61" fmla="*/ 1701 h 2169"/>
              <a:gd name="T62" fmla="*/ 1954 w 2440"/>
              <a:gd name="T63" fmla="*/ 1869 h 2169"/>
              <a:gd name="T64" fmla="*/ 2214 w 2440"/>
              <a:gd name="T65" fmla="*/ 1992 h 2169"/>
              <a:gd name="T66" fmla="*/ 2421 w 2440"/>
              <a:gd name="T67" fmla="*/ 0 h 2169"/>
              <a:gd name="T68" fmla="*/ 2040 w 2440"/>
              <a:gd name="T69" fmla="*/ 240 h 2169"/>
              <a:gd name="T70" fmla="*/ 2366 w 2440"/>
              <a:gd name="T71" fmla="*/ 466 h 2169"/>
              <a:gd name="T72" fmla="*/ 2368 w 2440"/>
              <a:gd name="T73" fmla="*/ 605 h 2169"/>
              <a:gd name="T74" fmla="*/ 2410 w 2440"/>
              <a:gd name="T75" fmla="*/ 678 h 2169"/>
              <a:gd name="T76" fmla="*/ 1318 w 2440"/>
              <a:gd name="T77" fmla="*/ 282 h 2169"/>
              <a:gd name="T78" fmla="*/ 1546 w 2440"/>
              <a:gd name="T79" fmla="*/ 58 h 2169"/>
              <a:gd name="T80" fmla="*/ 1075 w 2440"/>
              <a:gd name="T81" fmla="*/ 312 h 2169"/>
              <a:gd name="T82" fmla="*/ 1422 w 2440"/>
              <a:gd name="T83" fmla="*/ 270 h 2169"/>
              <a:gd name="T84" fmla="*/ 1400 w 2440"/>
              <a:gd name="T85" fmla="*/ 409 h 2169"/>
              <a:gd name="T86" fmla="*/ 1632 w 2440"/>
              <a:gd name="T87" fmla="*/ 311 h 2169"/>
              <a:gd name="T88" fmla="*/ 1393 w 2440"/>
              <a:gd name="T89" fmla="*/ 262 h 2169"/>
              <a:gd name="T90" fmla="*/ 1041 w 2440"/>
              <a:gd name="T91" fmla="*/ 422 h 2169"/>
              <a:gd name="T92" fmla="*/ 1314 w 2440"/>
              <a:gd name="T93" fmla="*/ 193 h 2169"/>
              <a:gd name="T94" fmla="*/ 204 w 2440"/>
              <a:gd name="T95" fmla="*/ 1835 h 2169"/>
              <a:gd name="T96" fmla="*/ 1015 w 2440"/>
              <a:gd name="T97" fmla="*/ 370 h 2169"/>
              <a:gd name="T98" fmla="*/ 1755 w 2440"/>
              <a:gd name="T99" fmla="*/ 732 h 2169"/>
              <a:gd name="T100" fmla="*/ 1645 w 2440"/>
              <a:gd name="T101" fmla="*/ 37 h 2169"/>
              <a:gd name="T102" fmla="*/ 1771 w 2440"/>
              <a:gd name="T103" fmla="*/ 164 h 2169"/>
              <a:gd name="T104" fmla="*/ 1798 w 2440"/>
              <a:gd name="T105" fmla="*/ 286 h 2169"/>
              <a:gd name="T106" fmla="*/ 2088 w 2440"/>
              <a:gd name="T107" fmla="*/ 64 h 2169"/>
              <a:gd name="T108" fmla="*/ 1844 w 2440"/>
              <a:gd name="T109" fmla="*/ 448 h 2169"/>
              <a:gd name="T110" fmla="*/ 1843 w 2440"/>
              <a:gd name="T111" fmla="*/ 521 h 2169"/>
              <a:gd name="T112" fmla="*/ 1896 w 2440"/>
              <a:gd name="T113" fmla="*/ 728 h 2169"/>
              <a:gd name="T114" fmla="*/ 2119 w 2440"/>
              <a:gd name="T115" fmla="*/ 723 h 2169"/>
              <a:gd name="T116" fmla="*/ 2173 w 2440"/>
              <a:gd name="T117" fmla="*/ 644 h 2169"/>
              <a:gd name="T118" fmla="*/ 2028 w 2440"/>
              <a:gd name="T119" fmla="*/ 497 h 2169"/>
              <a:gd name="T120" fmla="*/ 321 w 2440"/>
              <a:gd name="T121" fmla="*/ 931 h 2169"/>
              <a:gd name="T122" fmla="*/ 709 w 2440"/>
              <a:gd name="T123" fmla="*/ 983 h 2169"/>
              <a:gd name="T124" fmla="*/ 713 w 2440"/>
              <a:gd name="T125" fmla="*/ 95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0" h="2169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1828800"/>
            <a:ext cx="9756141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931" y="5029200"/>
            <a:ext cx="7850644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90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655C-B830-4E55-B43E-F6625671B34E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3429001"/>
            <a:ext cx="9756141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466" y="685802"/>
            <a:ext cx="7855109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C6BC-A433-4696-A465-46BA6A0105BF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3360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411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C1DB-864B-4661-A723-56F9D948027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931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3685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3685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BCC8-A8E5-4BF9-AE4A-CA7C2E5CCD9A}" type="datetime1">
              <a:rPr lang="en-US" smtClean="0"/>
              <a:t>2/24/2026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0841-724E-4D0C-B909-EAC4BCECF5C4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3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EE21-688A-43E1-B3F7-A0F14FE370C9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7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67342" y="685800"/>
            <a:ext cx="564026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0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22FA-491E-405E-B06C-DE8D819FF033}" type="datetime1">
              <a:rPr lang="en-US" smtClean="0"/>
              <a:t>2/24/2026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7341" y="685800"/>
            <a:ext cx="564026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1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B28-5721-43C7-BA9D-5C4CB5E839B6}" type="datetime1">
              <a:rPr lang="en-US" smtClean="0"/>
              <a:t>2/24/2026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E93-C28B-4E69-97C0-5D3668E3DABE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85800"/>
            <a:ext cx="213487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930" y="685800"/>
            <a:ext cx="7418070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F19E-BC11-4124-A139-2E5CC8169839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8B70B3A-F527-4D79-87DD-D1847B721911}" type="datetime1">
              <a:rPr lang="en-US" smtClean="0"/>
              <a:t>2/24/2026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9756141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9151" y="6448427"/>
            <a:ext cx="6639905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3936" y="6448427"/>
            <a:ext cx="139662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B92C6DA7-2534-4EE1-AE5D-0AFAED58DEB3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48427"/>
            <a:ext cx="114329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cholar.google.com.pk/citations?user=wIdOTn8AAAAJ&amp;hl=e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9DA5A3-D44A-2CEB-B6E0-8625CE59C7CB}"/>
              </a:ext>
            </a:extLst>
          </p:cNvPr>
          <p:cNvSpPr/>
          <p:nvPr/>
        </p:nvSpPr>
        <p:spPr>
          <a:xfrm>
            <a:off x="0" y="606620"/>
            <a:ext cx="12192000" cy="14318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6B468-B8BE-3B89-CA0C-D4FEC54512FB}"/>
              </a:ext>
            </a:extLst>
          </p:cNvPr>
          <p:cNvSpPr txBox="1">
            <a:spLocks/>
          </p:cNvSpPr>
          <p:nvPr/>
        </p:nvSpPr>
        <p:spPr>
          <a:xfrm>
            <a:off x="1173444" y="962158"/>
            <a:ext cx="8237209" cy="706184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cap="none" dirty="0">
                <a:solidFill>
                  <a:prstClr val="white"/>
                </a:solidFill>
                <a:latin typeface="Congenial Black" panose="020B0604020202020204" pitchFamily="2" charset="0"/>
              </a:rPr>
              <a:t>Natural Language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C1428-F5BA-E671-7907-EECA8DA932A4}"/>
              </a:ext>
            </a:extLst>
          </p:cNvPr>
          <p:cNvSpPr/>
          <p:nvPr/>
        </p:nvSpPr>
        <p:spPr>
          <a:xfrm>
            <a:off x="0" y="2038486"/>
            <a:ext cx="12192000" cy="1663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E19DF-522F-D9E4-DCF5-C849E42ED1DF}"/>
              </a:ext>
            </a:extLst>
          </p:cNvPr>
          <p:cNvSpPr/>
          <p:nvPr/>
        </p:nvSpPr>
        <p:spPr>
          <a:xfrm>
            <a:off x="-9547" y="5522341"/>
            <a:ext cx="12188824" cy="8538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00FFFF"/>
              </a:highlight>
              <a:latin typeface="Calibri" panose="020F0502020204030204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A920A4E-F7D4-C7D9-8A43-FA9E112C0EF2}"/>
              </a:ext>
            </a:extLst>
          </p:cNvPr>
          <p:cNvSpPr txBox="1">
            <a:spLocks/>
          </p:cNvSpPr>
          <p:nvPr/>
        </p:nvSpPr>
        <p:spPr>
          <a:xfrm>
            <a:off x="1686918" y="2750357"/>
            <a:ext cx="9122964" cy="1298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Introduction to NLP, Applications &amp; Project-Oriented Learning</a:t>
            </a:r>
            <a:endParaRPr lang="de-AT" sz="24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662" y="5737273"/>
            <a:ext cx="9361040" cy="853877"/>
          </a:xfrm>
        </p:spPr>
        <p:txBody>
          <a:bodyPr>
            <a:noAutofit/>
          </a:bodyPr>
          <a:lstStyle/>
          <a:p>
            <a:r>
              <a:rPr lang="de-DE" sz="2800" b="1" cap="none" dirty="0">
                <a:solidFill>
                  <a:schemeClr val="tx1"/>
                </a:solidFill>
              </a:rPr>
              <a:t>Dr. Muzamil Ahmed </a:t>
            </a:r>
            <a:r>
              <a:rPr lang="de-DE" sz="2800" cap="none" dirty="0">
                <a:solidFill>
                  <a:schemeClr val="tx1"/>
                </a:solidFill>
              </a:rPr>
              <a:t>(Assistant Professor) </a:t>
            </a:r>
            <a:br>
              <a:rPr lang="de-DE" sz="2800" cap="none" dirty="0">
                <a:solidFill>
                  <a:schemeClr val="tx1"/>
                </a:solidFill>
              </a:rPr>
            </a:br>
            <a:r>
              <a:rPr lang="de-DE" sz="2800" cap="none" dirty="0">
                <a:solidFill>
                  <a:schemeClr val="tx1"/>
                </a:solidFill>
              </a:rPr>
              <a:t>Namal University Mianwali </a:t>
            </a:r>
            <a:br>
              <a:rPr lang="de-DE" sz="1600" cap="none" dirty="0">
                <a:solidFill>
                  <a:schemeClr val="tx1"/>
                </a:solidFill>
              </a:rPr>
            </a:br>
            <a:r>
              <a:rPr lang="de-DE" sz="1600" cap="none" dirty="0">
                <a:solidFill>
                  <a:schemeClr val="tx1"/>
                </a:solidFill>
              </a:rPr>
              <a:t> </a:t>
            </a:r>
            <a:endParaRPr lang="de-AT" sz="2800" cap="none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B93903-47AA-AF8B-6E92-B1AE3E48B5A3}"/>
              </a:ext>
            </a:extLst>
          </p:cNvPr>
          <p:cNvGrpSpPr/>
          <p:nvPr/>
        </p:nvGrpSpPr>
        <p:grpSpPr>
          <a:xfrm>
            <a:off x="431404" y="5002713"/>
            <a:ext cx="1487250" cy="1612480"/>
            <a:chOff x="10056440" y="495816"/>
            <a:chExt cx="1487250" cy="161248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0F7D5EC-7610-5903-A5B2-9CCAEB379BE6}"/>
                </a:ext>
              </a:extLst>
            </p:cNvPr>
            <p:cNvSpPr/>
            <p:nvPr/>
          </p:nvSpPr>
          <p:spPr>
            <a:xfrm>
              <a:off x="10056440" y="495816"/>
              <a:ext cx="1487250" cy="161248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Picture 7" descr="A green shield with gold leaves&#10;&#10;Description automatically generated">
              <a:extLst>
                <a:ext uri="{FF2B5EF4-FFF2-40B4-BE49-F238E27FC236}">
                  <a16:creationId xmlns:a16="http://schemas.microsoft.com/office/drawing/2014/main" id="{6CB1C283-04D7-CF74-28D6-296B5A1F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064" y="704181"/>
              <a:ext cx="1342001" cy="1342001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D114AB5-BD09-C757-50AF-421E9699DA51}"/>
              </a:ext>
            </a:extLst>
          </p:cNvPr>
          <p:cNvSpPr txBox="1">
            <a:spLocks/>
          </p:cNvSpPr>
          <p:nvPr/>
        </p:nvSpPr>
        <p:spPr>
          <a:xfrm>
            <a:off x="2269899" y="4594459"/>
            <a:ext cx="7652201" cy="8283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3200" b="1" cap="non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B49D67D-5455-A72F-934C-48CF4FDE0E0A}"/>
              </a:ext>
            </a:extLst>
          </p:cNvPr>
          <p:cNvSpPr txBox="1">
            <a:spLocks/>
          </p:cNvSpPr>
          <p:nvPr/>
        </p:nvSpPr>
        <p:spPr>
          <a:xfrm>
            <a:off x="6588828" y="5761236"/>
            <a:ext cx="5210937" cy="4194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16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6 Real-World Examples of AI Natural Language Processing | expert.ai">
            <a:extLst>
              <a:ext uri="{FF2B5EF4-FFF2-40B4-BE49-F238E27FC236}">
                <a16:creationId xmlns:a16="http://schemas.microsoft.com/office/drawing/2014/main" id="{B50F3C57-A621-0E06-D811-17732AF6AE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1032" name="Picture 8" descr="Key Areas of NLP in Real-Time Decision-Making :: PM Expert">
            <a:extLst>
              <a:ext uri="{FF2B5EF4-FFF2-40B4-BE49-F238E27FC236}">
                <a16:creationId xmlns:a16="http://schemas.microsoft.com/office/drawing/2014/main" id="{CC798F2F-987A-EA50-00D1-3DC217F6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956" y="601022"/>
            <a:ext cx="2405763" cy="160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D4C-B7BC-4D60-AEB7-993BD6A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from Quran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D923-B994-4D8D-9943-457F4205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A group of tulips with a note&#10;&#10;Description automatically generated">
            <a:extLst>
              <a:ext uri="{FF2B5EF4-FFF2-40B4-BE49-F238E27FC236}">
                <a16:creationId xmlns:a16="http://schemas.microsoft.com/office/drawing/2014/main" id="{5EA58C90-B5FD-8B6D-31EC-FCF981B84F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54"/>
          <a:stretch/>
        </p:blipFill>
        <p:spPr>
          <a:xfrm>
            <a:off x="3431704" y="1772816"/>
            <a:ext cx="5450091" cy="45533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469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1A69-6065-C6E7-C9BD-E1338E80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2CBA-98E3-49E1-C6AD-D487BDEDE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Scholar Profile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1F89B-5D13-AB68-6FBF-19ED627F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47572-F64F-2A7F-7AC5-CB4829456638}"/>
              </a:ext>
            </a:extLst>
          </p:cNvPr>
          <p:cNvSpPr txBox="1"/>
          <p:nvPr/>
        </p:nvSpPr>
        <p:spPr>
          <a:xfrm>
            <a:off x="1308770" y="6260068"/>
            <a:ext cx="1055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cap="none" dirty="0">
                <a:solidFill>
                  <a:schemeClr val="accent6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https://scholar.google.com.pk/citations?user=wIdOTn8AAAAJ&amp;hl=en</a:t>
            </a:r>
            <a:endParaRPr lang="en-PK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Picture 9" descr="A blue square and a blue circle&#10;&#10;Description automatically generated with medium confidence">
            <a:extLst>
              <a:ext uri="{FF2B5EF4-FFF2-40B4-BE49-F238E27FC236}">
                <a16:creationId xmlns:a16="http://schemas.microsoft.com/office/drawing/2014/main" id="{A4A54BFA-B5B6-403A-9EC9-00EC35C790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5766"/>
            <a:ext cx="491338" cy="491338"/>
          </a:xfrm>
          <a:prstGeom prst="rect">
            <a:avLst/>
          </a:prstGeom>
        </p:spPr>
      </p:pic>
      <p:pic>
        <p:nvPicPr>
          <p:cNvPr id="8" name="Picture 7" descr="A blue square and a blue circle&#10;&#10;Description automatically generated with medium confidence">
            <a:extLst>
              <a:ext uri="{FF2B5EF4-FFF2-40B4-BE49-F238E27FC236}">
                <a16:creationId xmlns:a16="http://schemas.microsoft.com/office/drawing/2014/main" id="{9BC27C48-8176-17E7-6D45-55BBAB923A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38" y="6251644"/>
            <a:ext cx="369332" cy="369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7ECD34-3053-18A1-15D6-6D9610067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951" y="1538547"/>
            <a:ext cx="9768408" cy="47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22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5422-EED2-4AC9-B449-4E4B1B2D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96ED-4830-4384-A83E-49C80C05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916832"/>
            <a:ext cx="10871200" cy="4495800"/>
          </a:xfrm>
        </p:spPr>
        <p:txBody>
          <a:bodyPr>
            <a:normAutofit/>
          </a:bodyPr>
          <a:lstStyle/>
          <a:p>
            <a:r>
              <a:rPr lang="en-US" dirty="0"/>
              <a:t>Introduction to NLP</a:t>
            </a:r>
          </a:p>
          <a:p>
            <a:r>
              <a:rPr lang="en-US" dirty="0"/>
              <a:t>Scope of NLP</a:t>
            </a:r>
          </a:p>
          <a:p>
            <a:r>
              <a:rPr lang="en-US" dirty="0"/>
              <a:t>Linguistic foundations</a:t>
            </a:r>
          </a:p>
          <a:p>
            <a:r>
              <a:rPr lang="en-US" dirty="0"/>
              <a:t>Evolution of methods</a:t>
            </a:r>
          </a:p>
          <a:p>
            <a:r>
              <a:rPr lang="en-US" dirty="0"/>
              <a:t>Core NLP applications</a:t>
            </a:r>
          </a:p>
          <a:p>
            <a:r>
              <a:rPr lang="en-US" dirty="0"/>
              <a:t>Course structure</a:t>
            </a:r>
          </a:p>
          <a:p>
            <a:r>
              <a:rPr lang="en-US" dirty="0"/>
              <a:t>Project expectations</a:t>
            </a:r>
          </a:p>
          <a:p>
            <a:r>
              <a:rPr lang="en-US" dirty="0"/>
              <a:t>Industry and research relevance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0E8-4035-41DE-ADFD-837186ED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 descr="Why learn Computer Architecture? A Case-study approach.">
            <a:extLst>
              <a:ext uri="{FF2B5EF4-FFF2-40B4-BE49-F238E27FC236}">
                <a16:creationId xmlns:a16="http://schemas.microsoft.com/office/drawing/2014/main" id="{E21F3EAF-0FC0-2EA1-29B7-30669CA28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2276872"/>
            <a:ext cx="3491542" cy="349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49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Orientation &amp;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EE1E7-C4F8-DC5D-C9AC-0BD7C1E4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24" y="1833704"/>
            <a:ext cx="11130240" cy="4547624"/>
          </a:xfrm>
        </p:spPr>
        <p:txBody>
          <a:bodyPr>
            <a:normAutofit lnSpcReduction="10000"/>
          </a:bodyPr>
          <a:lstStyle/>
          <a:p>
            <a:r>
              <a:rPr lang="it-IT" dirty="0"/>
              <a:t>This course covers the </a:t>
            </a:r>
            <a:r>
              <a:rPr lang="it-IT" b="1" dirty="0"/>
              <a:t>complete NLP spectrum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Text preprocessing and linguistic foundations</a:t>
            </a:r>
          </a:p>
          <a:p>
            <a:pPr lvl="1"/>
            <a:r>
              <a:rPr lang="it-IT" dirty="0"/>
              <a:t>Statistical text representations (BoW, TF-IDF)</a:t>
            </a:r>
          </a:p>
          <a:p>
            <a:pPr lvl="1"/>
            <a:r>
              <a:rPr lang="it-IT" dirty="0"/>
              <a:t>Word embeddings (Word2Vec, GloVe, FastText)</a:t>
            </a:r>
          </a:p>
          <a:p>
            <a:pPr lvl="1"/>
            <a:r>
              <a:rPr lang="it-IT" dirty="0"/>
              <a:t>Neural sequence models (RNN, LSTM, GRU)</a:t>
            </a:r>
          </a:p>
          <a:p>
            <a:pPr lvl="1"/>
            <a:r>
              <a:rPr lang="it-IT" dirty="0"/>
              <a:t>Attention mechanisms</a:t>
            </a:r>
          </a:p>
          <a:p>
            <a:pPr lvl="1"/>
            <a:r>
              <a:rPr lang="it-IT" dirty="0"/>
              <a:t>Transformer architecture</a:t>
            </a:r>
          </a:p>
          <a:p>
            <a:pPr lvl="1"/>
            <a:r>
              <a:rPr lang="it-IT" dirty="0"/>
              <a:t>Pretrained language models (BERT, GPT)</a:t>
            </a:r>
          </a:p>
          <a:p>
            <a:pPr lvl="1"/>
            <a:r>
              <a:rPr lang="it-IT" dirty="0"/>
              <a:t>Fine-tuning and alignment</a:t>
            </a:r>
          </a:p>
          <a:p>
            <a:pPr lvl="1"/>
            <a:r>
              <a:rPr lang="it-IT" dirty="0"/>
              <a:t>Evaluation, ethics, deployment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77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Natural Language?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6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560795-5E13-66ED-F41E-4CD4B3EE730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765540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Natural language is:</a:t>
            </a:r>
          </a:p>
          <a:p>
            <a:pPr lvl="1"/>
            <a:r>
              <a:rPr lang="en-US" dirty="0"/>
              <a:t>Discrete yet structured</a:t>
            </a:r>
          </a:p>
          <a:p>
            <a:pPr lvl="1"/>
            <a:r>
              <a:rPr lang="en-US" dirty="0"/>
              <a:t>Hierarchical</a:t>
            </a:r>
          </a:p>
          <a:p>
            <a:pPr lvl="1"/>
            <a:r>
              <a:rPr lang="en-US" dirty="0"/>
              <a:t>Context-sensitive</a:t>
            </a:r>
          </a:p>
          <a:p>
            <a:pPr lvl="1"/>
            <a:r>
              <a:rPr lang="en-US" dirty="0"/>
              <a:t>Ambiguous</a:t>
            </a:r>
          </a:p>
          <a:p>
            <a:pPr lvl="1"/>
            <a:r>
              <a:rPr lang="en-US" dirty="0"/>
              <a:t>Sequential but not strictly Markovian</a:t>
            </a:r>
          </a:p>
          <a:p>
            <a:pPr lvl="1"/>
            <a:r>
              <a:rPr lang="en-US" dirty="0"/>
              <a:t>Unlike programming languages:</a:t>
            </a:r>
          </a:p>
          <a:p>
            <a:pPr lvl="1"/>
            <a:r>
              <a:rPr lang="en-US" dirty="0"/>
              <a:t>No fixed grammar</a:t>
            </a:r>
          </a:p>
          <a:p>
            <a:pPr lvl="1"/>
            <a:r>
              <a:rPr lang="en-US" dirty="0"/>
              <a:t>Meaning depends on pragmatics</a:t>
            </a:r>
          </a:p>
          <a:p>
            <a:pPr lvl="1"/>
            <a:r>
              <a:rPr lang="en-US" dirty="0"/>
              <a:t>Requires world knowledge</a:t>
            </a:r>
          </a:p>
        </p:txBody>
      </p:sp>
      <p:pic>
        <p:nvPicPr>
          <p:cNvPr id="2050" name="Picture 2" descr="Let's learn about the science of language">
            <a:extLst>
              <a:ext uri="{FF2B5EF4-FFF2-40B4-BE49-F238E27FC236}">
                <a16:creationId xmlns:a16="http://schemas.microsoft.com/office/drawing/2014/main" id="{2AF05BF0-64EF-76FE-0133-9BA760C27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2244230"/>
            <a:ext cx="4215244" cy="236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463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Core NLP Objective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A6814EA-9783-EDF1-DDA9-1EC905704DD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16864" y="1600200"/>
                <a:ext cx="7007328" cy="4495800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Given a sequence of tokens: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ur-PK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ur-PK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ur-PK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e>
                          <m:r>
                            <a:rPr lang="ur-PK">
                              <a:latin typeface="Cambria Math" panose="02040503050406030204" pitchFamily="18" charset="0"/>
                            </a:rPr>
                            <m:t>..</m:t>
                          </m:r>
                          <m:sSub>
                            <m:sSub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Learn a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ur-PK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t-IT" dirty="0"/>
                  <a:t>may be a label, sequence, structured output, or generated text.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A6814EA-9783-EDF1-DDA9-1EC905704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16864" y="1600200"/>
                <a:ext cx="7007328" cy="4495800"/>
              </a:xfrm>
              <a:blipFill>
                <a:blip r:embed="rId2"/>
                <a:stretch>
                  <a:fillRect l="-435" t="-135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NATURAL LANGUAGE PROCESSING (NLP)">
            <a:extLst>
              <a:ext uri="{FF2B5EF4-FFF2-40B4-BE49-F238E27FC236}">
                <a16:creationId xmlns:a16="http://schemas.microsoft.com/office/drawing/2014/main" id="{7645683E-6D5E-171A-4A65-885DD73AA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484" y="1625828"/>
            <a:ext cx="4104456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31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Formal Definition of NLP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68F84B-E266-C399-5983-40936739BDF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9239576" cy="4495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NLP is the study of:</a:t>
            </a:r>
          </a:p>
          <a:p>
            <a:pPr lvl="1"/>
            <a:r>
              <a:rPr lang="en-US" dirty="0"/>
              <a:t>Computational modeling of language</a:t>
            </a:r>
          </a:p>
          <a:p>
            <a:pPr lvl="1"/>
            <a:r>
              <a:rPr lang="en-US" dirty="0"/>
              <a:t>Statistical learning over text</a:t>
            </a:r>
          </a:p>
          <a:p>
            <a:pPr lvl="1"/>
            <a:r>
              <a:rPr lang="en-US" dirty="0"/>
              <a:t>Representation learning for linguistic units</a:t>
            </a:r>
          </a:p>
          <a:p>
            <a:pPr lvl="1"/>
            <a:r>
              <a:rPr lang="en-US" dirty="0"/>
              <a:t>Sequence-to-sequence transformation</a:t>
            </a:r>
          </a:p>
          <a:p>
            <a:r>
              <a:rPr lang="en-US" dirty="0"/>
              <a:t>It combines:</a:t>
            </a:r>
          </a:p>
          <a:p>
            <a:pPr lvl="1"/>
            <a:r>
              <a:rPr lang="en-US" dirty="0"/>
              <a:t>Linguistics</a:t>
            </a:r>
          </a:p>
          <a:p>
            <a:pPr lvl="1"/>
            <a:r>
              <a:rPr lang="en-US" dirty="0"/>
              <a:t>Probability theory</a:t>
            </a:r>
          </a:p>
          <a:p>
            <a:pPr lvl="1"/>
            <a:r>
              <a:rPr lang="en-US" dirty="0"/>
              <a:t>Linear algebra</a:t>
            </a:r>
          </a:p>
          <a:p>
            <a:pPr lvl="1"/>
            <a:r>
              <a:rPr lang="en-US" dirty="0"/>
              <a:t>Optimization</a:t>
            </a:r>
          </a:p>
          <a:p>
            <a:pPr lvl="1"/>
            <a:r>
              <a:rPr lang="en-US" dirty="0"/>
              <a:t>Deep learning</a:t>
            </a:r>
          </a:p>
          <a:p>
            <a:r>
              <a:rPr lang="en-US" dirty="0"/>
              <a:t>NLP is about using </a:t>
            </a:r>
            <a:r>
              <a:rPr lang="en-US" b="1" dirty="0"/>
              <a:t>math</a:t>
            </a:r>
            <a:r>
              <a:rPr lang="en-US" dirty="0"/>
              <a:t> and </a:t>
            </a:r>
            <a:r>
              <a:rPr lang="en-US" b="1" dirty="0"/>
              <a:t>machine learning </a:t>
            </a:r>
            <a:r>
              <a:rPr lang="en-US" dirty="0"/>
              <a:t>to make computers understand and generate </a:t>
            </a:r>
            <a:r>
              <a:rPr lang="en-US" b="1" dirty="0"/>
              <a:t>human language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110BEA-D1B8-BA4F-DA5E-48055EA4D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770" y="1623634"/>
            <a:ext cx="4244708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9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Linguistic Levels in NLP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68F84B-E266-C399-5983-40936739BDF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6791304" cy="5029200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Language operates at multiple levels:</a:t>
            </a:r>
          </a:p>
          <a:p>
            <a:r>
              <a:rPr lang="it-IT" b="1" dirty="0"/>
              <a:t>Phonology: </a:t>
            </a:r>
            <a:r>
              <a:rPr lang="it-IT" dirty="0"/>
              <a:t>Sound structure (mainly speech systems) </a:t>
            </a:r>
          </a:p>
          <a:p>
            <a:pPr lvl="1"/>
            <a:r>
              <a:rPr lang="it-IT" dirty="0"/>
              <a:t>Example: “cat” vs “bat” or “ice cream” vs “I scream”</a:t>
            </a:r>
          </a:p>
          <a:p>
            <a:r>
              <a:rPr lang="it-IT" b="1" dirty="0"/>
              <a:t>Morphology: </a:t>
            </a:r>
            <a:r>
              <a:rPr lang="it-IT" dirty="0"/>
              <a:t>Word formation</a:t>
            </a:r>
          </a:p>
          <a:p>
            <a:pPr lvl="1"/>
            <a:r>
              <a:rPr lang="it-IT" dirty="0"/>
              <a:t>Example:“unhappiness” → un + happy + ness</a:t>
            </a:r>
          </a:p>
          <a:p>
            <a:r>
              <a:rPr lang="it-IT" b="1" dirty="0"/>
              <a:t>Syntax: </a:t>
            </a:r>
            <a:r>
              <a:rPr lang="it-IT" dirty="0"/>
              <a:t>Grammatical structure</a:t>
            </a:r>
          </a:p>
          <a:p>
            <a:pPr lvl="1"/>
            <a:r>
              <a:rPr lang="it-IT" dirty="0"/>
              <a:t>Parse trees, dependency trees</a:t>
            </a:r>
          </a:p>
          <a:p>
            <a:r>
              <a:rPr lang="it-IT" b="1" dirty="0"/>
              <a:t>Semantics: </a:t>
            </a:r>
            <a:r>
              <a:rPr lang="it-IT" dirty="0"/>
              <a:t>Meaning representation</a:t>
            </a:r>
          </a:p>
          <a:p>
            <a:r>
              <a:rPr lang="it-IT" b="1" dirty="0"/>
              <a:t>Pragmatics: </a:t>
            </a:r>
            <a:r>
              <a:rPr lang="it-IT" dirty="0"/>
              <a:t>Contextual meaning</a:t>
            </a:r>
          </a:p>
          <a:p>
            <a:pPr lvl="1"/>
            <a:r>
              <a:rPr lang="it-IT" dirty="0"/>
              <a:t>Example: </a:t>
            </a:r>
            <a:r>
              <a:rPr lang="en-US" dirty="0"/>
              <a:t>“Can you pass the salt?”</a:t>
            </a:r>
            <a:endParaRPr lang="it-IT" dirty="0"/>
          </a:p>
          <a:p>
            <a:r>
              <a:rPr lang="it-IT" dirty="0"/>
              <a:t>Modern LLMs attempt to implicitly learn all levels jointly.</a:t>
            </a:r>
          </a:p>
        </p:txBody>
      </p:sp>
      <p:pic>
        <p:nvPicPr>
          <p:cNvPr id="5122" name="Picture 2" descr="Phases of Natural Language Processing (NLP) - GeeksforGeeks">
            <a:extLst>
              <a:ext uri="{FF2B5EF4-FFF2-40B4-BE49-F238E27FC236}">
                <a16:creationId xmlns:a16="http://schemas.microsoft.com/office/drawing/2014/main" id="{A0429852-FEEC-0BDE-C26D-BC039C41F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0" y="2276872"/>
            <a:ext cx="4505613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81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Why NLP is Hard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68F84B-E266-C399-5983-40936739BDF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3352" y="1600200"/>
            <a:ext cx="6912768" cy="4495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Ambiguity</a:t>
            </a:r>
          </a:p>
          <a:p>
            <a:pPr lvl="1"/>
            <a:r>
              <a:rPr lang="en-US" b="1" dirty="0"/>
              <a:t>Lexical ambiguity: </a:t>
            </a:r>
            <a:r>
              <a:rPr lang="en-US" dirty="0"/>
              <a:t>“bank” (financial vs river)</a:t>
            </a:r>
          </a:p>
          <a:p>
            <a:pPr lvl="1"/>
            <a:r>
              <a:rPr lang="en-US" b="1" dirty="0"/>
              <a:t>Syntactic ambiguity: </a:t>
            </a:r>
            <a:r>
              <a:rPr lang="en-US" dirty="0"/>
              <a:t>“I saw the man with a telescope.”</a:t>
            </a:r>
          </a:p>
          <a:p>
            <a:pPr lvl="1"/>
            <a:r>
              <a:rPr lang="en-US" dirty="0"/>
              <a:t>Multiple valid parse trees.</a:t>
            </a:r>
          </a:p>
          <a:p>
            <a:r>
              <a:rPr lang="en-US" b="1" dirty="0"/>
              <a:t>Long-Range Dependencies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/>
              <a:t>The book that the professor who the students admired wrote was published.</a:t>
            </a:r>
          </a:p>
          <a:p>
            <a:pPr lvl="1"/>
            <a:r>
              <a:rPr lang="en-US" dirty="0"/>
              <a:t>Dependency spans long distances.</a:t>
            </a:r>
          </a:p>
          <a:p>
            <a:r>
              <a:rPr lang="en-US" b="1" dirty="0"/>
              <a:t>Compositionality</a:t>
            </a:r>
          </a:p>
          <a:p>
            <a:pPr lvl="1"/>
            <a:r>
              <a:rPr lang="en-US" dirty="0"/>
              <a:t>Meaning of sentence ≠ simple sum of words.</a:t>
            </a:r>
          </a:p>
        </p:txBody>
      </p:sp>
      <p:pic>
        <p:nvPicPr>
          <p:cNvPr id="6146" name="Picture 2" descr="Disambiguating Words: A Deep Dive into Word Sense Disambiguation | by Omkar  Hankare | Medium">
            <a:extLst>
              <a:ext uri="{FF2B5EF4-FFF2-40B4-BE49-F238E27FC236}">
                <a16:creationId xmlns:a16="http://schemas.microsoft.com/office/drawing/2014/main" id="{5836555B-3720-0BCC-010B-44DD46ED3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120" y="1542765"/>
            <a:ext cx="4971368" cy="289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ow HR can cut through ambiguity and make progress - Cezanne HR">
            <a:extLst>
              <a:ext uri="{FF2B5EF4-FFF2-40B4-BE49-F238E27FC236}">
                <a16:creationId xmlns:a16="http://schemas.microsoft.com/office/drawing/2014/main" id="{52CAFDF9-2BCE-8897-D51D-411A9395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176" y="4653136"/>
            <a:ext cx="3719736" cy="209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32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1B3DF-97C5-81C0-C49E-5BB4DF1C9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480A-F0D7-9325-B67C-2BCAFFD9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Ambiguity in sentence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07A72-3D0F-60E6-7C31-EA8A77BF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15EC03-49C5-6F3F-6592-A6E9DBBF09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7368" y="3758952"/>
            <a:ext cx="11521280" cy="3099048"/>
          </a:xfrm>
        </p:spPr>
        <p:txBody>
          <a:bodyPr>
            <a:normAutofit/>
          </a:bodyPr>
          <a:lstStyle/>
          <a:p>
            <a:r>
              <a:rPr lang="en-US" dirty="0"/>
              <a:t>The computer understands you as well as your mother understands you.</a:t>
            </a:r>
          </a:p>
          <a:p>
            <a:r>
              <a:rPr lang="en-US" dirty="0"/>
              <a:t>The computer understands that you like your mother. </a:t>
            </a:r>
          </a:p>
          <a:p>
            <a:r>
              <a:rPr lang="en-US" dirty="0"/>
              <a:t>The computer understands you as well as it understands your mother.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18E3F-D89B-39CE-60AC-9C3588771922}"/>
              </a:ext>
            </a:extLst>
          </p:cNvPr>
          <p:cNvSpPr txBox="1"/>
          <p:nvPr/>
        </p:nvSpPr>
        <p:spPr>
          <a:xfrm>
            <a:off x="883320" y="1738744"/>
            <a:ext cx="10901312" cy="144655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“Finally, a computer that understands you like your mother” </a:t>
            </a:r>
            <a:endParaRPr lang="en-PK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59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Evolution of NLP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468F84B-E266-C399-5983-40936739BDF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16864" y="1600200"/>
                <a:ext cx="9599616" cy="514116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Rule-Based Era</a:t>
                </a:r>
              </a:p>
              <a:p>
                <a:pPr lvl="1"/>
                <a:r>
                  <a:rPr lang="en-US" dirty="0"/>
                  <a:t>Manually engineered grammars</a:t>
                </a:r>
              </a:p>
              <a:p>
                <a:pPr lvl="1"/>
                <a:r>
                  <a:rPr lang="en-US" dirty="0"/>
                  <a:t>Pattern matching</a:t>
                </a:r>
              </a:p>
              <a:p>
                <a:pPr lvl="1"/>
                <a:r>
                  <a:rPr lang="en-US" dirty="0"/>
                  <a:t>Not scalable</a:t>
                </a:r>
              </a:p>
              <a:p>
                <a:pPr lvl="1"/>
                <a:r>
                  <a:rPr lang="en-US" dirty="0"/>
                  <a:t>Domain-specific</a:t>
                </a:r>
              </a:p>
              <a:p>
                <a:r>
                  <a:rPr lang="it-IT" b="1" dirty="0"/>
                  <a:t>Statistical NLP</a:t>
                </a:r>
              </a:p>
              <a:p>
                <a:pPr lvl="1"/>
                <a:r>
                  <a:rPr lang="it-IT" dirty="0"/>
                  <a:t>Probabilistic models</a:t>
                </a:r>
              </a:p>
              <a:p>
                <a:pPr lvl="1"/>
                <a:r>
                  <a:rPr lang="it-IT" dirty="0"/>
                  <a:t>N-gram language models</a:t>
                </a:r>
              </a:p>
              <a:p>
                <a:pPr lvl="1"/>
                <a:r>
                  <a:rPr lang="it-IT" dirty="0"/>
                  <a:t>HMMs</a:t>
                </a:r>
              </a:p>
              <a:p>
                <a:pPr lvl="1"/>
                <a:r>
                  <a:rPr lang="it-IT" dirty="0"/>
                  <a:t>CRFs</a:t>
                </a:r>
              </a:p>
              <a:p>
                <a:pPr lvl="1"/>
                <a:r>
                  <a:rPr lang="it-IT" dirty="0"/>
                  <a:t>Maximum entropy models</a:t>
                </a:r>
              </a:p>
              <a:p>
                <a:pPr lvl="1"/>
                <a:r>
                  <a:rPr lang="it-IT" dirty="0"/>
                  <a:t>Model objective: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,"/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ur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ur-PK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e>
                        <m:sSub>
                          <m:sSubPr>
                            <m:ctrlPr>
                              <a:rPr lang="ur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ur-PK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ur-PK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ur-PK">
                            <a:latin typeface="Cambria Math" panose="02040503050406030204" pitchFamily="18" charset="0"/>
                          </a:rPr>
                          <m:t>...</m:t>
                        </m:r>
                        <m:sSub>
                          <m:sSubPr>
                            <m:ctrlPr>
                              <a:rPr lang="ur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ur-PK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ur-P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468F84B-E266-C399-5983-40936739B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16864" y="1600200"/>
                <a:ext cx="9599616" cy="5141168"/>
              </a:xfrm>
              <a:blipFill>
                <a:blip r:embed="rId3"/>
                <a:stretch>
                  <a:fillRect l="-254" t="-189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Lecture 2 - History and Evolution of NLP (English) #nlp  #artificialintelligence #machinelearning">
            <a:extLst>
              <a:ext uri="{FF2B5EF4-FFF2-40B4-BE49-F238E27FC236}">
                <a16:creationId xmlns:a16="http://schemas.microsoft.com/office/drawing/2014/main" id="{39639796-01B3-015C-A63E-AE0E9E120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9642"/>
          <a:stretch>
            <a:fillRect/>
          </a:stretch>
        </p:blipFill>
        <p:spPr bwMode="auto">
          <a:xfrm>
            <a:off x="6286803" y="1700808"/>
            <a:ext cx="5207128" cy="364502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13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69A7-1324-D1FE-DEC3-203C7C664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5FCD-59B0-29B3-F000-5E7768B2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Evolution of NLP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6A00-5605-B434-1759-22498C77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AEAE3D0-38B9-D062-0BB2-0792A59D6D5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51383" y="1774670"/>
                <a:ext cx="6094211" cy="475067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it-IT" b="1" dirty="0"/>
                  <a:t>Neural NLP</a:t>
                </a:r>
              </a:p>
              <a:p>
                <a:pPr lvl="1"/>
                <a:r>
                  <a:rPr lang="it-IT" dirty="0"/>
                  <a:t>Representation learning:</a:t>
                </a:r>
              </a:p>
              <a:p>
                <a:pPr marL="64008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𝐸𝑚𝑏𝑒𝑑𝑑𝑖𝑛𝑔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ur-PK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708660" lvl="1" indent="-342900"/>
                <a:r>
                  <a:rPr lang="en-US" dirty="0"/>
                  <a:t>Each word 𝑤w is mapped to a dense vector of dimension 𝑑d.</a:t>
                </a:r>
                <a:endParaRPr lang="ur-PK" dirty="0"/>
              </a:p>
              <a:p>
                <a:pPr lvl="1"/>
                <a:r>
                  <a:rPr lang="it-IT" dirty="0"/>
                  <a:t>Sequence models:</a:t>
                </a:r>
              </a:p>
              <a:p>
                <a:pPr marL="32004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ur-PK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ur-PK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r-PK" dirty="0"/>
              </a:p>
              <a:p>
                <a:pPr lvl="1"/>
                <a:r>
                  <a:rPr lang="it-IT" dirty="0"/>
                  <a:t>Transformer:</a:t>
                </a:r>
              </a:p>
              <a:p>
                <a:pPr marL="32004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ur-PK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ur-PK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ur-PK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ur-PK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ur-P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ur-PK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ur-PK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ur-PK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ur-PK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AEAE3D0-38B9-D062-0BB2-0792A59D6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51383" y="1774670"/>
                <a:ext cx="6094211" cy="4750674"/>
              </a:xfrm>
              <a:blipFill>
                <a:blip r:embed="rId3"/>
                <a:stretch>
                  <a:fillRect l="-500" t="-23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Natural Language Processing Evolution - Data Science Horizon">
            <a:extLst>
              <a:ext uri="{FF2B5EF4-FFF2-40B4-BE49-F238E27FC236}">
                <a16:creationId xmlns:a16="http://schemas.microsoft.com/office/drawing/2014/main" id="{1051198E-19F8-C805-7B3E-7F14536E7B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0"/>
          <a:stretch>
            <a:fillRect/>
          </a:stretch>
        </p:blipFill>
        <p:spPr bwMode="auto">
          <a:xfrm>
            <a:off x="5951984" y="2060848"/>
            <a:ext cx="6094211" cy="391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573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34BAA-B206-1881-CA8C-BF85683D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3824C-75EC-4A88-FBA9-6D044371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NLP Pipeline (Technical View)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822B1-3AB4-1933-9F2C-1EA243E6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CD21-018F-2E73-9279-D12991CF62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/>
              <a:t>Step 1: Data Collection</a:t>
            </a:r>
          </a:p>
          <a:p>
            <a:pPr lvl="1"/>
            <a:r>
              <a:rPr lang="it-IT" dirty="0"/>
              <a:t>Web scraping</a:t>
            </a:r>
          </a:p>
          <a:p>
            <a:pPr lvl="1"/>
            <a:r>
              <a:rPr lang="it-IT" dirty="0"/>
              <a:t>APIs</a:t>
            </a:r>
          </a:p>
          <a:p>
            <a:pPr lvl="1"/>
            <a:r>
              <a:rPr lang="it-IT" dirty="0"/>
              <a:t>Public datasets</a:t>
            </a:r>
          </a:p>
          <a:p>
            <a:r>
              <a:rPr lang="it-IT" b="1" dirty="0"/>
              <a:t>Step 2: Text Cleaning</a:t>
            </a:r>
          </a:p>
          <a:p>
            <a:pPr lvl="1"/>
            <a:r>
              <a:rPr lang="it-IT" dirty="0"/>
              <a:t>Lowercasing</a:t>
            </a:r>
          </a:p>
          <a:p>
            <a:pPr lvl="1"/>
            <a:r>
              <a:rPr lang="it-IT" dirty="0"/>
              <a:t>Removing noise</a:t>
            </a:r>
          </a:p>
          <a:p>
            <a:pPr lvl="1"/>
            <a:r>
              <a:rPr lang="it-IT" dirty="0"/>
              <a:t>Normalization</a:t>
            </a:r>
          </a:p>
          <a:p>
            <a:r>
              <a:rPr lang="it-IT" b="1" dirty="0"/>
              <a:t>Step 3: Tokenization</a:t>
            </a:r>
          </a:p>
          <a:p>
            <a:pPr lvl="1"/>
            <a:r>
              <a:rPr lang="it-IT" dirty="0"/>
              <a:t>Word-level</a:t>
            </a:r>
          </a:p>
          <a:p>
            <a:pPr lvl="1"/>
            <a:r>
              <a:rPr lang="it-IT" dirty="0"/>
              <a:t>Subword-level (BPE, WordPiece)</a:t>
            </a:r>
          </a:p>
          <a:p>
            <a:endParaRPr lang="en-PK" dirty="0"/>
          </a:p>
        </p:txBody>
      </p:sp>
      <p:pic>
        <p:nvPicPr>
          <p:cNvPr id="10242" name="Picture 2" descr="Natural Language Processing (NLP): An Overview">
            <a:extLst>
              <a:ext uri="{FF2B5EF4-FFF2-40B4-BE49-F238E27FC236}">
                <a16:creationId xmlns:a16="http://schemas.microsoft.com/office/drawing/2014/main" id="{47C06A37-D168-692D-3990-104D30259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8"/>
          <a:stretch>
            <a:fillRect/>
          </a:stretch>
        </p:blipFill>
        <p:spPr bwMode="auto">
          <a:xfrm>
            <a:off x="5807968" y="1988840"/>
            <a:ext cx="6120767" cy="30655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11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F05CA-379E-8663-13A8-39605FBF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253A-5CA4-1707-B07D-19985072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NLP Pipeline (Technical View)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7A68-014C-C605-6E7F-E5B041E5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E99C5-CAAC-F253-B402-5EBD94FA358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257800"/>
          </a:xfrm>
        </p:spPr>
        <p:txBody>
          <a:bodyPr>
            <a:normAutofit fontScale="92500" lnSpcReduction="10000"/>
          </a:bodyPr>
          <a:lstStyle/>
          <a:p>
            <a:r>
              <a:rPr lang="it-IT" b="1" dirty="0"/>
              <a:t>Step 4: Representation</a:t>
            </a:r>
          </a:p>
          <a:p>
            <a:pPr lvl="1"/>
            <a:r>
              <a:rPr lang="it-IT" dirty="0"/>
              <a:t>Sparse vectors (BoW)</a:t>
            </a:r>
          </a:p>
          <a:p>
            <a:pPr lvl="1"/>
            <a:r>
              <a:rPr lang="it-IT" dirty="0"/>
              <a:t>Dense embeddings</a:t>
            </a:r>
          </a:p>
          <a:p>
            <a:r>
              <a:rPr lang="it-IT" b="1" dirty="0"/>
              <a:t>Step 5: Modeling</a:t>
            </a:r>
          </a:p>
          <a:p>
            <a:pPr lvl="1"/>
            <a:r>
              <a:rPr lang="it-IT" dirty="0"/>
              <a:t>Linear models</a:t>
            </a:r>
          </a:p>
          <a:p>
            <a:pPr lvl="1"/>
            <a:r>
              <a:rPr lang="it-IT" dirty="0"/>
              <a:t>Neural networks</a:t>
            </a:r>
          </a:p>
          <a:p>
            <a:pPr lvl="1"/>
            <a:r>
              <a:rPr lang="it-IT" dirty="0"/>
              <a:t>Transformers</a:t>
            </a:r>
          </a:p>
          <a:p>
            <a:r>
              <a:rPr lang="it-IT" b="1" dirty="0"/>
              <a:t>Step 6: Evaluation</a:t>
            </a:r>
          </a:p>
          <a:p>
            <a:pPr lvl="1"/>
            <a:r>
              <a:rPr lang="it-IT" dirty="0"/>
              <a:t>F1</a:t>
            </a:r>
          </a:p>
          <a:p>
            <a:pPr lvl="1"/>
            <a:r>
              <a:rPr lang="it-IT" dirty="0"/>
              <a:t>BLEU</a:t>
            </a:r>
          </a:p>
          <a:p>
            <a:pPr lvl="1"/>
            <a:r>
              <a:rPr lang="it-IT" dirty="0"/>
              <a:t>ROUGE</a:t>
            </a:r>
          </a:p>
          <a:p>
            <a:pPr lvl="1"/>
            <a:r>
              <a:rPr lang="it-IT" dirty="0"/>
              <a:t>Perplexity</a:t>
            </a:r>
          </a:p>
        </p:txBody>
      </p:sp>
      <p:pic>
        <p:nvPicPr>
          <p:cNvPr id="4" name="Picture 2" descr="Natural Language Processing (NLP): An Overview">
            <a:extLst>
              <a:ext uri="{FF2B5EF4-FFF2-40B4-BE49-F238E27FC236}">
                <a16:creationId xmlns:a16="http://schemas.microsoft.com/office/drawing/2014/main" id="{B5D6DE4A-CC9D-0FA7-146A-5B8CADE84B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8"/>
          <a:stretch>
            <a:fillRect/>
          </a:stretch>
        </p:blipFill>
        <p:spPr bwMode="auto">
          <a:xfrm>
            <a:off x="5807968" y="1988840"/>
            <a:ext cx="6120767" cy="30655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664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DB381E-B76D-773D-67D8-4750685B5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Applications of NLP</a:t>
            </a:r>
            <a:endParaRPr lang="en-PK" dirty="0"/>
          </a:p>
        </p:txBody>
      </p:sp>
      <p:sp>
        <p:nvSpPr>
          <p:cNvPr id="15" name="AutoShape 12" descr="Key NLP Applications &amp; Use Cases for Businesses">
            <a:extLst>
              <a:ext uri="{FF2B5EF4-FFF2-40B4-BE49-F238E27FC236}">
                <a16:creationId xmlns:a16="http://schemas.microsoft.com/office/drawing/2014/main" id="{D98BAB9B-EF5E-04A0-9CDF-6789FA1513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16" name="AutoShape 14" descr="Key NLP Applications &amp; Use Cases for Businesses">
            <a:extLst>
              <a:ext uri="{FF2B5EF4-FFF2-40B4-BE49-F238E27FC236}">
                <a16:creationId xmlns:a16="http://schemas.microsoft.com/office/drawing/2014/main" id="{DD7527D6-A22B-A221-49B0-CBD55EF9C4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7F02EAA-D0FF-CF52-CA5B-36E481AD2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64" y="1601515"/>
            <a:ext cx="9215871" cy="502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15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747E4-02F5-DAA7-589D-FE51E7A4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B67D6-0E3F-975F-680A-FE665559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DE0EDA-93F3-00C9-FA43-07F06C1A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in Customer Service (Real-World Value)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3B8BB3-0DED-5E64-52E0-3171E5F919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14116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Chatbots &amp; Virtual Assistants</a:t>
            </a:r>
            <a:endParaRPr lang="en-US" dirty="0"/>
          </a:p>
          <a:p>
            <a:pPr lvl="1"/>
            <a:r>
              <a:rPr lang="en-US" dirty="0"/>
              <a:t>NLP powers automated conversational agents that understand customer queries in real time.</a:t>
            </a:r>
          </a:p>
          <a:p>
            <a:pPr lvl="1"/>
            <a:r>
              <a:rPr lang="en-US" dirty="0"/>
              <a:t>Bots can handle FAQs, automate responses, and escalate complex issues to humans.</a:t>
            </a:r>
          </a:p>
          <a:p>
            <a:pPr lvl="1"/>
            <a:r>
              <a:rPr lang="en-US" dirty="0"/>
              <a:t>Improves response time and scales support operations efficiently. </a:t>
            </a:r>
          </a:p>
          <a:p>
            <a:r>
              <a:rPr lang="en-US" b="1" dirty="0"/>
              <a:t>Sentiment Analysis</a:t>
            </a:r>
            <a:endParaRPr lang="en-US" dirty="0"/>
          </a:p>
          <a:p>
            <a:pPr lvl="1"/>
            <a:r>
              <a:rPr lang="en-US" dirty="0"/>
              <a:t>NLP models analyze customer feedback and social media to extract emotional tone.</a:t>
            </a:r>
          </a:p>
          <a:p>
            <a:pPr lvl="1"/>
            <a:r>
              <a:rPr lang="en-US" dirty="0"/>
              <a:t>Helps brands monitor satisfaction and identify pain points.</a:t>
            </a:r>
          </a:p>
          <a:p>
            <a:r>
              <a:rPr lang="en-US" b="1" dirty="0"/>
              <a:t>Personalized Recommendations</a:t>
            </a:r>
            <a:endParaRPr lang="en-US" dirty="0"/>
          </a:p>
          <a:p>
            <a:pPr lvl="1"/>
            <a:r>
              <a:rPr lang="en-US" dirty="0"/>
              <a:t>Analyze past interactions and preferences to suggest products or services.</a:t>
            </a:r>
          </a:p>
          <a:p>
            <a:pPr lvl="1"/>
            <a:r>
              <a:rPr lang="en-US" dirty="0"/>
              <a:t>Enhances user engagement and boosts sales.</a:t>
            </a:r>
          </a:p>
          <a:p>
            <a:pPr lvl="1"/>
            <a:r>
              <a:rPr lang="en-US" dirty="0"/>
              <a:t>Project idea: </a:t>
            </a:r>
            <a:r>
              <a:rPr lang="en-US" i="1" dirty="0"/>
              <a:t>Create an NLP-based recommender for an e-commerce dataset.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9661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C912-20D1-EB60-C9F0-923FAECE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B00C1-871C-B5D5-3144-2F2A07A9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6732AC-6B0F-1B21-5809-E422DA9C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in Healthcare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83A3FD-85A3-CCD0-652B-AA05B1DDF1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391704" cy="456510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EHR Analysis &amp; Clinical Documentation</a:t>
            </a:r>
            <a:endParaRPr lang="en-US" dirty="0"/>
          </a:p>
          <a:p>
            <a:pPr lvl="1"/>
            <a:r>
              <a:rPr lang="en-US" dirty="0"/>
              <a:t>NLP extracts structured data (diagnoses, symptoms, treatments) from large, unstructured medical records.</a:t>
            </a:r>
          </a:p>
          <a:p>
            <a:pPr lvl="1"/>
            <a:r>
              <a:rPr lang="en-US" dirty="0"/>
              <a:t>Speeds clinician access to patient insights. </a:t>
            </a:r>
          </a:p>
          <a:p>
            <a:r>
              <a:rPr lang="en-US" b="1" dirty="0"/>
              <a:t>Drug Discovery &amp; Research Mining</a:t>
            </a:r>
            <a:endParaRPr lang="en-US" dirty="0"/>
          </a:p>
          <a:p>
            <a:pPr lvl="1"/>
            <a:r>
              <a:rPr lang="en-US" dirty="0"/>
              <a:t>Scans scientific publications and trial reports to find hidden correlations.</a:t>
            </a:r>
          </a:p>
          <a:p>
            <a:pPr lvl="1"/>
            <a:r>
              <a:rPr lang="en-US" dirty="0"/>
              <a:t>Helps accelerate discovery cycles. </a:t>
            </a:r>
          </a:p>
          <a:p>
            <a:r>
              <a:rPr lang="en-US" b="1" dirty="0"/>
              <a:t>Mental Health &amp; Telemedicine</a:t>
            </a:r>
            <a:endParaRPr lang="en-US" dirty="0"/>
          </a:p>
          <a:p>
            <a:pPr lvl="1"/>
            <a:r>
              <a:rPr lang="en-US" dirty="0"/>
              <a:t>Detects linguistic markers of distress or depression in patient communication.</a:t>
            </a:r>
          </a:p>
          <a:p>
            <a:pPr lvl="1"/>
            <a:r>
              <a:rPr lang="en-US" dirty="0"/>
              <a:t>NLP-powered transcription tools turn verbal consultations into reliable digital records. </a:t>
            </a:r>
          </a:p>
        </p:txBody>
      </p:sp>
    </p:spTree>
    <p:extLst>
      <p:ext uri="{BB962C8B-B14F-4D97-AF65-F5344CB8AC3E}">
        <p14:creationId xmlns:p14="http://schemas.microsoft.com/office/powerpoint/2010/main" val="3175016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DD97-9602-7E22-2CEF-459F0773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BD43E-ACC0-898C-D951-ED3005C3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04ABE-EB44-985A-B06B-2B25564BF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in Finance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9662EC-8637-7F6C-63BA-8EBFD2A93B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391704" cy="4565104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Fraud Detection &amp; Risk Management</a:t>
            </a:r>
            <a:endParaRPr lang="en-US" dirty="0"/>
          </a:p>
          <a:p>
            <a:pPr lvl="1"/>
            <a:r>
              <a:rPr lang="en-US" dirty="0"/>
              <a:t>Systems analyze communication patterns and transaction data for anomalies that indicate fraud.</a:t>
            </a:r>
          </a:p>
          <a:p>
            <a:pPr lvl="1"/>
            <a:r>
              <a:rPr lang="en-US" dirty="0"/>
              <a:t>Risk teams draw insights from unstructured news &amp; regulatory reports. </a:t>
            </a:r>
          </a:p>
          <a:p>
            <a:r>
              <a:rPr lang="en-US" b="1" dirty="0"/>
              <a:t>Algorithmic Trading &amp; Sentiment-Driven Signals</a:t>
            </a:r>
            <a:endParaRPr lang="en-US" dirty="0"/>
          </a:p>
          <a:p>
            <a:pPr lvl="1"/>
            <a:r>
              <a:rPr lang="en-US" dirty="0"/>
              <a:t>NLP interprets market news and social sentiment to guide trading models.</a:t>
            </a:r>
          </a:p>
          <a:p>
            <a:pPr lvl="1"/>
            <a:r>
              <a:rPr lang="en-US" dirty="0"/>
              <a:t>Projects can explore </a:t>
            </a:r>
            <a:r>
              <a:rPr lang="en-US" i="1" dirty="0"/>
              <a:t>news-to-sentiment-to-price models</a:t>
            </a:r>
            <a:r>
              <a:rPr lang="en-US" dirty="0"/>
              <a:t>. </a:t>
            </a:r>
          </a:p>
          <a:p>
            <a:r>
              <a:rPr lang="en-US" b="1" dirty="0"/>
              <a:t>Financial Summarization</a:t>
            </a:r>
            <a:endParaRPr lang="en-US" dirty="0"/>
          </a:p>
          <a:p>
            <a:pPr lvl="1"/>
            <a:r>
              <a:rPr lang="en-US" dirty="0"/>
              <a:t>Automatically generates concise summaries of lengthy financial documents.</a:t>
            </a:r>
          </a:p>
          <a:p>
            <a:pPr lvl="1"/>
            <a:r>
              <a:rPr lang="en-US" dirty="0"/>
              <a:t>Useful for analysts and investors. </a:t>
            </a:r>
          </a:p>
        </p:txBody>
      </p:sp>
    </p:spTree>
    <p:extLst>
      <p:ext uri="{BB962C8B-B14F-4D97-AF65-F5344CB8AC3E}">
        <p14:creationId xmlns:p14="http://schemas.microsoft.com/office/powerpoint/2010/main" val="333955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BCBAF-E3DB-90CC-F941-F0C880ED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B1E15-ED0B-50B5-5F22-D33763AB0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095BEA-F8B2-3B7D-D09A-C826E5F5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in Education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D2EF5C-1260-7039-7EA1-4012B88DE1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391704" cy="4565104"/>
          </a:xfrm>
        </p:spPr>
        <p:txBody>
          <a:bodyPr>
            <a:normAutofit lnSpcReduction="10000"/>
          </a:bodyPr>
          <a:lstStyle/>
          <a:p>
            <a:r>
              <a:rPr lang="it-IT" b="1" dirty="0"/>
              <a:t>Automated Essay Scoring</a:t>
            </a:r>
            <a:endParaRPr lang="it-IT" dirty="0"/>
          </a:p>
          <a:p>
            <a:pPr lvl="1"/>
            <a:r>
              <a:rPr lang="it-IT" dirty="0"/>
              <a:t>Evaluates grammar, logic, and coherence using NLP scoring models.</a:t>
            </a:r>
          </a:p>
          <a:p>
            <a:pPr lvl="1"/>
            <a:r>
              <a:rPr lang="it-IT" dirty="0"/>
              <a:t>Reduces instructor workload and standardizes scoring. </a:t>
            </a:r>
          </a:p>
          <a:p>
            <a:r>
              <a:rPr lang="it-IT" b="1" dirty="0"/>
              <a:t>Personalized Learning Platforms</a:t>
            </a:r>
            <a:endParaRPr lang="it-IT" dirty="0"/>
          </a:p>
          <a:p>
            <a:pPr lvl="1"/>
            <a:r>
              <a:rPr lang="it-IT" dirty="0"/>
              <a:t>Learner profiling via responses and performance analysis.</a:t>
            </a:r>
          </a:p>
          <a:p>
            <a:pPr lvl="1"/>
            <a:r>
              <a:rPr lang="it-IT" dirty="0"/>
              <a:t>Recommends tailored study paths. </a:t>
            </a:r>
          </a:p>
          <a:p>
            <a:r>
              <a:rPr lang="it-IT" b="1" dirty="0"/>
              <a:t>Language Learning Tools &amp; Chatbots</a:t>
            </a:r>
            <a:endParaRPr lang="it-IT" dirty="0"/>
          </a:p>
          <a:p>
            <a:pPr lvl="1"/>
            <a:r>
              <a:rPr lang="it-IT" dirty="0"/>
              <a:t>Speech recognition and grammar correction integrated into language apps (e.g., Duolingo).</a:t>
            </a:r>
          </a:p>
          <a:p>
            <a:pPr lvl="1"/>
            <a:r>
              <a:rPr lang="it-IT" dirty="0"/>
              <a:t>24/7 homework help bots extend learning. </a:t>
            </a:r>
          </a:p>
        </p:txBody>
      </p:sp>
    </p:spTree>
    <p:extLst>
      <p:ext uri="{BB962C8B-B14F-4D97-AF65-F5344CB8AC3E}">
        <p14:creationId xmlns:p14="http://schemas.microsoft.com/office/powerpoint/2010/main" val="2111918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55FE-08C8-C99B-58B4-1F62900F9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AEFE2-384E-8874-2170-5A80631A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FAC3C4-A656-64DB-4087-4270F9FE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NLP in Legal Systems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5E1D71-A1B3-30D9-2AEB-B324FCE601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Contract Clause Extraction</a:t>
            </a:r>
            <a:endParaRPr lang="en-US" dirty="0"/>
          </a:p>
          <a:p>
            <a:pPr lvl="1"/>
            <a:r>
              <a:rPr lang="en-US" dirty="0"/>
              <a:t>Identifies and highlights critical clauses, obligations, and risks.</a:t>
            </a:r>
          </a:p>
          <a:p>
            <a:pPr lvl="1"/>
            <a:r>
              <a:rPr lang="en-US" dirty="0"/>
              <a:t>Speeds due diligence. </a:t>
            </a:r>
          </a:p>
          <a:p>
            <a:r>
              <a:rPr lang="en-US" b="1" dirty="0"/>
              <a:t>Document Review &amp; E-Discovery</a:t>
            </a:r>
            <a:endParaRPr lang="en-US" dirty="0"/>
          </a:p>
          <a:p>
            <a:pPr lvl="1"/>
            <a:r>
              <a:rPr lang="en-US" dirty="0"/>
              <a:t>Automates review of case files, emails, legal briefs to find relevant evidence.</a:t>
            </a:r>
          </a:p>
          <a:p>
            <a:pPr lvl="1"/>
            <a:r>
              <a:rPr lang="en-US" dirty="0"/>
              <a:t>Saves hours in litigation and regulatory work. </a:t>
            </a:r>
          </a:p>
          <a:p>
            <a:r>
              <a:rPr lang="en-US" b="1" dirty="0"/>
              <a:t>Legal Research Acceleration</a:t>
            </a:r>
            <a:endParaRPr lang="en-US" dirty="0"/>
          </a:p>
          <a:p>
            <a:pPr lvl="1"/>
            <a:r>
              <a:rPr lang="en-US" dirty="0"/>
              <a:t>Improves retrieval of relevant case laws and precedents beyond keyword search. </a:t>
            </a:r>
          </a:p>
        </p:txBody>
      </p:sp>
    </p:spTree>
    <p:extLst>
      <p:ext uri="{BB962C8B-B14F-4D97-AF65-F5344CB8AC3E}">
        <p14:creationId xmlns:p14="http://schemas.microsoft.com/office/powerpoint/2010/main" val="4048344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5C0F7-E4DE-453D-2BC4-2F941642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9240-5C78-369F-3347-3FE90A70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A3B83C-CD4F-166B-CFAF-CAEC3DE97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NLP in Manufacturing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3928D4-70A2-9392-633D-045E88C3F64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Predictive Maintenance</a:t>
            </a:r>
            <a:endParaRPr lang="en-US" dirty="0"/>
          </a:p>
          <a:p>
            <a:pPr lvl="1"/>
            <a:r>
              <a:rPr lang="en-US" dirty="0"/>
              <a:t>NLP processes maintenance logs and sensor descriptions to predict equipment failure.</a:t>
            </a:r>
          </a:p>
          <a:p>
            <a:pPr lvl="1"/>
            <a:r>
              <a:rPr lang="en-US" dirty="0"/>
              <a:t>Reduces downtime and operational costs. </a:t>
            </a:r>
          </a:p>
          <a:p>
            <a:r>
              <a:rPr lang="en-US" b="1" dirty="0"/>
              <a:t>Quality Control &amp; Inspection Reports</a:t>
            </a:r>
            <a:endParaRPr lang="en-US" dirty="0"/>
          </a:p>
          <a:p>
            <a:pPr lvl="1"/>
            <a:r>
              <a:rPr lang="en-US" dirty="0"/>
              <a:t>Automatically detects patterns in production logs and human feedback for defect types. </a:t>
            </a:r>
          </a:p>
          <a:p>
            <a:r>
              <a:rPr lang="en-US" b="1" dirty="0"/>
              <a:t>Supply Chain Management Intelligence</a:t>
            </a:r>
            <a:endParaRPr lang="en-US" dirty="0"/>
          </a:p>
          <a:p>
            <a:pPr lvl="1"/>
            <a:r>
              <a:rPr lang="en-US" dirty="0"/>
              <a:t>Extracts key insights from suppliers’ contracts, purchase orders, and logistics docs. </a:t>
            </a:r>
          </a:p>
        </p:txBody>
      </p:sp>
    </p:spTree>
    <p:extLst>
      <p:ext uri="{BB962C8B-B14F-4D97-AF65-F5344CB8AC3E}">
        <p14:creationId xmlns:p14="http://schemas.microsoft.com/office/powerpoint/2010/main" val="890345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B36D-445B-F984-6DEA-4B32ADB38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A0645-D17D-67DE-6B45-DAEF0D2B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2E136-49AB-D337-95A4-D3C96FE7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NLP in Media &amp; Entertainment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8F6B7C-2455-37D3-F20F-601E64BCAD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Content Recommendation Engines</a:t>
            </a:r>
            <a:endParaRPr lang="en-US" dirty="0"/>
          </a:p>
          <a:p>
            <a:pPr lvl="1"/>
            <a:r>
              <a:rPr lang="en-US" dirty="0"/>
              <a:t>Models viewing and listening patterns for personalized suggestions. </a:t>
            </a:r>
          </a:p>
          <a:p>
            <a:r>
              <a:rPr lang="en-US" b="1" dirty="0"/>
              <a:t>News &amp; Video Summarization</a:t>
            </a:r>
            <a:endParaRPr lang="en-US" dirty="0"/>
          </a:p>
          <a:p>
            <a:pPr lvl="1"/>
            <a:r>
              <a:rPr lang="en-US" dirty="0"/>
              <a:t>Condenses large news feeds or video transcripts into brief insights. </a:t>
            </a:r>
          </a:p>
          <a:p>
            <a:r>
              <a:rPr lang="en-US" b="1" dirty="0"/>
              <a:t>Sentiment Analysis of Reviews</a:t>
            </a:r>
            <a:endParaRPr lang="en-US" dirty="0"/>
          </a:p>
          <a:p>
            <a:pPr lvl="1"/>
            <a:r>
              <a:rPr lang="en-US" dirty="0"/>
              <a:t>Studios analyze audience sentiment to influence marketing and production decisions. </a:t>
            </a:r>
          </a:p>
        </p:txBody>
      </p:sp>
    </p:spTree>
    <p:extLst>
      <p:ext uri="{BB962C8B-B14F-4D97-AF65-F5344CB8AC3E}">
        <p14:creationId xmlns:p14="http://schemas.microsoft.com/office/powerpoint/2010/main" val="3822634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in Government &amp; Public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EE1E7-C4F8-DC5D-C9AC-0BD7C1E4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24" y="1833704"/>
            <a:ext cx="7511384" cy="4495800"/>
          </a:xfrm>
        </p:spPr>
        <p:txBody>
          <a:bodyPr>
            <a:normAutofit/>
          </a:bodyPr>
          <a:lstStyle/>
          <a:p>
            <a:r>
              <a:rPr lang="en-US" b="1" dirty="0"/>
              <a:t>Government Data Accessibility</a:t>
            </a:r>
            <a:endParaRPr lang="en-US" dirty="0"/>
          </a:p>
          <a:p>
            <a:pPr lvl="1"/>
            <a:r>
              <a:rPr lang="en-US" dirty="0"/>
              <a:t>Transforms complex regulations and datasets into simpler summaries for citizens. </a:t>
            </a:r>
          </a:p>
          <a:p>
            <a:r>
              <a:rPr lang="en-US" b="1" dirty="0"/>
              <a:t>Public Engagement via Chatbots</a:t>
            </a:r>
            <a:endParaRPr lang="en-US" dirty="0"/>
          </a:p>
          <a:p>
            <a:pPr lvl="1"/>
            <a:r>
              <a:rPr lang="en-US" dirty="0"/>
              <a:t>Virtual assistants answer service queries and guide citizens through procedures. </a:t>
            </a:r>
          </a:p>
          <a:p>
            <a:r>
              <a:rPr lang="en-US" b="1" dirty="0"/>
              <a:t>Opinion Mining for Policy Decisions</a:t>
            </a:r>
            <a:endParaRPr lang="en-US" dirty="0"/>
          </a:p>
          <a:p>
            <a:pPr lvl="1"/>
            <a:r>
              <a:rPr lang="en-US" dirty="0"/>
              <a:t>Analyzes public sentiment regarding policies, welfare programs, and national announcements.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76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9C2C-E6B3-60FF-A03C-F72EE2A4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A130-B528-1FE9-EDAC-062BB3BD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in Travel &amp; Tourism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8D5D7-81B6-11EA-6A7E-B3F70FA20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24" y="1833704"/>
            <a:ext cx="7511384" cy="44958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Booking &amp; Travel Assistance Bots</a:t>
            </a:r>
            <a:endParaRPr lang="en-US" dirty="0"/>
          </a:p>
          <a:p>
            <a:pPr lvl="1"/>
            <a:r>
              <a:rPr lang="en-US" dirty="0"/>
              <a:t>Provide automated support for flight, hotel, and itinerary planning. </a:t>
            </a:r>
          </a:p>
          <a:p>
            <a:r>
              <a:rPr lang="en-US" b="1" dirty="0"/>
              <a:t>Personalized Itineraries</a:t>
            </a:r>
            <a:endParaRPr lang="en-US" dirty="0"/>
          </a:p>
          <a:p>
            <a:pPr lvl="1"/>
            <a:r>
              <a:rPr lang="en-US" dirty="0"/>
              <a:t>Uses preferences and past travel searches to recommend tailored journey plans. </a:t>
            </a:r>
          </a:p>
          <a:p>
            <a:r>
              <a:rPr lang="en-US" b="1" dirty="0"/>
              <a:t>Review Aggregation &amp; Multilingual Assistance</a:t>
            </a:r>
            <a:endParaRPr lang="en-US" dirty="0"/>
          </a:p>
          <a:p>
            <a:pPr lvl="1"/>
            <a:r>
              <a:rPr lang="en-US" dirty="0"/>
              <a:t>NLP groups traveler feedback to highlight top attractions and helps break language barriers with real-time translation.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68EAD-7247-A69C-DDB1-1A330D2A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93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27EDE-7C81-9C4D-62EE-59F11C79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FD44-4B3F-A148-C8AE-C58243F87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in National Security &amp; Law Enforcement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8784-7925-8627-2DDF-0A10A128B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64" y="1600200"/>
            <a:ext cx="9959656" cy="4495800"/>
          </a:xfrm>
        </p:spPr>
        <p:txBody>
          <a:bodyPr>
            <a:normAutofit/>
          </a:bodyPr>
          <a:lstStyle/>
          <a:p>
            <a:r>
              <a:rPr lang="en-US" b="1" dirty="0"/>
              <a:t>Threat Detection on Social Platforms</a:t>
            </a:r>
            <a:endParaRPr lang="en-US" dirty="0"/>
          </a:p>
          <a:p>
            <a:pPr lvl="1"/>
            <a:r>
              <a:rPr lang="en-US" dirty="0"/>
              <a:t>NLP flags extremist or high-risk content based on linguistics signals. </a:t>
            </a:r>
          </a:p>
          <a:p>
            <a:r>
              <a:rPr lang="en-US" b="1" dirty="0"/>
              <a:t>Crime Text Pattern Analysis</a:t>
            </a:r>
            <a:endParaRPr lang="en-US" dirty="0"/>
          </a:p>
          <a:p>
            <a:pPr lvl="1"/>
            <a:r>
              <a:rPr lang="en-US" dirty="0"/>
              <a:t>Processes police reports and evidence text to find trends and predict hotspots. </a:t>
            </a:r>
          </a:p>
          <a:p>
            <a:r>
              <a:rPr lang="en-US" b="1" dirty="0"/>
              <a:t>Cyber Threat Detection</a:t>
            </a:r>
            <a:endParaRPr lang="en-US" dirty="0"/>
          </a:p>
          <a:p>
            <a:pPr lvl="1"/>
            <a:r>
              <a:rPr lang="en-US" dirty="0"/>
              <a:t>Detects phishing content and malicious patterns in communication data.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237B4-C2EA-0DAA-CA74-CF39F9B2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06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307A-403B-DF48-345F-698DA80F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58C64-4122-F4BE-E278-B742452E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Project-Oriented Learning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02928-F0E1-6A5B-DC08-BF1F6985D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D7B09-A690-034D-29EE-88EB80A80B4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NLP is experimental.</a:t>
            </a:r>
          </a:p>
          <a:p>
            <a:pPr lvl="1"/>
            <a:r>
              <a:rPr lang="it-IT" dirty="0"/>
              <a:t>Understanding requires:</a:t>
            </a:r>
          </a:p>
          <a:p>
            <a:pPr lvl="1"/>
            <a:r>
              <a:rPr lang="it-IT" dirty="0"/>
              <a:t>Dataset engineering</a:t>
            </a:r>
          </a:p>
          <a:p>
            <a:pPr lvl="1"/>
            <a:r>
              <a:rPr lang="it-IT" dirty="0"/>
              <a:t>Hyperparameter tuning</a:t>
            </a:r>
          </a:p>
          <a:p>
            <a:pPr lvl="1"/>
            <a:r>
              <a:rPr lang="it-IT" dirty="0"/>
              <a:t>Error analysis</a:t>
            </a:r>
          </a:p>
          <a:p>
            <a:pPr lvl="1"/>
            <a:r>
              <a:rPr lang="it-IT" dirty="0"/>
              <a:t>Model comparison</a:t>
            </a:r>
          </a:p>
          <a:p>
            <a:r>
              <a:rPr lang="it-IT" dirty="0"/>
              <a:t>You must experience:</a:t>
            </a:r>
          </a:p>
          <a:p>
            <a:pPr lvl="1"/>
            <a:r>
              <a:rPr lang="it-IT" dirty="0"/>
              <a:t>Training instability</a:t>
            </a:r>
          </a:p>
          <a:p>
            <a:pPr lvl="1"/>
            <a:r>
              <a:rPr lang="it-IT" dirty="0"/>
              <a:t>Overfitting</a:t>
            </a:r>
          </a:p>
          <a:p>
            <a:pPr lvl="1"/>
            <a:r>
              <a:rPr lang="it-IT" dirty="0"/>
              <a:t>Dataset bias</a:t>
            </a:r>
          </a:p>
          <a:p>
            <a:pPr lvl="1"/>
            <a:r>
              <a:rPr lang="it-IT" dirty="0"/>
              <a:t>Evaluation pitfalls</a:t>
            </a:r>
          </a:p>
        </p:txBody>
      </p:sp>
    </p:spTree>
    <p:extLst>
      <p:ext uri="{BB962C8B-B14F-4D97-AF65-F5344CB8AC3E}">
        <p14:creationId xmlns:p14="http://schemas.microsoft.com/office/powerpoint/2010/main" val="3017482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20B45-3246-F084-D4DE-F5D75AAB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23C02-7E65-5163-86FB-7DAF447A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 (Aligned with Units)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9E8D2-11EE-805D-BCCE-9AF5DDCE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E4905-202A-1991-893B-34115ECEB9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b="1" dirty="0"/>
              <a:t>Milestone 1</a:t>
            </a:r>
          </a:p>
          <a:p>
            <a:r>
              <a:rPr lang="it-IT" dirty="0"/>
              <a:t>Problem definition + dataset exploration</a:t>
            </a:r>
          </a:p>
          <a:p>
            <a:r>
              <a:rPr lang="it-IT" b="1" dirty="0"/>
              <a:t>Milestone 2</a:t>
            </a:r>
          </a:p>
          <a:p>
            <a:r>
              <a:rPr lang="it-IT" dirty="0"/>
              <a:t>Baseline statistical model</a:t>
            </a:r>
          </a:p>
          <a:p>
            <a:r>
              <a:rPr lang="it-IT" b="1" dirty="0"/>
              <a:t>Milestone 3</a:t>
            </a:r>
          </a:p>
          <a:p>
            <a:r>
              <a:rPr lang="it-IT" dirty="0"/>
              <a:t>Neural model</a:t>
            </a:r>
          </a:p>
          <a:p>
            <a:r>
              <a:rPr lang="it-IT" b="1" dirty="0"/>
              <a:t>Milestone 4</a:t>
            </a:r>
          </a:p>
          <a:p>
            <a:r>
              <a:rPr lang="it-IT" dirty="0"/>
              <a:t>Transformer-based model + Generative AI</a:t>
            </a:r>
          </a:p>
          <a:p>
            <a:r>
              <a:rPr lang="it-IT" b="1" dirty="0"/>
              <a:t>Milestone 5</a:t>
            </a:r>
          </a:p>
          <a:p>
            <a:r>
              <a:rPr lang="it-IT" dirty="0"/>
              <a:t>Evaluation + deployment + report</a:t>
            </a:r>
          </a:p>
          <a:p>
            <a:r>
              <a:rPr lang="it-IT" dirty="0"/>
              <a:t>This ensures progressive learning.</a:t>
            </a:r>
          </a:p>
        </p:txBody>
      </p:sp>
    </p:spTree>
    <p:extLst>
      <p:ext uri="{BB962C8B-B14F-4D97-AF65-F5344CB8AC3E}">
        <p14:creationId xmlns:p14="http://schemas.microsoft.com/office/powerpoint/2010/main" val="3302414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4ABDC-4CCF-B3C2-7A9D-D6C14CE1A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4689-6B66-99DE-9147-1D209572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Choose Your NLP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7C476-DCE8-42C0-0054-E773E747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6C099-0689-E5F4-E57D-D9A153BB451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/>
          </a:bodyPr>
          <a:lstStyle/>
          <a:p>
            <a:r>
              <a:rPr lang="it-IT" b="1" dirty="0"/>
              <a:t>Project Requirement</a:t>
            </a:r>
          </a:p>
          <a:p>
            <a:pPr lvl="1"/>
            <a:r>
              <a:rPr lang="it-IT" dirty="0"/>
              <a:t>Solve a Complex Computational Problem</a:t>
            </a:r>
          </a:p>
          <a:p>
            <a:pPr lvl="1"/>
            <a:r>
              <a:rPr lang="it-IT" dirty="0"/>
              <a:t>Your project must address a </a:t>
            </a:r>
            <a:r>
              <a:rPr lang="it-IT" b="1" dirty="0"/>
              <a:t>non-trivial NLP problem</a:t>
            </a:r>
            <a:r>
              <a:rPr lang="it-IT" dirty="0"/>
              <a:t> involving:</a:t>
            </a:r>
          </a:p>
          <a:p>
            <a:pPr lvl="1"/>
            <a:r>
              <a:rPr lang="it-IT" dirty="0"/>
              <a:t>Large-scale text data</a:t>
            </a:r>
          </a:p>
          <a:p>
            <a:pPr lvl="1"/>
            <a:r>
              <a:rPr lang="it-IT" dirty="0"/>
              <a:t>Advanced modeling (Neural Networks </a:t>
            </a:r>
            <a:r>
              <a:rPr lang="it-IT"/>
              <a:t>/ Transformers/ Agentic AI)</a:t>
            </a:r>
            <a:endParaRPr lang="it-IT" dirty="0"/>
          </a:p>
          <a:p>
            <a:pPr lvl="1"/>
            <a:r>
              <a:rPr lang="it-IT" dirty="0"/>
              <a:t>Quantitative evaluation</a:t>
            </a:r>
          </a:p>
          <a:p>
            <a:pPr lvl="1"/>
            <a:r>
              <a:rPr lang="it-IT" dirty="0"/>
              <a:t>Error analysis</a:t>
            </a:r>
          </a:p>
          <a:p>
            <a:pPr lvl="1"/>
            <a:r>
              <a:rPr lang="it-IT" dirty="0"/>
              <a:t>Ethical consideration</a:t>
            </a:r>
          </a:p>
          <a:p>
            <a:r>
              <a:rPr lang="it-IT" dirty="0"/>
              <a:t>Design, train, evaluate, and analyze an NLP model capable of solving a real-world language problem at research-level complexity.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53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F1EF9-93E8-4370-6833-D3B150D8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E40E-4350-E20C-665E-4DD8113A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&amp;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918A1-F63C-5377-86BD-15AAD85A7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64" y="1600200"/>
            <a:ext cx="9959656" cy="4495800"/>
          </a:xfrm>
        </p:spPr>
        <p:txBody>
          <a:bodyPr>
            <a:normAutofit/>
          </a:bodyPr>
          <a:lstStyle/>
          <a:p>
            <a:r>
              <a:rPr lang="en-US" dirty="0"/>
              <a:t>Continuous Assessments (30%)</a:t>
            </a:r>
          </a:p>
          <a:p>
            <a:pPr lvl="1"/>
            <a:r>
              <a:rPr lang="en-US" dirty="0"/>
              <a:t>Quizzes (5 marks)</a:t>
            </a:r>
          </a:p>
          <a:p>
            <a:pPr lvl="1"/>
            <a:r>
              <a:rPr lang="en-US" dirty="0"/>
              <a:t>Assignments (15 marks)</a:t>
            </a:r>
          </a:p>
          <a:p>
            <a:pPr lvl="1"/>
            <a:r>
              <a:rPr lang="en-US" dirty="0"/>
              <a:t>Project (5 marks)</a:t>
            </a:r>
          </a:p>
          <a:p>
            <a:pPr lvl="1"/>
            <a:r>
              <a:rPr lang="en-US" dirty="0"/>
              <a:t>CCP (5 marks)</a:t>
            </a:r>
          </a:p>
          <a:p>
            <a:r>
              <a:rPr lang="en-US" dirty="0"/>
              <a:t>Midterm Exam (30 marks)</a:t>
            </a:r>
          </a:p>
          <a:p>
            <a:r>
              <a:rPr lang="en-US" dirty="0"/>
              <a:t>Final Examination (40%)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492C5-35C7-D72C-0B6F-F076F264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BCD25-362F-D532-AD93-2BEA395BD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471" y="1772816"/>
            <a:ext cx="2510665" cy="226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52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B64A-132F-A1FA-5133-6216C9E2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92EF-D70A-938B-04A7-F8E3C271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2A23-B241-0541-DA04-99ADB0B5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05920-88A7-BF52-118E-4C8DA12D9D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1026" name="Picture 2" descr="17,400+ Inspirational Quotes Stock Photos, Pictures &amp; Royalty-Free Images -  iStock | Motivation, Quotes about life, Inspirational">
            <a:extLst>
              <a:ext uri="{FF2B5EF4-FFF2-40B4-BE49-F238E27FC236}">
                <a16:creationId xmlns:a16="http://schemas.microsoft.com/office/drawing/2014/main" id="{7E52B16C-84BE-0A56-F66D-54E0E4ACB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844824"/>
            <a:ext cx="5829300" cy="43719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67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te histo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e history report presentation.potx" id="{CE65B12B-E5CF-4B7F-891B-BF19DA46421A}" vid="{73D5F891-C0F2-461A-8D6B-932929F672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6120</TotalTime>
  <Words>1839</Words>
  <Application>Microsoft Office PowerPoint</Application>
  <PresentationFormat>Widescreen</PresentationFormat>
  <Paragraphs>336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Bahnschrift SemiBold</vt:lpstr>
      <vt:lpstr>Calibri</vt:lpstr>
      <vt:lpstr>Cambria Math</vt:lpstr>
      <vt:lpstr>Congenial Black</vt:lpstr>
      <vt:lpstr>Wingdings</vt:lpstr>
      <vt:lpstr>Wingdings 2</vt:lpstr>
      <vt:lpstr>Median</vt:lpstr>
      <vt:lpstr>State history report presentation</vt:lpstr>
      <vt:lpstr>Dr. Muzamil Ahmed (Assistant Professor)  Namal University Mianwali   </vt:lpstr>
      <vt:lpstr>Lesson from Quran</vt:lpstr>
      <vt:lpstr>Google Scholar Profile</vt:lpstr>
      <vt:lpstr>Lecture Outline</vt:lpstr>
      <vt:lpstr>Course Orientation &amp; Vision</vt:lpstr>
      <vt:lpstr>What is Natural Language?</vt:lpstr>
      <vt:lpstr>Core NLP Objective</vt:lpstr>
      <vt:lpstr>Formal Definition of NLP</vt:lpstr>
      <vt:lpstr>Linguistic Levels in NLP</vt:lpstr>
      <vt:lpstr>Why NLP is Hard</vt:lpstr>
      <vt:lpstr>Ambiguity in sentence level</vt:lpstr>
      <vt:lpstr>Evolution of NLP</vt:lpstr>
      <vt:lpstr>Evolution of NLP</vt:lpstr>
      <vt:lpstr>Modern NLP Pipeline (Technical View)</vt:lpstr>
      <vt:lpstr>Modern NLP Pipeline (Technical View)</vt:lpstr>
      <vt:lpstr>Applications of NLP</vt:lpstr>
      <vt:lpstr>NLP in Customer Service (Real-World Value)</vt:lpstr>
      <vt:lpstr>NLP in Healthcare</vt:lpstr>
      <vt:lpstr>NLP in Finance</vt:lpstr>
      <vt:lpstr>NLP in Education</vt:lpstr>
      <vt:lpstr>NLP in Legal Systems</vt:lpstr>
      <vt:lpstr>NLP in Manufacturing</vt:lpstr>
      <vt:lpstr>NLP in Media &amp; Entertainment</vt:lpstr>
      <vt:lpstr>NLP in Government &amp; Public Services</vt:lpstr>
      <vt:lpstr>NLP in Travel &amp; Tourism</vt:lpstr>
      <vt:lpstr>NLP in National Security &amp; Law Enforcement</vt:lpstr>
      <vt:lpstr>Project-Oriented Learning</vt:lpstr>
      <vt:lpstr>Project Structure (Aligned with Units)</vt:lpstr>
      <vt:lpstr>Choose Your NLP Project</vt:lpstr>
      <vt:lpstr>Assessment &amp; Evaluation </vt:lpstr>
      <vt:lpstr>Thanks</vt:lpstr>
    </vt:vector>
  </TitlesOfParts>
  <Company>TU Wien - Campusversion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Iqbal</dc:creator>
  <cp:lastModifiedBy>Muzamil Ahmed</cp:lastModifiedBy>
  <cp:revision>515</cp:revision>
  <dcterms:created xsi:type="dcterms:W3CDTF">2012-01-21T01:40:52Z</dcterms:created>
  <dcterms:modified xsi:type="dcterms:W3CDTF">2026-02-24T04:51:08Z</dcterms:modified>
</cp:coreProperties>
</file>