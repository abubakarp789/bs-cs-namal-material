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aphora Bold" charset="1" panose="00000000000000000000"/>
      <p:regular r:id="rId20"/>
    </p:embeddedFont>
    <p:embeddedFont>
      <p:font typeface="Noto Sans" charset="1" panose="020B050204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Chatbots</a:t>
            </a:r>
          </a:p>
          <a:p>
            <a:r>
              <a:rPr lang="en-US"/>
              <a:t>Sentiment analysis</a:t>
            </a:r>
          </a:p>
          <a:p>
            <a:r>
              <a:rPr lang="en-US"/>
              <a:t>Question answering</a:t>
            </a:r>
          </a:p>
          <a:p>
            <a:r>
              <a:rPr lang="en-US"/>
              <a:t>no next sentence prediction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dynamic masking</a:t>
            </a:r>
          </a:p>
          <a:p>
            <a:r>
              <a:rPr lang="en-US"/>
              <a:t>auto encoder </a:t>
            </a:r>
          </a:p>
          <a:p>
            <a:r>
              <a:rPr lang="en-US"/>
              <a:t>long length datasets</a:t>
            </a:r>
          </a:p>
          <a:p>
            <a:r>
              <a:rPr lang="en-US"/>
              <a:t>XLNet high cost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 = Embedding Matrix</a:t>
            </a:r>
          </a:p>
          <a:p>
            <a:r>
              <a:rPr lang="en-US"/>
              <a:t>∣V∣ = Vocabulary size (total number of unique words)(rows)</a:t>
            </a:r>
          </a:p>
          <a:p>
            <a:r>
              <a:rPr lang="en-US"/>
              <a:t>d = Embedding dimension (size of each vector)(columns)</a:t>
            </a:r>
          </a:p>
          <a:p>
            <a:r>
              <a:rPr lang="en-US"/>
              <a:t/>
            </a:r>
          </a:p>
          <a:p>
            <a:r>
              <a:rPr lang="en-US"/>
              <a:t>words--&gt; numbers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order of word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8296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0" y="0"/>
                </a:moveTo>
                <a:lnTo>
                  <a:pt x="6121973" y="0"/>
                </a:lnTo>
                <a:lnTo>
                  <a:pt x="6121973" y="8396722"/>
                </a:lnTo>
                <a:lnTo>
                  <a:pt x="0" y="839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00356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400356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0481" y="3531854"/>
            <a:ext cx="12387037" cy="254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b="true" sz="14785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RoBERTa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61211" y="5710902"/>
            <a:ext cx="7165577" cy="6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By Nasreen &amp; Mariyam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219662" y="92392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4219662" y="10477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8392503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63747"/>
            <a:ext cx="12208863" cy="224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423" indent="-346711" lvl="1">
              <a:lnSpc>
                <a:spcPts val="6134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Improved version of BERT</a:t>
            </a:r>
          </a:p>
          <a:p>
            <a:pPr algn="l" marL="693423" indent="-346711" lvl="1">
              <a:lnSpc>
                <a:spcPts val="6134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Gener</a:t>
            </a: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ates contextual embeddings</a:t>
            </a:r>
          </a:p>
          <a:p>
            <a:pPr algn="l" marL="693423" indent="-346711" lvl="1">
              <a:lnSpc>
                <a:spcPts val="6134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Better training strategy than BERT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8392503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Tokenization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73247"/>
            <a:ext cx="12208863" cy="301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423" indent="-346711" lvl="1">
              <a:lnSpc>
                <a:spcPts val="6134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Example sen</a:t>
            </a: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tence: “The bank is near the river”</a:t>
            </a:r>
          </a:p>
          <a:p>
            <a:pPr algn="l" marL="693423" indent="-346711" lvl="1">
              <a:lnSpc>
                <a:spcPts val="6134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Tokenization: [The, bank, is, near, the, river]</a:t>
            </a:r>
          </a:p>
          <a:p>
            <a:pPr algn="l" marL="693423" indent="-346711" lvl="1">
              <a:lnSpc>
                <a:spcPts val="6134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613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74089" y="6658193"/>
            <a:ext cx="3572351" cy="61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  <a:spcBef>
                <a:spcPct val="0"/>
              </a:spcBef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[t1,t2,t3.........</a:t>
            </a: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t_n]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118544"/>
            <a:ext cx="15915290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Token Embedding Lookup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6964" y="3943981"/>
            <a:ext cx="2621972" cy="204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4"/>
              </a:lnSpc>
            </a:pPr>
            <a:r>
              <a:rPr lang="en-US" sz="4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840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6964" y="6362063"/>
            <a:ext cx="3883495" cy="70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Example: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4517" y="6843982"/>
            <a:ext cx="4830745" cy="70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x{bank}=[0.4,0.1,-0.2,...]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86632" y="4936287"/>
            <a:ext cx="3027653" cy="1035776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19338" y="4983779"/>
            <a:ext cx="3204082" cy="1153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14525623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Positional Embedding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04322"/>
            <a:ext cx="2418805" cy="204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4"/>
              </a:lnSpc>
            </a:pPr>
            <a:r>
              <a:rPr lang="en-US" sz="4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840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4427" y="4415678"/>
            <a:ext cx="4314944" cy="145564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24427" y="5858850"/>
            <a:ext cx="4314944" cy="1551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4357" y="2023294"/>
            <a:ext cx="17723168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Query, Key, Value Generation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04322"/>
            <a:ext cx="2418805" cy="20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6"/>
              </a:lnSpc>
            </a:pPr>
            <a:r>
              <a:rPr lang="en-US" sz="44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8426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5479" y="4399568"/>
            <a:ext cx="3229052" cy="1162147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20488" y="5483461"/>
            <a:ext cx="3408946" cy="112053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20488" y="6524703"/>
            <a:ext cx="3408946" cy="1144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12718275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Self-Attention Score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90047"/>
            <a:ext cx="2418805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613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62472" y="4003637"/>
            <a:ext cx="8363057" cy="3317859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72832" y="6700791"/>
            <a:ext cx="10133664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Example:</a:t>
            </a:r>
          </a:p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 “bank”, high score comes from “river”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16819846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Softmax Attention Weights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90047"/>
            <a:ext cx="2418805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613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2832" y="6603289"/>
            <a:ext cx="10133664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Example:</a:t>
            </a:r>
          </a:p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rive</a:t>
            </a: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 = 45%   near = 35%    others = 20%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84194" y="4331970"/>
            <a:ext cx="9738360" cy="2372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16819846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New Contextual Embedding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90047"/>
            <a:ext cx="2418805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613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38225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2832" y="6603289"/>
            <a:ext cx="10133664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Example:</a:t>
            </a:r>
          </a:p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Now</a:t>
            </a: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“bank” becomes “river-side meaning”.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124757" y="4281401"/>
            <a:ext cx="3933662" cy="2104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16819846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Multi-Head Attention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90047"/>
            <a:ext cx="2418805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613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45204" y="4529433"/>
            <a:ext cx="13597592" cy="2717263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38225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18544"/>
            <a:ext cx="16819846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Final Output Embedding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2832" y="4190047"/>
            <a:ext cx="2418805" cy="14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sz="32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Formula:</a:t>
            </a:r>
          </a:p>
          <a:p>
            <a:pPr algn="l">
              <a:lnSpc>
                <a:spcPts val="613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35448" y="4908133"/>
            <a:ext cx="3090013" cy="15088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66169"/>
            <a:ext cx="21434113" cy="130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5"/>
              </a:lnSpc>
            </a:pPr>
            <a:r>
              <a:rPr lang="en-US" sz="7518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Same Word, Different Embedding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146" y="3906265"/>
            <a:ext cx="11852110" cy="163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Sentence 1:       </a:t>
            </a: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The bank is nea</a:t>
            </a: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 the river.</a:t>
            </a:r>
          </a:p>
          <a:p>
            <a:pPr algn="l">
              <a:lnSpc>
                <a:spcPts val="6839"/>
              </a:lnSpc>
            </a:pP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Sentence 2:        I deposited money in the bank.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5146" y="9023939"/>
            <a:ext cx="1304674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5146" y="5980053"/>
            <a:ext cx="6090380" cy="211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2"/>
              </a:lnSpc>
            </a:pP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Same initial vector:</a:t>
            </a:r>
          </a:p>
          <a:p>
            <a:pPr algn="l">
              <a:lnSpc>
                <a:spcPts val="8952"/>
              </a:lnSpc>
            </a:pP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Diff</a:t>
            </a: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erent final vectors: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90451" y="6400312"/>
            <a:ext cx="1498364" cy="61697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073952" y="6993548"/>
            <a:ext cx="4555056" cy="1518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753330"/>
            <a:ext cx="8392503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Final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5146" y="3906265"/>
            <a:ext cx="12315978" cy="249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Text → </a:t>
            </a: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Tokens → Embedding Lookup → Positional</a:t>
            </a:r>
            <a:r>
              <a:rPr lang="en-US" sz="35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Embedding → QKV → Self-Attention → Contextual Embedding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83347"/>
            <a:ext cx="1088264" cy="6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4947748" y="4175351"/>
            <a:ext cx="8392503" cy="172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0017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DAHGGBYP0N4</dc:identifier>
  <dcterms:modified xsi:type="dcterms:W3CDTF">2011-08-01T06:04:30Z</dcterms:modified>
  <cp:revision>1</cp:revision>
  <dc:title>Modern Dark Blue Technology Presentation</dc:title>
</cp:coreProperties>
</file>