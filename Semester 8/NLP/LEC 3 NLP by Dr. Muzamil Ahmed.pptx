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29"/>
  </p:notesMasterIdLst>
  <p:sldIdLst>
    <p:sldId id="257" r:id="rId3"/>
    <p:sldId id="259" r:id="rId4"/>
    <p:sldId id="360" r:id="rId5"/>
    <p:sldId id="424" r:id="rId6"/>
    <p:sldId id="425" r:id="rId7"/>
    <p:sldId id="426" r:id="rId8"/>
    <p:sldId id="427" r:id="rId9"/>
    <p:sldId id="428" r:id="rId10"/>
    <p:sldId id="432" r:id="rId11"/>
    <p:sldId id="429" r:id="rId12"/>
    <p:sldId id="430" r:id="rId13"/>
    <p:sldId id="431" r:id="rId14"/>
    <p:sldId id="433" r:id="rId15"/>
    <p:sldId id="434" r:id="rId16"/>
    <p:sldId id="435" r:id="rId17"/>
    <p:sldId id="436" r:id="rId18"/>
    <p:sldId id="437" r:id="rId19"/>
    <p:sldId id="442" r:id="rId20"/>
    <p:sldId id="438" r:id="rId21"/>
    <p:sldId id="439" r:id="rId22"/>
    <p:sldId id="440" r:id="rId23"/>
    <p:sldId id="441" r:id="rId24"/>
    <p:sldId id="443" r:id="rId25"/>
    <p:sldId id="444" r:id="rId26"/>
    <p:sldId id="445" r:id="rId27"/>
    <p:sldId id="423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46" autoAdjust="0"/>
  </p:normalViewPr>
  <p:slideViewPr>
    <p:cSldViewPr>
      <p:cViewPr varScale="1">
        <p:scale>
          <a:sx n="63" d="100"/>
          <a:sy n="63" d="100"/>
        </p:scale>
        <p:origin x="1354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5CE50-B06D-4A07-B7E0-4B382EFF44A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98305D1-7C1C-42B1-865F-C48821EBDF9D}">
      <dgm:prSet phldrT="[Text]"/>
      <dgm:spPr/>
      <dgm:t>
        <a:bodyPr/>
        <a:lstStyle/>
        <a:p>
          <a:r>
            <a:rPr lang="it-IT" dirty="0"/>
            <a:t>Reviews</a:t>
          </a:r>
          <a:endParaRPr lang="en-PK" dirty="0"/>
        </a:p>
      </dgm:t>
    </dgm:pt>
    <dgm:pt modelId="{9B4D6DAA-0B0A-4D22-A251-C1A26B72FD8E}" type="parTrans" cxnId="{9409C54B-E657-4B42-8C07-0E6DF8781DA7}">
      <dgm:prSet/>
      <dgm:spPr/>
      <dgm:t>
        <a:bodyPr/>
        <a:lstStyle/>
        <a:p>
          <a:endParaRPr lang="en-PK"/>
        </a:p>
      </dgm:t>
    </dgm:pt>
    <dgm:pt modelId="{587CD1EC-3C58-452D-9A05-3CA6D73714C7}" type="sibTrans" cxnId="{9409C54B-E657-4B42-8C07-0E6DF8781DA7}">
      <dgm:prSet/>
      <dgm:spPr/>
      <dgm:t>
        <a:bodyPr/>
        <a:lstStyle/>
        <a:p>
          <a:endParaRPr lang="en-PK"/>
        </a:p>
      </dgm:t>
    </dgm:pt>
    <dgm:pt modelId="{C26E4C3F-D2C3-41AD-9D24-641BA88CA2B8}">
      <dgm:prSet phldrT="[Text]"/>
      <dgm:spPr/>
      <dgm:t>
        <a:bodyPr/>
        <a:lstStyle/>
        <a:p>
          <a:r>
            <a:rPr lang="it-IT" dirty="0"/>
            <a:t>Tokenization</a:t>
          </a:r>
          <a:endParaRPr lang="en-PK" dirty="0"/>
        </a:p>
      </dgm:t>
    </dgm:pt>
    <dgm:pt modelId="{28221531-6536-4C9C-99BF-5C96AA2CEE0F}" type="parTrans" cxnId="{C411C7EC-CABE-44EC-BA4E-77F0A770774C}">
      <dgm:prSet/>
      <dgm:spPr/>
      <dgm:t>
        <a:bodyPr/>
        <a:lstStyle/>
        <a:p>
          <a:endParaRPr lang="en-PK"/>
        </a:p>
      </dgm:t>
    </dgm:pt>
    <dgm:pt modelId="{E91391D7-20CE-4DCF-84E6-44D4F59E7235}" type="sibTrans" cxnId="{C411C7EC-CABE-44EC-BA4E-77F0A770774C}">
      <dgm:prSet/>
      <dgm:spPr/>
      <dgm:t>
        <a:bodyPr/>
        <a:lstStyle/>
        <a:p>
          <a:endParaRPr lang="en-PK"/>
        </a:p>
      </dgm:t>
    </dgm:pt>
    <dgm:pt modelId="{09769F65-EE60-4524-9551-3ECBC8FCFBD6}">
      <dgm:prSet phldrT="[Text]"/>
      <dgm:spPr/>
      <dgm:t>
        <a:bodyPr/>
        <a:lstStyle/>
        <a:p>
          <a:r>
            <a:rPr lang="it-IT" dirty="0"/>
            <a:t>TF-IDF vectorization</a:t>
          </a:r>
          <a:endParaRPr lang="en-PK" dirty="0"/>
        </a:p>
      </dgm:t>
    </dgm:pt>
    <dgm:pt modelId="{922A9444-3827-4328-8E72-8CA98CB9E57D}" type="parTrans" cxnId="{8695E78C-503B-4A5D-B592-2301B40EB3A1}">
      <dgm:prSet/>
      <dgm:spPr/>
      <dgm:t>
        <a:bodyPr/>
        <a:lstStyle/>
        <a:p>
          <a:endParaRPr lang="en-PK"/>
        </a:p>
      </dgm:t>
    </dgm:pt>
    <dgm:pt modelId="{632F8E96-E6E5-433E-A6EE-FDF67ED49C1D}" type="sibTrans" cxnId="{8695E78C-503B-4A5D-B592-2301B40EB3A1}">
      <dgm:prSet/>
      <dgm:spPr/>
      <dgm:t>
        <a:bodyPr/>
        <a:lstStyle/>
        <a:p>
          <a:endParaRPr lang="en-PK"/>
        </a:p>
      </dgm:t>
    </dgm:pt>
    <dgm:pt modelId="{BE460755-FBAF-4DF3-BC3F-038EE5524F0B}">
      <dgm:prSet phldrT="[Text]"/>
      <dgm:spPr/>
      <dgm:t>
        <a:bodyPr/>
        <a:lstStyle/>
        <a:p>
          <a:pPr>
            <a:buNone/>
          </a:pPr>
          <a:r>
            <a:rPr lang="it-IT" dirty="0"/>
            <a:t>Machine Learning Model</a:t>
          </a:r>
          <a:endParaRPr lang="en-PK" dirty="0"/>
        </a:p>
      </dgm:t>
    </dgm:pt>
    <dgm:pt modelId="{6E922B55-AE29-4A9F-9234-94CFDAFF8BA4}" type="parTrans" cxnId="{B99486C4-2150-43A7-BC31-777313A7AAE8}">
      <dgm:prSet/>
      <dgm:spPr/>
      <dgm:t>
        <a:bodyPr/>
        <a:lstStyle/>
        <a:p>
          <a:endParaRPr lang="en-PK"/>
        </a:p>
      </dgm:t>
    </dgm:pt>
    <dgm:pt modelId="{A571FB04-71A8-47C6-9C72-564FECB836A3}" type="sibTrans" cxnId="{B99486C4-2150-43A7-BC31-777313A7AAE8}">
      <dgm:prSet/>
      <dgm:spPr/>
      <dgm:t>
        <a:bodyPr/>
        <a:lstStyle/>
        <a:p>
          <a:endParaRPr lang="en-PK"/>
        </a:p>
      </dgm:t>
    </dgm:pt>
    <dgm:pt modelId="{CCFB7DEE-B43E-4080-ACBA-4A347EA61B23}">
      <dgm:prSet phldrT="[Text]"/>
      <dgm:spPr/>
      <dgm:t>
        <a:bodyPr/>
        <a:lstStyle/>
        <a:p>
          <a:r>
            <a:rPr lang="it-IT" dirty="0"/>
            <a:t>Prediction</a:t>
          </a:r>
          <a:endParaRPr lang="en-PK" dirty="0"/>
        </a:p>
      </dgm:t>
    </dgm:pt>
    <dgm:pt modelId="{F298B680-E4B5-4C02-9F04-2F5509839F63}" type="parTrans" cxnId="{6E851AA2-2823-4DEE-A325-18EB1515065C}">
      <dgm:prSet/>
      <dgm:spPr/>
      <dgm:t>
        <a:bodyPr/>
        <a:lstStyle/>
        <a:p>
          <a:endParaRPr lang="en-PK"/>
        </a:p>
      </dgm:t>
    </dgm:pt>
    <dgm:pt modelId="{CC15DFB4-D180-464C-B30D-D8C9FA0D33E3}" type="sibTrans" cxnId="{6E851AA2-2823-4DEE-A325-18EB1515065C}">
      <dgm:prSet/>
      <dgm:spPr/>
      <dgm:t>
        <a:bodyPr/>
        <a:lstStyle/>
        <a:p>
          <a:endParaRPr lang="en-PK"/>
        </a:p>
      </dgm:t>
    </dgm:pt>
    <dgm:pt modelId="{5A41298C-D729-4AE3-A98A-099042E9818E}">
      <dgm:prSet phldrT="[Text]"/>
      <dgm:spPr/>
      <dgm:t>
        <a:bodyPr/>
        <a:lstStyle/>
        <a:p>
          <a:pPr>
            <a:buNone/>
          </a:pPr>
          <a:r>
            <a:rPr lang="it-IT"/>
            <a:t>Cleaning</a:t>
          </a:r>
          <a:endParaRPr lang="en-PK" dirty="0"/>
        </a:p>
      </dgm:t>
    </dgm:pt>
    <dgm:pt modelId="{EC5404E3-32E2-42B4-9306-363F2D078CB0}" type="parTrans" cxnId="{0AE13DB8-9D18-43AB-90F5-825E402BFFE5}">
      <dgm:prSet/>
      <dgm:spPr/>
      <dgm:t>
        <a:bodyPr/>
        <a:lstStyle/>
        <a:p>
          <a:endParaRPr lang="en-PK"/>
        </a:p>
      </dgm:t>
    </dgm:pt>
    <dgm:pt modelId="{BAC69DBE-C22E-4F51-AD1D-42F7A98EB9C4}" type="sibTrans" cxnId="{0AE13DB8-9D18-43AB-90F5-825E402BFFE5}">
      <dgm:prSet/>
      <dgm:spPr/>
      <dgm:t>
        <a:bodyPr/>
        <a:lstStyle/>
        <a:p>
          <a:endParaRPr lang="en-PK"/>
        </a:p>
      </dgm:t>
    </dgm:pt>
    <dgm:pt modelId="{24058863-C568-4274-83F0-2033ACCD5C1B}" type="pres">
      <dgm:prSet presAssocID="{30F5CE50-B06D-4A07-B7E0-4B382EFF44AB}" presName="linear" presStyleCnt="0">
        <dgm:presLayoutVars>
          <dgm:dir/>
          <dgm:animLvl val="lvl"/>
          <dgm:resizeHandles val="exact"/>
        </dgm:presLayoutVars>
      </dgm:prSet>
      <dgm:spPr/>
    </dgm:pt>
    <dgm:pt modelId="{3ED0B193-78D1-4EC5-A9E7-4D0101B87C24}" type="pres">
      <dgm:prSet presAssocID="{098305D1-7C1C-42B1-865F-C48821EBDF9D}" presName="parentLin" presStyleCnt="0"/>
      <dgm:spPr/>
    </dgm:pt>
    <dgm:pt modelId="{1F32AFD8-9F0B-4C85-A6E7-6D6B749515AF}" type="pres">
      <dgm:prSet presAssocID="{098305D1-7C1C-42B1-865F-C48821EBDF9D}" presName="parentLeftMargin" presStyleLbl="node1" presStyleIdx="0" presStyleCnt="6"/>
      <dgm:spPr/>
    </dgm:pt>
    <dgm:pt modelId="{115A0E29-DA85-460D-9C51-A06594ED0E5A}" type="pres">
      <dgm:prSet presAssocID="{098305D1-7C1C-42B1-865F-C48821EBDF9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AB3CED5-155E-43E9-A9A2-B8C5027C91ED}" type="pres">
      <dgm:prSet presAssocID="{098305D1-7C1C-42B1-865F-C48821EBDF9D}" presName="negativeSpace" presStyleCnt="0"/>
      <dgm:spPr/>
    </dgm:pt>
    <dgm:pt modelId="{EA47BBF3-FF39-425C-8430-B3A64A6A9720}" type="pres">
      <dgm:prSet presAssocID="{098305D1-7C1C-42B1-865F-C48821EBDF9D}" presName="childText" presStyleLbl="conFgAcc1" presStyleIdx="0" presStyleCnt="6">
        <dgm:presLayoutVars>
          <dgm:bulletEnabled val="1"/>
        </dgm:presLayoutVars>
      </dgm:prSet>
      <dgm:spPr/>
    </dgm:pt>
    <dgm:pt modelId="{9AC28F03-7B21-4632-B19D-36AAE92716A8}" type="pres">
      <dgm:prSet presAssocID="{587CD1EC-3C58-452D-9A05-3CA6D73714C7}" presName="spaceBetweenRectangles" presStyleCnt="0"/>
      <dgm:spPr/>
    </dgm:pt>
    <dgm:pt modelId="{C262F582-8944-4007-8210-16CD6E50271B}" type="pres">
      <dgm:prSet presAssocID="{5A41298C-D729-4AE3-A98A-099042E9818E}" presName="parentLin" presStyleCnt="0"/>
      <dgm:spPr/>
    </dgm:pt>
    <dgm:pt modelId="{16DD0450-9144-41EC-A488-A77F9AEF6440}" type="pres">
      <dgm:prSet presAssocID="{5A41298C-D729-4AE3-A98A-099042E9818E}" presName="parentLeftMargin" presStyleLbl="node1" presStyleIdx="0" presStyleCnt="6"/>
      <dgm:spPr/>
    </dgm:pt>
    <dgm:pt modelId="{927ADA98-09E9-4C1B-AC48-48215A4F7A8E}" type="pres">
      <dgm:prSet presAssocID="{5A41298C-D729-4AE3-A98A-099042E9818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703E42A-4F2F-4966-B9B6-370F4773A6C6}" type="pres">
      <dgm:prSet presAssocID="{5A41298C-D729-4AE3-A98A-099042E9818E}" presName="negativeSpace" presStyleCnt="0"/>
      <dgm:spPr/>
    </dgm:pt>
    <dgm:pt modelId="{986DA30E-AFE2-4FA2-A02C-98622BE1D0DF}" type="pres">
      <dgm:prSet presAssocID="{5A41298C-D729-4AE3-A98A-099042E9818E}" presName="childText" presStyleLbl="conFgAcc1" presStyleIdx="1" presStyleCnt="6">
        <dgm:presLayoutVars>
          <dgm:bulletEnabled val="1"/>
        </dgm:presLayoutVars>
      </dgm:prSet>
      <dgm:spPr/>
    </dgm:pt>
    <dgm:pt modelId="{5FBE8B0A-A463-4699-8376-8DF9299CCABE}" type="pres">
      <dgm:prSet presAssocID="{BAC69DBE-C22E-4F51-AD1D-42F7A98EB9C4}" presName="spaceBetweenRectangles" presStyleCnt="0"/>
      <dgm:spPr/>
    </dgm:pt>
    <dgm:pt modelId="{3B88EF46-64A4-4DEA-811C-384AADF43817}" type="pres">
      <dgm:prSet presAssocID="{C26E4C3F-D2C3-41AD-9D24-641BA88CA2B8}" presName="parentLin" presStyleCnt="0"/>
      <dgm:spPr/>
    </dgm:pt>
    <dgm:pt modelId="{A5DA7BE9-B68A-416F-A374-B9D65BB9EB90}" type="pres">
      <dgm:prSet presAssocID="{C26E4C3F-D2C3-41AD-9D24-641BA88CA2B8}" presName="parentLeftMargin" presStyleLbl="node1" presStyleIdx="1" presStyleCnt="6"/>
      <dgm:spPr/>
    </dgm:pt>
    <dgm:pt modelId="{C46F2216-F5B5-46B3-9ABF-780A3882AD3F}" type="pres">
      <dgm:prSet presAssocID="{C26E4C3F-D2C3-41AD-9D24-641BA88CA2B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F975853-0C21-40C6-8564-334FE0833330}" type="pres">
      <dgm:prSet presAssocID="{C26E4C3F-D2C3-41AD-9D24-641BA88CA2B8}" presName="negativeSpace" presStyleCnt="0"/>
      <dgm:spPr/>
    </dgm:pt>
    <dgm:pt modelId="{6F5984BD-5444-4C57-A115-B984C2113FFF}" type="pres">
      <dgm:prSet presAssocID="{C26E4C3F-D2C3-41AD-9D24-641BA88CA2B8}" presName="childText" presStyleLbl="conFgAcc1" presStyleIdx="2" presStyleCnt="6">
        <dgm:presLayoutVars>
          <dgm:bulletEnabled val="1"/>
        </dgm:presLayoutVars>
      </dgm:prSet>
      <dgm:spPr/>
    </dgm:pt>
    <dgm:pt modelId="{AC8189B0-C366-4393-B75A-AC4C64669953}" type="pres">
      <dgm:prSet presAssocID="{E91391D7-20CE-4DCF-84E6-44D4F59E7235}" presName="spaceBetweenRectangles" presStyleCnt="0"/>
      <dgm:spPr/>
    </dgm:pt>
    <dgm:pt modelId="{1E095ACE-664A-4D38-8040-BD46D45CF3AD}" type="pres">
      <dgm:prSet presAssocID="{09769F65-EE60-4524-9551-3ECBC8FCFBD6}" presName="parentLin" presStyleCnt="0"/>
      <dgm:spPr/>
    </dgm:pt>
    <dgm:pt modelId="{A38A918B-79D3-4E8A-8119-9BD6279B99AE}" type="pres">
      <dgm:prSet presAssocID="{09769F65-EE60-4524-9551-3ECBC8FCFBD6}" presName="parentLeftMargin" presStyleLbl="node1" presStyleIdx="2" presStyleCnt="6"/>
      <dgm:spPr/>
    </dgm:pt>
    <dgm:pt modelId="{5AB18609-7F83-47C9-A921-2A19AA21C6AE}" type="pres">
      <dgm:prSet presAssocID="{09769F65-EE60-4524-9551-3ECBC8FCFBD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BB5E279-848D-499A-9A21-7D317E355CAE}" type="pres">
      <dgm:prSet presAssocID="{09769F65-EE60-4524-9551-3ECBC8FCFBD6}" presName="negativeSpace" presStyleCnt="0"/>
      <dgm:spPr/>
    </dgm:pt>
    <dgm:pt modelId="{C240299A-E561-4A3E-9421-7737737A5A28}" type="pres">
      <dgm:prSet presAssocID="{09769F65-EE60-4524-9551-3ECBC8FCFBD6}" presName="childText" presStyleLbl="conFgAcc1" presStyleIdx="3" presStyleCnt="6">
        <dgm:presLayoutVars>
          <dgm:bulletEnabled val="1"/>
        </dgm:presLayoutVars>
      </dgm:prSet>
      <dgm:spPr/>
    </dgm:pt>
    <dgm:pt modelId="{636E5317-EA89-4171-B4CA-4181E36C34BF}" type="pres">
      <dgm:prSet presAssocID="{632F8E96-E6E5-433E-A6EE-FDF67ED49C1D}" presName="spaceBetweenRectangles" presStyleCnt="0"/>
      <dgm:spPr/>
    </dgm:pt>
    <dgm:pt modelId="{5FFDF3B2-31F4-45A7-BB78-2A3B9531EC73}" type="pres">
      <dgm:prSet presAssocID="{BE460755-FBAF-4DF3-BC3F-038EE5524F0B}" presName="parentLin" presStyleCnt="0"/>
      <dgm:spPr/>
    </dgm:pt>
    <dgm:pt modelId="{3F0BF489-70D1-4AD0-989B-0467F52F32E9}" type="pres">
      <dgm:prSet presAssocID="{BE460755-FBAF-4DF3-BC3F-038EE5524F0B}" presName="parentLeftMargin" presStyleLbl="node1" presStyleIdx="3" presStyleCnt="6"/>
      <dgm:spPr/>
    </dgm:pt>
    <dgm:pt modelId="{017462F5-6FC1-4A36-9C98-E290E9DD59F6}" type="pres">
      <dgm:prSet presAssocID="{BE460755-FBAF-4DF3-BC3F-038EE5524F0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75B6C40-383E-4835-9710-1099ACC67071}" type="pres">
      <dgm:prSet presAssocID="{BE460755-FBAF-4DF3-BC3F-038EE5524F0B}" presName="negativeSpace" presStyleCnt="0"/>
      <dgm:spPr/>
    </dgm:pt>
    <dgm:pt modelId="{C9A34CCD-CB5E-474A-B607-C7B0F3224186}" type="pres">
      <dgm:prSet presAssocID="{BE460755-FBAF-4DF3-BC3F-038EE5524F0B}" presName="childText" presStyleLbl="conFgAcc1" presStyleIdx="4" presStyleCnt="6">
        <dgm:presLayoutVars>
          <dgm:bulletEnabled val="1"/>
        </dgm:presLayoutVars>
      </dgm:prSet>
      <dgm:spPr/>
    </dgm:pt>
    <dgm:pt modelId="{8A4C9165-9319-4063-96F1-0BD060766DF3}" type="pres">
      <dgm:prSet presAssocID="{A571FB04-71A8-47C6-9C72-564FECB836A3}" presName="spaceBetweenRectangles" presStyleCnt="0"/>
      <dgm:spPr/>
    </dgm:pt>
    <dgm:pt modelId="{B691BDCE-AC97-4D79-8D5E-63F103AA713F}" type="pres">
      <dgm:prSet presAssocID="{CCFB7DEE-B43E-4080-ACBA-4A347EA61B23}" presName="parentLin" presStyleCnt="0"/>
      <dgm:spPr/>
    </dgm:pt>
    <dgm:pt modelId="{12776076-1594-4B67-9040-54B2F97E5389}" type="pres">
      <dgm:prSet presAssocID="{CCFB7DEE-B43E-4080-ACBA-4A347EA61B23}" presName="parentLeftMargin" presStyleLbl="node1" presStyleIdx="4" presStyleCnt="6"/>
      <dgm:spPr/>
    </dgm:pt>
    <dgm:pt modelId="{702F9712-8CE5-41E9-AEE0-AC74BEE6A8CA}" type="pres">
      <dgm:prSet presAssocID="{CCFB7DEE-B43E-4080-ACBA-4A347EA61B23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A42DDCE-91FA-4B4A-A696-5F7D3249DBDF}" type="pres">
      <dgm:prSet presAssocID="{CCFB7DEE-B43E-4080-ACBA-4A347EA61B23}" presName="negativeSpace" presStyleCnt="0"/>
      <dgm:spPr/>
    </dgm:pt>
    <dgm:pt modelId="{44F12813-3714-40A2-9CCE-E2025BB1C09B}" type="pres">
      <dgm:prSet presAssocID="{CCFB7DEE-B43E-4080-ACBA-4A347EA61B23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5F59BA07-1E15-4A17-AAD9-B59FA13CD3A1}" type="presOf" srcId="{BE460755-FBAF-4DF3-BC3F-038EE5524F0B}" destId="{017462F5-6FC1-4A36-9C98-E290E9DD59F6}" srcOrd="1" destOrd="0" presId="urn:microsoft.com/office/officeart/2005/8/layout/list1"/>
    <dgm:cxn modelId="{E7828409-B449-4176-95C3-4998CA1BF58F}" type="presOf" srcId="{5A41298C-D729-4AE3-A98A-099042E9818E}" destId="{16DD0450-9144-41EC-A488-A77F9AEF6440}" srcOrd="0" destOrd="0" presId="urn:microsoft.com/office/officeart/2005/8/layout/list1"/>
    <dgm:cxn modelId="{A981C522-4B93-4CCF-BE90-C87452F04FEF}" type="presOf" srcId="{BE460755-FBAF-4DF3-BC3F-038EE5524F0B}" destId="{3F0BF489-70D1-4AD0-989B-0467F52F32E9}" srcOrd="0" destOrd="0" presId="urn:microsoft.com/office/officeart/2005/8/layout/list1"/>
    <dgm:cxn modelId="{88FA7927-EF80-49D8-B246-9200E4644596}" type="presOf" srcId="{C26E4C3F-D2C3-41AD-9D24-641BA88CA2B8}" destId="{C46F2216-F5B5-46B3-9ABF-780A3882AD3F}" srcOrd="1" destOrd="0" presId="urn:microsoft.com/office/officeart/2005/8/layout/list1"/>
    <dgm:cxn modelId="{0ACD232A-2E58-46FC-87BE-C7A91B0738A5}" type="presOf" srcId="{09769F65-EE60-4524-9551-3ECBC8FCFBD6}" destId="{A38A918B-79D3-4E8A-8119-9BD6279B99AE}" srcOrd="0" destOrd="0" presId="urn:microsoft.com/office/officeart/2005/8/layout/list1"/>
    <dgm:cxn modelId="{C325EE2A-BA66-4C3B-8EA4-A9FE87FEC738}" type="presOf" srcId="{CCFB7DEE-B43E-4080-ACBA-4A347EA61B23}" destId="{12776076-1594-4B67-9040-54B2F97E5389}" srcOrd="0" destOrd="0" presId="urn:microsoft.com/office/officeart/2005/8/layout/list1"/>
    <dgm:cxn modelId="{D25D2D39-30FA-4995-AAF6-48DF805BCFBF}" type="presOf" srcId="{30F5CE50-B06D-4A07-B7E0-4B382EFF44AB}" destId="{24058863-C568-4274-83F0-2033ACCD5C1B}" srcOrd="0" destOrd="0" presId="urn:microsoft.com/office/officeart/2005/8/layout/list1"/>
    <dgm:cxn modelId="{F7C9A748-FDC8-43A5-A74F-4E03D6FA6B16}" type="presOf" srcId="{C26E4C3F-D2C3-41AD-9D24-641BA88CA2B8}" destId="{A5DA7BE9-B68A-416F-A374-B9D65BB9EB90}" srcOrd="0" destOrd="0" presId="urn:microsoft.com/office/officeart/2005/8/layout/list1"/>
    <dgm:cxn modelId="{9409C54B-E657-4B42-8C07-0E6DF8781DA7}" srcId="{30F5CE50-B06D-4A07-B7E0-4B382EFF44AB}" destId="{098305D1-7C1C-42B1-865F-C48821EBDF9D}" srcOrd="0" destOrd="0" parTransId="{9B4D6DAA-0B0A-4D22-A251-C1A26B72FD8E}" sibTransId="{587CD1EC-3C58-452D-9A05-3CA6D73714C7}"/>
    <dgm:cxn modelId="{44C2D94E-853C-48A6-BF53-90001D318CD9}" type="presOf" srcId="{098305D1-7C1C-42B1-865F-C48821EBDF9D}" destId="{1F32AFD8-9F0B-4C85-A6E7-6D6B749515AF}" srcOrd="0" destOrd="0" presId="urn:microsoft.com/office/officeart/2005/8/layout/list1"/>
    <dgm:cxn modelId="{45061673-5010-44C6-8B8C-258C3C2EEA66}" type="presOf" srcId="{5A41298C-D729-4AE3-A98A-099042E9818E}" destId="{927ADA98-09E9-4C1B-AC48-48215A4F7A8E}" srcOrd="1" destOrd="0" presId="urn:microsoft.com/office/officeart/2005/8/layout/list1"/>
    <dgm:cxn modelId="{41EBE753-44FB-4E7F-B88A-F553E96F17D1}" type="presOf" srcId="{09769F65-EE60-4524-9551-3ECBC8FCFBD6}" destId="{5AB18609-7F83-47C9-A921-2A19AA21C6AE}" srcOrd="1" destOrd="0" presId="urn:microsoft.com/office/officeart/2005/8/layout/list1"/>
    <dgm:cxn modelId="{842E488B-8674-4C35-AF11-86CFA3C7BE40}" type="presOf" srcId="{098305D1-7C1C-42B1-865F-C48821EBDF9D}" destId="{115A0E29-DA85-460D-9C51-A06594ED0E5A}" srcOrd="1" destOrd="0" presId="urn:microsoft.com/office/officeart/2005/8/layout/list1"/>
    <dgm:cxn modelId="{8695E78C-503B-4A5D-B592-2301B40EB3A1}" srcId="{30F5CE50-B06D-4A07-B7E0-4B382EFF44AB}" destId="{09769F65-EE60-4524-9551-3ECBC8FCFBD6}" srcOrd="3" destOrd="0" parTransId="{922A9444-3827-4328-8E72-8CA98CB9E57D}" sibTransId="{632F8E96-E6E5-433E-A6EE-FDF67ED49C1D}"/>
    <dgm:cxn modelId="{A3A75992-43B0-4E93-B899-C881C7C0E4D9}" type="presOf" srcId="{CCFB7DEE-B43E-4080-ACBA-4A347EA61B23}" destId="{702F9712-8CE5-41E9-AEE0-AC74BEE6A8CA}" srcOrd="1" destOrd="0" presId="urn:microsoft.com/office/officeart/2005/8/layout/list1"/>
    <dgm:cxn modelId="{6E851AA2-2823-4DEE-A325-18EB1515065C}" srcId="{30F5CE50-B06D-4A07-B7E0-4B382EFF44AB}" destId="{CCFB7DEE-B43E-4080-ACBA-4A347EA61B23}" srcOrd="5" destOrd="0" parTransId="{F298B680-E4B5-4C02-9F04-2F5509839F63}" sibTransId="{CC15DFB4-D180-464C-B30D-D8C9FA0D33E3}"/>
    <dgm:cxn modelId="{0AE13DB8-9D18-43AB-90F5-825E402BFFE5}" srcId="{30F5CE50-B06D-4A07-B7E0-4B382EFF44AB}" destId="{5A41298C-D729-4AE3-A98A-099042E9818E}" srcOrd="1" destOrd="0" parTransId="{EC5404E3-32E2-42B4-9306-363F2D078CB0}" sibTransId="{BAC69DBE-C22E-4F51-AD1D-42F7A98EB9C4}"/>
    <dgm:cxn modelId="{B99486C4-2150-43A7-BC31-777313A7AAE8}" srcId="{30F5CE50-B06D-4A07-B7E0-4B382EFF44AB}" destId="{BE460755-FBAF-4DF3-BC3F-038EE5524F0B}" srcOrd="4" destOrd="0" parTransId="{6E922B55-AE29-4A9F-9234-94CFDAFF8BA4}" sibTransId="{A571FB04-71A8-47C6-9C72-564FECB836A3}"/>
    <dgm:cxn modelId="{C411C7EC-CABE-44EC-BA4E-77F0A770774C}" srcId="{30F5CE50-B06D-4A07-B7E0-4B382EFF44AB}" destId="{C26E4C3F-D2C3-41AD-9D24-641BA88CA2B8}" srcOrd="2" destOrd="0" parTransId="{28221531-6536-4C9C-99BF-5C96AA2CEE0F}" sibTransId="{E91391D7-20CE-4DCF-84E6-44D4F59E7235}"/>
    <dgm:cxn modelId="{B307B523-243F-47B8-A6ED-FCAFAC1F7DB8}" type="presParOf" srcId="{24058863-C568-4274-83F0-2033ACCD5C1B}" destId="{3ED0B193-78D1-4EC5-A9E7-4D0101B87C24}" srcOrd="0" destOrd="0" presId="urn:microsoft.com/office/officeart/2005/8/layout/list1"/>
    <dgm:cxn modelId="{6737D2D3-518A-4695-BBF4-C48F92630302}" type="presParOf" srcId="{3ED0B193-78D1-4EC5-A9E7-4D0101B87C24}" destId="{1F32AFD8-9F0B-4C85-A6E7-6D6B749515AF}" srcOrd="0" destOrd="0" presId="urn:microsoft.com/office/officeart/2005/8/layout/list1"/>
    <dgm:cxn modelId="{9FEB65AD-E8A6-46DA-B824-13324E270117}" type="presParOf" srcId="{3ED0B193-78D1-4EC5-A9E7-4D0101B87C24}" destId="{115A0E29-DA85-460D-9C51-A06594ED0E5A}" srcOrd="1" destOrd="0" presId="urn:microsoft.com/office/officeart/2005/8/layout/list1"/>
    <dgm:cxn modelId="{673B33F6-CA90-4758-B380-45FD88AE5499}" type="presParOf" srcId="{24058863-C568-4274-83F0-2033ACCD5C1B}" destId="{CAB3CED5-155E-43E9-A9A2-B8C5027C91ED}" srcOrd="1" destOrd="0" presId="urn:microsoft.com/office/officeart/2005/8/layout/list1"/>
    <dgm:cxn modelId="{B9829A4A-E551-4B27-AEBE-10B6E3CB9E89}" type="presParOf" srcId="{24058863-C568-4274-83F0-2033ACCD5C1B}" destId="{EA47BBF3-FF39-425C-8430-B3A64A6A9720}" srcOrd="2" destOrd="0" presId="urn:microsoft.com/office/officeart/2005/8/layout/list1"/>
    <dgm:cxn modelId="{78AEA8D8-3AF0-406B-A22A-23D7A002C8D7}" type="presParOf" srcId="{24058863-C568-4274-83F0-2033ACCD5C1B}" destId="{9AC28F03-7B21-4632-B19D-36AAE92716A8}" srcOrd="3" destOrd="0" presId="urn:microsoft.com/office/officeart/2005/8/layout/list1"/>
    <dgm:cxn modelId="{9FED32E0-BC56-41DC-B3AC-465D945115CA}" type="presParOf" srcId="{24058863-C568-4274-83F0-2033ACCD5C1B}" destId="{C262F582-8944-4007-8210-16CD6E50271B}" srcOrd="4" destOrd="0" presId="urn:microsoft.com/office/officeart/2005/8/layout/list1"/>
    <dgm:cxn modelId="{8BF072FA-1E7A-4C67-A89F-248F87DC5A8B}" type="presParOf" srcId="{C262F582-8944-4007-8210-16CD6E50271B}" destId="{16DD0450-9144-41EC-A488-A77F9AEF6440}" srcOrd="0" destOrd="0" presId="urn:microsoft.com/office/officeart/2005/8/layout/list1"/>
    <dgm:cxn modelId="{9466DF14-A4ED-4A9A-BFFC-E0A6D2360B2F}" type="presParOf" srcId="{C262F582-8944-4007-8210-16CD6E50271B}" destId="{927ADA98-09E9-4C1B-AC48-48215A4F7A8E}" srcOrd="1" destOrd="0" presId="urn:microsoft.com/office/officeart/2005/8/layout/list1"/>
    <dgm:cxn modelId="{B9609B30-E5D8-43B2-BEE9-BB68EC134FAF}" type="presParOf" srcId="{24058863-C568-4274-83F0-2033ACCD5C1B}" destId="{A703E42A-4F2F-4966-B9B6-370F4773A6C6}" srcOrd="5" destOrd="0" presId="urn:microsoft.com/office/officeart/2005/8/layout/list1"/>
    <dgm:cxn modelId="{9347E7B8-6350-4D43-9C71-4197EBB068E4}" type="presParOf" srcId="{24058863-C568-4274-83F0-2033ACCD5C1B}" destId="{986DA30E-AFE2-4FA2-A02C-98622BE1D0DF}" srcOrd="6" destOrd="0" presId="urn:microsoft.com/office/officeart/2005/8/layout/list1"/>
    <dgm:cxn modelId="{38C626A2-24DC-4459-90F1-234E40A3F899}" type="presParOf" srcId="{24058863-C568-4274-83F0-2033ACCD5C1B}" destId="{5FBE8B0A-A463-4699-8376-8DF9299CCABE}" srcOrd="7" destOrd="0" presId="urn:microsoft.com/office/officeart/2005/8/layout/list1"/>
    <dgm:cxn modelId="{2028A12F-349D-4391-B155-336EB70393F6}" type="presParOf" srcId="{24058863-C568-4274-83F0-2033ACCD5C1B}" destId="{3B88EF46-64A4-4DEA-811C-384AADF43817}" srcOrd="8" destOrd="0" presId="urn:microsoft.com/office/officeart/2005/8/layout/list1"/>
    <dgm:cxn modelId="{947F9E40-C0A4-4CE9-BA72-F9669219272F}" type="presParOf" srcId="{3B88EF46-64A4-4DEA-811C-384AADF43817}" destId="{A5DA7BE9-B68A-416F-A374-B9D65BB9EB90}" srcOrd="0" destOrd="0" presId="urn:microsoft.com/office/officeart/2005/8/layout/list1"/>
    <dgm:cxn modelId="{B93F092B-D9B5-4F98-82CF-7FB7C7D873A3}" type="presParOf" srcId="{3B88EF46-64A4-4DEA-811C-384AADF43817}" destId="{C46F2216-F5B5-46B3-9ABF-780A3882AD3F}" srcOrd="1" destOrd="0" presId="urn:microsoft.com/office/officeart/2005/8/layout/list1"/>
    <dgm:cxn modelId="{29F3C4FD-5FAE-4B73-9166-E1AAD3A2E1EE}" type="presParOf" srcId="{24058863-C568-4274-83F0-2033ACCD5C1B}" destId="{3F975853-0C21-40C6-8564-334FE0833330}" srcOrd="9" destOrd="0" presId="urn:microsoft.com/office/officeart/2005/8/layout/list1"/>
    <dgm:cxn modelId="{1D41836D-D0BC-4F8B-B720-84EB308061D9}" type="presParOf" srcId="{24058863-C568-4274-83F0-2033ACCD5C1B}" destId="{6F5984BD-5444-4C57-A115-B984C2113FFF}" srcOrd="10" destOrd="0" presId="urn:microsoft.com/office/officeart/2005/8/layout/list1"/>
    <dgm:cxn modelId="{157F314E-BAB5-4BFE-AC51-347035A1C3DD}" type="presParOf" srcId="{24058863-C568-4274-83F0-2033ACCD5C1B}" destId="{AC8189B0-C366-4393-B75A-AC4C64669953}" srcOrd="11" destOrd="0" presId="urn:microsoft.com/office/officeart/2005/8/layout/list1"/>
    <dgm:cxn modelId="{F42442FA-5C31-4CA7-BB13-01B3588512D2}" type="presParOf" srcId="{24058863-C568-4274-83F0-2033ACCD5C1B}" destId="{1E095ACE-664A-4D38-8040-BD46D45CF3AD}" srcOrd="12" destOrd="0" presId="urn:microsoft.com/office/officeart/2005/8/layout/list1"/>
    <dgm:cxn modelId="{3388E2B2-92FF-489A-90DC-FD5AF69927AB}" type="presParOf" srcId="{1E095ACE-664A-4D38-8040-BD46D45CF3AD}" destId="{A38A918B-79D3-4E8A-8119-9BD6279B99AE}" srcOrd="0" destOrd="0" presId="urn:microsoft.com/office/officeart/2005/8/layout/list1"/>
    <dgm:cxn modelId="{A9AD743C-8721-41FC-AAC5-5E714708AAD0}" type="presParOf" srcId="{1E095ACE-664A-4D38-8040-BD46D45CF3AD}" destId="{5AB18609-7F83-47C9-A921-2A19AA21C6AE}" srcOrd="1" destOrd="0" presId="urn:microsoft.com/office/officeart/2005/8/layout/list1"/>
    <dgm:cxn modelId="{453B30AF-1A93-4648-AD28-DD5FDE2D4BCA}" type="presParOf" srcId="{24058863-C568-4274-83F0-2033ACCD5C1B}" destId="{CBB5E279-848D-499A-9A21-7D317E355CAE}" srcOrd="13" destOrd="0" presId="urn:microsoft.com/office/officeart/2005/8/layout/list1"/>
    <dgm:cxn modelId="{04165676-502B-4312-BFF8-E867CEFC1258}" type="presParOf" srcId="{24058863-C568-4274-83F0-2033ACCD5C1B}" destId="{C240299A-E561-4A3E-9421-7737737A5A28}" srcOrd="14" destOrd="0" presId="urn:microsoft.com/office/officeart/2005/8/layout/list1"/>
    <dgm:cxn modelId="{23CA5957-784A-4077-89C2-A81FB10A9D8D}" type="presParOf" srcId="{24058863-C568-4274-83F0-2033ACCD5C1B}" destId="{636E5317-EA89-4171-B4CA-4181E36C34BF}" srcOrd="15" destOrd="0" presId="urn:microsoft.com/office/officeart/2005/8/layout/list1"/>
    <dgm:cxn modelId="{14FDDD9C-D28C-487E-93F2-B1FEAAF1D216}" type="presParOf" srcId="{24058863-C568-4274-83F0-2033ACCD5C1B}" destId="{5FFDF3B2-31F4-45A7-BB78-2A3B9531EC73}" srcOrd="16" destOrd="0" presId="urn:microsoft.com/office/officeart/2005/8/layout/list1"/>
    <dgm:cxn modelId="{9C0751AD-FE19-4D51-AEC0-38C54F737323}" type="presParOf" srcId="{5FFDF3B2-31F4-45A7-BB78-2A3B9531EC73}" destId="{3F0BF489-70D1-4AD0-989B-0467F52F32E9}" srcOrd="0" destOrd="0" presId="urn:microsoft.com/office/officeart/2005/8/layout/list1"/>
    <dgm:cxn modelId="{EF457EA1-679C-46D8-895D-9147629C8A36}" type="presParOf" srcId="{5FFDF3B2-31F4-45A7-BB78-2A3B9531EC73}" destId="{017462F5-6FC1-4A36-9C98-E290E9DD59F6}" srcOrd="1" destOrd="0" presId="urn:microsoft.com/office/officeart/2005/8/layout/list1"/>
    <dgm:cxn modelId="{DD1E1CE0-F7C8-4751-9966-3B0BDE59F533}" type="presParOf" srcId="{24058863-C568-4274-83F0-2033ACCD5C1B}" destId="{075B6C40-383E-4835-9710-1099ACC67071}" srcOrd="17" destOrd="0" presId="urn:microsoft.com/office/officeart/2005/8/layout/list1"/>
    <dgm:cxn modelId="{1BAE4536-CE46-4AA9-8E2C-4264705FCF36}" type="presParOf" srcId="{24058863-C568-4274-83F0-2033ACCD5C1B}" destId="{C9A34CCD-CB5E-474A-B607-C7B0F3224186}" srcOrd="18" destOrd="0" presId="urn:microsoft.com/office/officeart/2005/8/layout/list1"/>
    <dgm:cxn modelId="{C44794BC-04A5-45FC-AC0F-43ABA3E67AB0}" type="presParOf" srcId="{24058863-C568-4274-83F0-2033ACCD5C1B}" destId="{8A4C9165-9319-4063-96F1-0BD060766DF3}" srcOrd="19" destOrd="0" presId="urn:microsoft.com/office/officeart/2005/8/layout/list1"/>
    <dgm:cxn modelId="{2D49AF59-64F6-49A5-8FAB-5DF28191353D}" type="presParOf" srcId="{24058863-C568-4274-83F0-2033ACCD5C1B}" destId="{B691BDCE-AC97-4D79-8D5E-63F103AA713F}" srcOrd="20" destOrd="0" presId="urn:microsoft.com/office/officeart/2005/8/layout/list1"/>
    <dgm:cxn modelId="{0B78F30E-A3EF-47E1-85C5-AA92811BD5CF}" type="presParOf" srcId="{B691BDCE-AC97-4D79-8D5E-63F103AA713F}" destId="{12776076-1594-4B67-9040-54B2F97E5389}" srcOrd="0" destOrd="0" presId="urn:microsoft.com/office/officeart/2005/8/layout/list1"/>
    <dgm:cxn modelId="{422E727C-2B35-40F9-8BD4-67A154AE1BA7}" type="presParOf" srcId="{B691BDCE-AC97-4D79-8D5E-63F103AA713F}" destId="{702F9712-8CE5-41E9-AEE0-AC74BEE6A8CA}" srcOrd="1" destOrd="0" presId="urn:microsoft.com/office/officeart/2005/8/layout/list1"/>
    <dgm:cxn modelId="{E84532C7-3A9F-4459-8801-86B5BDDBD73B}" type="presParOf" srcId="{24058863-C568-4274-83F0-2033ACCD5C1B}" destId="{7A42DDCE-91FA-4B4A-A696-5F7D3249DBDF}" srcOrd="21" destOrd="0" presId="urn:microsoft.com/office/officeart/2005/8/layout/list1"/>
    <dgm:cxn modelId="{10D704FE-3015-4F7F-8B6A-7EAFC795BC39}" type="presParOf" srcId="{24058863-C568-4274-83F0-2033ACCD5C1B}" destId="{44F12813-3714-40A2-9CCE-E2025BB1C09B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7BBF3-FF39-425C-8430-B3A64A6A9720}">
      <dsp:nvSpPr>
        <dsp:cNvPr id="0" name=""/>
        <dsp:cNvSpPr/>
      </dsp:nvSpPr>
      <dsp:spPr>
        <a:xfrm>
          <a:off x="0" y="308932"/>
          <a:ext cx="50405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A0E29-DA85-460D-9C51-A06594ED0E5A}">
      <dsp:nvSpPr>
        <dsp:cNvPr id="0" name=""/>
        <dsp:cNvSpPr/>
      </dsp:nvSpPr>
      <dsp:spPr>
        <a:xfrm>
          <a:off x="252028" y="87532"/>
          <a:ext cx="352839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65" tIns="0" rIns="13336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Reviews</a:t>
          </a:r>
          <a:endParaRPr lang="en-PK" sz="1500" kern="1200" dirty="0"/>
        </a:p>
      </dsp:txBody>
      <dsp:txXfrm>
        <a:off x="273644" y="109148"/>
        <a:ext cx="3485160" cy="399568"/>
      </dsp:txXfrm>
    </dsp:sp>
    <dsp:sp modelId="{986DA30E-AFE2-4FA2-A02C-98622BE1D0DF}">
      <dsp:nvSpPr>
        <dsp:cNvPr id="0" name=""/>
        <dsp:cNvSpPr/>
      </dsp:nvSpPr>
      <dsp:spPr>
        <a:xfrm>
          <a:off x="0" y="989332"/>
          <a:ext cx="50405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ADA98-09E9-4C1B-AC48-48215A4F7A8E}">
      <dsp:nvSpPr>
        <dsp:cNvPr id="0" name=""/>
        <dsp:cNvSpPr/>
      </dsp:nvSpPr>
      <dsp:spPr>
        <a:xfrm>
          <a:off x="252028" y="767932"/>
          <a:ext cx="352839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65" tIns="0" rIns="13336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Cleaning</a:t>
          </a:r>
          <a:endParaRPr lang="en-PK" sz="1500" kern="1200" dirty="0"/>
        </a:p>
      </dsp:txBody>
      <dsp:txXfrm>
        <a:off x="273644" y="789548"/>
        <a:ext cx="3485160" cy="399568"/>
      </dsp:txXfrm>
    </dsp:sp>
    <dsp:sp modelId="{6F5984BD-5444-4C57-A115-B984C2113FFF}">
      <dsp:nvSpPr>
        <dsp:cNvPr id="0" name=""/>
        <dsp:cNvSpPr/>
      </dsp:nvSpPr>
      <dsp:spPr>
        <a:xfrm>
          <a:off x="0" y="1669732"/>
          <a:ext cx="50405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F2216-F5B5-46B3-9ABF-780A3882AD3F}">
      <dsp:nvSpPr>
        <dsp:cNvPr id="0" name=""/>
        <dsp:cNvSpPr/>
      </dsp:nvSpPr>
      <dsp:spPr>
        <a:xfrm>
          <a:off x="252028" y="1448332"/>
          <a:ext cx="352839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65" tIns="0" rIns="13336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Tokenization</a:t>
          </a:r>
          <a:endParaRPr lang="en-PK" sz="1500" kern="1200" dirty="0"/>
        </a:p>
      </dsp:txBody>
      <dsp:txXfrm>
        <a:off x="273644" y="1469948"/>
        <a:ext cx="3485160" cy="399568"/>
      </dsp:txXfrm>
    </dsp:sp>
    <dsp:sp modelId="{C240299A-E561-4A3E-9421-7737737A5A28}">
      <dsp:nvSpPr>
        <dsp:cNvPr id="0" name=""/>
        <dsp:cNvSpPr/>
      </dsp:nvSpPr>
      <dsp:spPr>
        <a:xfrm>
          <a:off x="0" y="2350132"/>
          <a:ext cx="50405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18609-7F83-47C9-A921-2A19AA21C6AE}">
      <dsp:nvSpPr>
        <dsp:cNvPr id="0" name=""/>
        <dsp:cNvSpPr/>
      </dsp:nvSpPr>
      <dsp:spPr>
        <a:xfrm>
          <a:off x="252028" y="2128732"/>
          <a:ext cx="352839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65" tIns="0" rIns="13336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TF-IDF vectorization</a:t>
          </a:r>
          <a:endParaRPr lang="en-PK" sz="1500" kern="1200" dirty="0"/>
        </a:p>
      </dsp:txBody>
      <dsp:txXfrm>
        <a:off x="273644" y="2150348"/>
        <a:ext cx="3485160" cy="399568"/>
      </dsp:txXfrm>
    </dsp:sp>
    <dsp:sp modelId="{C9A34CCD-CB5E-474A-B607-C7B0F3224186}">
      <dsp:nvSpPr>
        <dsp:cNvPr id="0" name=""/>
        <dsp:cNvSpPr/>
      </dsp:nvSpPr>
      <dsp:spPr>
        <a:xfrm>
          <a:off x="0" y="3030532"/>
          <a:ext cx="50405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7462F5-6FC1-4A36-9C98-E290E9DD59F6}">
      <dsp:nvSpPr>
        <dsp:cNvPr id="0" name=""/>
        <dsp:cNvSpPr/>
      </dsp:nvSpPr>
      <dsp:spPr>
        <a:xfrm>
          <a:off x="252028" y="2809132"/>
          <a:ext cx="352839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65" tIns="0" rIns="13336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Machine Learning Model</a:t>
          </a:r>
          <a:endParaRPr lang="en-PK" sz="1500" kern="1200" dirty="0"/>
        </a:p>
      </dsp:txBody>
      <dsp:txXfrm>
        <a:off x="273644" y="2830748"/>
        <a:ext cx="3485160" cy="399568"/>
      </dsp:txXfrm>
    </dsp:sp>
    <dsp:sp modelId="{44F12813-3714-40A2-9CCE-E2025BB1C09B}">
      <dsp:nvSpPr>
        <dsp:cNvPr id="0" name=""/>
        <dsp:cNvSpPr/>
      </dsp:nvSpPr>
      <dsp:spPr>
        <a:xfrm>
          <a:off x="0" y="3710932"/>
          <a:ext cx="50405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F9712-8CE5-41E9-AEE0-AC74BEE6A8CA}">
      <dsp:nvSpPr>
        <dsp:cNvPr id="0" name=""/>
        <dsp:cNvSpPr/>
      </dsp:nvSpPr>
      <dsp:spPr>
        <a:xfrm>
          <a:off x="252028" y="3489532"/>
          <a:ext cx="352839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65" tIns="0" rIns="13336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Prediction</a:t>
          </a:r>
          <a:endParaRPr lang="en-PK" sz="1500" kern="1200" dirty="0"/>
        </a:p>
      </dsp:txBody>
      <dsp:txXfrm>
        <a:off x="273644" y="3511148"/>
        <a:ext cx="3485160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b="1" dirty="0"/>
                  <a:t>Linear Combination: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ur-PK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ur-PK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  <m:r>
                      <a:rPr lang="ur-PK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ur-PK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𝑏</m:t>
                    </m:r>
                  </m:oMath>
                </a14:m>
                <a:endParaRPr lang="ur-PK" b="1" dirty="0"/>
              </a:p>
              <a:p>
                <a14:m>
                  <m:oMath xmlns:m="http://schemas.openxmlformats.org/officeDocument/2006/math">
                    <m:r>
                      <a:rPr lang="ur-PK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ur-PK" dirty="0"/>
                  <a:t>= </a:t>
                </a:r>
                <a:r>
                  <a:rPr lang="it-IT" b="1" dirty="0"/>
                  <a:t>model weights</a:t>
                </a:r>
                <a:endParaRPr lang="it-IT" dirty="0"/>
              </a:p>
              <a:p>
                <a:pPr lvl="1"/>
                <a:r>
                  <a:rPr lang="it-IT" dirty="0"/>
                  <a:t>Learned during training</a:t>
                </a:r>
              </a:p>
              <a:p>
                <a:pPr lvl="1"/>
                <a:r>
                  <a:rPr lang="it-IT" dirty="0"/>
                  <a:t>Each word gets a weight (importance for prediction)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ur-PK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ur-PK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ur-PK" dirty="0"/>
                  <a:t>:</a:t>
                </a:r>
                <a:r>
                  <a:rPr lang="en-US" dirty="0"/>
                  <a:t>	</a:t>
                </a:r>
                <a:endParaRPr lang="ur-PK" dirty="0"/>
              </a:p>
              <a:p>
                <a:pPr lvl="1"/>
                <a:r>
                  <a:rPr lang="it-IT" dirty="0"/>
                  <a:t>Dot product between weights and input vector</a:t>
                </a:r>
              </a:p>
              <a:p>
                <a:pPr lvl="1"/>
                <a:r>
                  <a:rPr lang="it-IT" dirty="0"/>
                  <a:t>Computes a </a:t>
                </a:r>
                <a:r>
                  <a:rPr lang="it-IT" b="1" dirty="0"/>
                  <a:t>score</a:t>
                </a:r>
                <a:r>
                  <a:rPr lang="it-IT" dirty="0"/>
                  <a:t> for the review</a:t>
                </a:r>
              </a:p>
              <a:p>
                <a14:m>
                  <m:oMath xmlns:m="http://schemas.openxmlformats.org/officeDocument/2006/math">
                    <m:r>
                      <a:rPr lang="it-IT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lang="it-IT" dirty="0"/>
                  <a:t>= </a:t>
                </a:r>
                <a:r>
                  <a:rPr lang="it-IT" b="1" dirty="0"/>
                  <a:t>bias term</a:t>
                </a:r>
                <a:endParaRPr lang="it-IT" dirty="0"/>
              </a:p>
              <a:p>
                <a:pPr lvl="1"/>
                <a:r>
                  <a:rPr lang="it-IT" dirty="0"/>
                  <a:t>Adjusts the score\</a:t>
                </a:r>
              </a:p>
              <a:p>
                <a:pPr lvl="1"/>
                <a:endParaRPr lang="it-IT" dirty="0"/>
              </a:p>
              <a:p>
                <a:pPr lvl="1"/>
                <a:endParaRPr lang="it-IT" dirty="0"/>
              </a:p>
              <a:p>
                <a:r>
                  <a:rPr lang="it-IT" b="1" dirty="0"/>
                  <a:t>Sigmoid Function: </a:t>
                </a:r>
                <a14:m>
                  <m:oMath xmlns:m="http://schemas.openxmlformats.org/officeDocument/2006/math">
                    <m:r>
                      <a:rPr lang="it-IT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𝜎</m:t>
                    </m:r>
                    <m:d>
                      <m:dPr>
                        <m:ctrlPr>
                          <a:rPr lang="ur-PK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ur-PK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⋅</m:t>
                        </m:r>
                      </m:e>
                    </m:d>
                  </m:oMath>
                </a14:m>
                <a:endParaRPr lang="ur-PK" b="1" dirty="0"/>
              </a:p>
              <a:p>
                <a14:m>
                  <m:oMath xmlns:m="http://schemas.openxmlformats.org/officeDocument/2006/math">
                    <m:r>
                      <a:rPr lang="ur-PK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ur-PK" dirty="0"/>
                  <a:t>= </a:t>
                </a:r>
                <a:r>
                  <a:rPr lang="it-IT" b="1" dirty="0"/>
                  <a:t>Sigmoid Function</a:t>
                </a:r>
                <a:endParaRPr lang="it-IT" dirty="0"/>
              </a:p>
              <a:p>
                <a:r>
                  <a:rPr lang="it-IT" dirty="0"/>
                  <a:t>It converts the score into a probability:</a:t>
                </a:r>
              </a:p>
              <a:p>
                <a:r>
                  <a:rPr lang="en-US" dirty="0"/>
                  <a:t>Output is always between </a:t>
                </a:r>
                <a:r>
                  <a:rPr lang="en-US" b="1" dirty="0"/>
                  <a:t>0 and 1</a:t>
                </a:r>
                <a:endParaRPr lang="it-IT" dirty="0"/>
              </a:p>
              <a:p>
                <a:endParaRPr lang="en-PK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b="1" dirty="0"/>
                  <a:t>Linear Combination: </a:t>
                </a:r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𝑤^𝑇 𝑥+𝑏</a:t>
                </a:r>
                <a:endParaRPr lang="ur-PK" b="1" dirty="0"/>
              </a:p>
              <a:p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ur-PK" dirty="0"/>
                  <a:t>= </a:t>
                </a:r>
                <a:r>
                  <a:rPr lang="it-IT" b="1" dirty="0"/>
                  <a:t>model weights</a:t>
                </a:r>
                <a:endParaRPr lang="it-IT" dirty="0"/>
              </a:p>
              <a:p>
                <a:pPr lvl="1"/>
                <a:r>
                  <a:rPr lang="it-IT" dirty="0"/>
                  <a:t>Learned during training</a:t>
                </a:r>
              </a:p>
              <a:p>
                <a:pPr lvl="1"/>
                <a:r>
                  <a:rPr lang="it-IT" dirty="0"/>
                  <a:t>Each word gets a weight (importance for prediction)</a:t>
                </a:r>
              </a:p>
              <a:p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𝑤^𝑇 𝑥</a:t>
                </a:r>
                <a:r>
                  <a:rPr lang="ur-PK" dirty="0"/>
                  <a:t>:</a:t>
                </a:r>
                <a:r>
                  <a:rPr lang="en-US" dirty="0"/>
                  <a:t>	</a:t>
                </a:r>
                <a:endParaRPr lang="ur-PK" dirty="0"/>
              </a:p>
              <a:p>
                <a:pPr lvl="1"/>
                <a:r>
                  <a:rPr lang="it-IT" dirty="0"/>
                  <a:t>Dot product between weights and input vector</a:t>
                </a:r>
              </a:p>
              <a:p>
                <a:pPr lvl="1"/>
                <a:r>
                  <a:rPr lang="it-IT" dirty="0"/>
                  <a:t>Computes a </a:t>
                </a:r>
                <a:r>
                  <a:rPr lang="it-IT" b="1" dirty="0"/>
                  <a:t>score</a:t>
                </a:r>
                <a:r>
                  <a:rPr lang="it-IT" dirty="0"/>
                  <a:t> for the review</a:t>
                </a:r>
              </a:p>
              <a:p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𝑏</a:t>
                </a:r>
                <a:r>
                  <a:rPr lang="it-IT" dirty="0"/>
                  <a:t>= </a:t>
                </a:r>
                <a:r>
                  <a:rPr lang="it-IT" b="1" dirty="0"/>
                  <a:t>bias term</a:t>
                </a:r>
                <a:endParaRPr lang="it-IT" dirty="0"/>
              </a:p>
              <a:p>
                <a:pPr lvl="1"/>
                <a:r>
                  <a:rPr lang="it-IT" dirty="0"/>
                  <a:t>Adjusts the score\</a:t>
                </a:r>
              </a:p>
              <a:p>
                <a:pPr lvl="1"/>
                <a:endParaRPr lang="it-IT" dirty="0"/>
              </a:p>
              <a:p>
                <a:pPr lvl="1"/>
                <a:endParaRPr lang="it-IT" dirty="0"/>
              </a:p>
              <a:p>
                <a:r>
                  <a:rPr lang="it-IT" b="1" dirty="0"/>
                  <a:t>Sigmoid Function: 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(⋅)</a:t>
                </a:r>
                <a:endParaRPr lang="ur-PK" b="1" dirty="0"/>
              </a:p>
              <a:p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ur-PK" dirty="0"/>
                  <a:t>= </a:t>
                </a:r>
                <a:r>
                  <a:rPr lang="it-IT" b="1" dirty="0"/>
                  <a:t>Sigmoid Function</a:t>
                </a:r>
                <a:endParaRPr lang="it-IT" dirty="0"/>
              </a:p>
              <a:p>
                <a:r>
                  <a:rPr lang="it-IT" dirty="0"/>
                  <a:t>It converts the score into a probability:</a:t>
                </a:r>
              </a:p>
              <a:p>
                <a:r>
                  <a:rPr lang="en-US" dirty="0"/>
                  <a:t>Output is always between </a:t>
                </a:r>
                <a:r>
                  <a:rPr lang="en-US" b="1" dirty="0"/>
                  <a:t>0 and 1</a:t>
                </a:r>
                <a:endParaRPr lang="it-IT" dirty="0"/>
              </a:p>
              <a:p>
                <a:endParaRPr lang="en-PK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2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3/18/2026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3/18/2026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3/18/2026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3/18/2026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3/18/2026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3/18/2026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3/18/2026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3/18/2026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3/18/2026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3/18/2026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3/18/2026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3/18/2026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3/18/2026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3/18/2026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3/18/2026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3/18/2026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846029" y="3062354"/>
            <a:ext cx="912296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Text Representation</a:t>
            </a:r>
          </a:p>
          <a:p>
            <a:pPr algn="ctr"/>
            <a:r>
              <a:rPr lang="en-US" sz="32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Bag-of-Words and TF-IDF, Baseline Models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59F4D07A-BA1D-C1F3-794B-6A6292EAE5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8" b="19389"/>
          <a:stretch>
            <a:fillRect/>
          </a:stretch>
        </p:blipFill>
        <p:spPr bwMode="auto">
          <a:xfrm>
            <a:off x="3590925" y="2132856"/>
            <a:ext cx="5010150" cy="331236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916832"/>
            <a:ext cx="108712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 Representation</a:t>
            </a:r>
          </a:p>
          <a:p>
            <a:r>
              <a:rPr lang="en-US" dirty="0"/>
              <a:t>Types of Text Representation</a:t>
            </a:r>
          </a:p>
          <a:p>
            <a:r>
              <a:rPr lang="en-US" dirty="0"/>
              <a:t>Count Based and Dense Representations</a:t>
            </a:r>
          </a:p>
          <a:p>
            <a:r>
              <a:rPr lang="it-IT" dirty="0"/>
              <a:t>Bag-of-Words Representation</a:t>
            </a:r>
          </a:p>
          <a:p>
            <a:r>
              <a:rPr lang="en-US" dirty="0"/>
              <a:t>Problem with Raw Word Counts</a:t>
            </a:r>
          </a:p>
          <a:p>
            <a:r>
              <a:rPr lang="en-US" dirty="0"/>
              <a:t>TF-IDF </a:t>
            </a:r>
          </a:p>
          <a:p>
            <a:r>
              <a:rPr lang="en-US" dirty="0"/>
              <a:t>Cosine Similarity – TF-IDF </a:t>
            </a:r>
          </a:p>
          <a:p>
            <a:r>
              <a:rPr lang="it-IT" dirty="0"/>
              <a:t>Baseline Model</a:t>
            </a:r>
          </a:p>
          <a:p>
            <a:r>
              <a:rPr lang="it-IT" dirty="0"/>
              <a:t>Summary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Lecture Generic black outline icon | Freepik">
            <a:extLst>
              <a:ext uri="{FF2B5EF4-FFF2-40B4-BE49-F238E27FC236}">
                <a16:creationId xmlns:a16="http://schemas.microsoft.com/office/drawing/2014/main" id="{F8B87D04-A911-DC78-D22B-367AEDCF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374" y="1916832"/>
            <a:ext cx="2348880" cy="234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FDF7-4077-3F3C-9C50-D780F860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8F18-498D-3222-7351-DE507477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Motivation: Why Do We Need Text Representation?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827E41-D4AC-315B-DF79-BD0614EC6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772816"/>
                <a:ext cx="10871200" cy="4495800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Computers cannot directly process raw text.</a:t>
                </a:r>
              </a:p>
              <a:p>
                <a:r>
                  <a:rPr lang="it-IT" dirty="0"/>
                  <a:t>Natural language must be converted into </a:t>
                </a:r>
                <a:r>
                  <a:rPr lang="it-IT" b="1" dirty="0"/>
                  <a:t>numerical representations</a:t>
                </a:r>
                <a:r>
                  <a:rPr lang="it-IT" dirty="0"/>
                  <a:t> before applying machine learning algorithms.</a:t>
                </a:r>
              </a:p>
              <a:p>
                <a:r>
                  <a:rPr lang="it-IT" dirty="0"/>
                  <a:t>In NLP pipelines, this transformation is called </a:t>
                </a:r>
                <a:r>
                  <a:rPr lang="it-IT" b="1" dirty="0"/>
                  <a:t>Text Vectorization</a:t>
                </a:r>
                <a:r>
                  <a:rPr lang="it-IT" dirty="0"/>
                  <a:t>.</a:t>
                </a:r>
              </a:p>
              <a:p>
                <a:r>
                  <a:rPr lang="it-IT" dirty="0"/>
                  <a:t>Goal: Transform a document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it-IT" dirty="0"/>
                  <a:t>into a numeric vector: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it-IT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r-PK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ur-PK" b="0" dirty="0"/>
              </a:p>
              <a:p>
                <a:r>
                  <a:rPr lang="it-IT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it-IT" dirty="0"/>
                  <a:t>= vocabulary size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it-IT" dirty="0"/>
                  <a:t>= feature vector representing the document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827E41-D4AC-315B-DF79-BD0614EC6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772816"/>
                <a:ext cx="10871200" cy="4495800"/>
              </a:xfrm>
              <a:blipFill>
                <a:blip r:embed="rId2"/>
                <a:stretch>
                  <a:fillRect l="-337" t="-1357" b="-339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720FC-4BC1-F1D0-2224-82C5F0B8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2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E1BE-B9CA-EAC2-2AA0-403E1421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0B0D-C3D3-7D8A-17A3-EE09FFA1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Types of Text Representations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EDE19-AA60-D36F-2FD6-C5693B43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5</a:t>
            </a:fld>
            <a:endParaRPr lang="en-US"/>
          </a:p>
        </p:txBody>
      </p:sp>
      <p:pic>
        <p:nvPicPr>
          <p:cNvPr id="2052" name="Picture 4" descr="Taxonomy of the SOTA text representation methods">
            <a:extLst>
              <a:ext uri="{FF2B5EF4-FFF2-40B4-BE49-F238E27FC236}">
                <a16:creationId xmlns:a16="http://schemas.microsoft.com/office/drawing/2014/main" id="{C675C492-26D2-0B2F-0482-EC2473A2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10" y="1742832"/>
            <a:ext cx="5404044" cy="384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7936E-F6D3-DE80-C063-5309B23C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715978"/>
            <a:ext cx="6896968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 representations can be divided into two major categories:</a:t>
            </a:r>
          </a:p>
          <a:p>
            <a:pPr lvl="1"/>
            <a:r>
              <a:rPr lang="en-US" b="1" dirty="0"/>
              <a:t>Count-Based Representations</a:t>
            </a:r>
          </a:p>
          <a:p>
            <a:pPr lvl="1"/>
            <a:r>
              <a:rPr lang="it-IT" b="1" dirty="0"/>
              <a:t>Dense Distributed Representations</a:t>
            </a:r>
          </a:p>
          <a:p>
            <a:pPr lvl="1"/>
            <a:endParaRPr lang="it-IT" b="1" dirty="0"/>
          </a:p>
          <a:p>
            <a:pPr lvl="1"/>
            <a:endParaRPr lang="it-IT" b="1" dirty="0"/>
          </a:p>
          <a:p>
            <a:pPr marL="365760" lvl="1" indent="0">
              <a:buNone/>
            </a:pPr>
            <a:endParaRPr lang="it-IT" b="1" dirty="0"/>
          </a:p>
          <a:p>
            <a:pPr lvl="1"/>
            <a:r>
              <a:rPr lang="en-US" dirty="0"/>
              <a:t>Basic Idea: Language meaning emerges from patterns of word co-occurrence.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1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AA10-AEE3-FF77-3305-C5DB5757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62B0-5E89-69A7-97EB-B957FF2B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Count-Based Representations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B3B-B90E-6ACD-8980-189AFDD58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5680" y="1700808"/>
                <a:ext cx="10137328" cy="49285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Based on word frequency.</a:t>
                </a:r>
              </a:p>
              <a:p>
                <a:r>
                  <a:rPr lang="it-IT" dirty="0"/>
                  <a:t>Count-based methods work because of the </a:t>
                </a:r>
                <a:r>
                  <a:rPr lang="it-IT" b="1" dirty="0"/>
                  <a:t>Distributional Hypothesis</a:t>
                </a:r>
                <a:r>
                  <a:rPr lang="it-IT" dirty="0"/>
                  <a:t>, a foundational idea in linguistics and NLP:</a:t>
                </a:r>
                <a:endParaRPr lang="it-IT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b="0"/>
                        <m:t>“</m:t>
                      </m:r>
                      <m:r>
                        <m:rPr>
                          <m:nor/>
                        </m:rPr>
                        <a:rPr lang="it-IT" b="0" i="1"/>
                        <m:t>𝐖𝐨𝐫𝐝𝐬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𝐭𝐡𝐚𝐭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𝐨𝐜𝐜𝐮𝐫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𝐢𝐧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𝐬𝐢𝐦𝐢𝐥𝐚𝐫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𝐜𝐨𝐧𝐭𝐞𝐱𝐭𝐬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𝐭𝐞𝐧𝐝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𝐭𝐨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𝐡𝐚𝐯𝐞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𝐬𝐢𝐦𝐢𝐥𝐚𝐫</m:t>
                      </m:r>
                      <m:r>
                        <m:rPr>
                          <m:nor/>
                        </m:rPr>
                        <a:rPr lang="it-IT" b="0" i="1"/>
                        <m:t> </m:t>
                      </m:r>
                      <m:r>
                        <m:rPr>
                          <m:nor/>
                        </m:rPr>
                        <a:rPr lang="it-IT" b="0" i="1"/>
                        <m:t>𝐦𝐞𝐚𝐧𝐢𝐧𝐠𝐬</m:t>
                      </m:r>
                      <m:r>
                        <m:rPr>
                          <m:nor/>
                        </m:rPr>
                        <a:rPr lang="it-IT" b="0" i="1"/>
                        <m:t>.</m:t>
                      </m:r>
                      <m:r>
                        <m:rPr>
                          <m:nor/>
                        </m:rPr>
                        <a:rPr lang="it-IT" b="0" i="1"/>
                        <m:t>”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Bag-of-Words (</a:t>
                </a:r>
                <a:r>
                  <a:rPr lang="en-US" dirty="0" err="1"/>
                  <a:t>BoW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TF-IDF</a:t>
                </a:r>
              </a:p>
              <a:p>
                <a:pPr lvl="1"/>
                <a:r>
                  <a:rPr lang="en-US" dirty="0"/>
                  <a:t>N-gram models</a:t>
                </a:r>
              </a:p>
              <a:p>
                <a:r>
                  <a:rPr lang="en-US" dirty="0"/>
                  <a:t>Characteristics:</a:t>
                </a:r>
              </a:p>
              <a:p>
                <a:pPr lvl="1"/>
                <a:r>
                  <a:rPr lang="en-US" dirty="0"/>
                  <a:t>Sparse vectors</a:t>
                </a:r>
              </a:p>
              <a:p>
                <a:pPr lvl="1"/>
                <a:r>
                  <a:rPr lang="en-US" dirty="0"/>
                  <a:t>High dimensional</a:t>
                </a:r>
              </a:p>
              <a:p>
                <a:pPr lvl="1"/>
                <a:r>
                  <a:rPr lang="en-US" dirty="0"/>
                  <a:t>Simple and interpretable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B3B-B90E-6ACD-8980-189AFDD58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5680" y="1700808"/>
                <a:ext cx="10137328" cy="4928592"/>
              </a:xfrm>
              <a:blipFill>
                <a:blip r:embed="rId2"/>
                <a:stretch>
                  <a:fillRect l="-180" t="-222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5DB4-45A1-820B-5ED5-4AB0AA1A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8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BA47-F4FF-D8C9-6C8C-4A609732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Dense Vectors: Capturing Meaning with Code | Pinecone">
            <a:extLst>
              <a:ext uri="{FF2B5EF4-FFF2-40B4-BE49-F238E27FC236}">
                <a16:creationId xmlns:a16="http://schemas.microsoft.com/office/drawing/2014/main" id="{110D3396-ED9E-B60A-9AD9-E828A54E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344" y="4657666"/>
            <a:ext cx="4022396" cy="203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0AABC2-933D-0FF6-B03E-6C6D2537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Dense Distributed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7065-586F-68EC-A197-0B0F1BB60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680" y="1700808"/>
            <a:ext cx="10137328" cy="4928592"/>
          </a:xfrm>
        </p:spPr>
        <p:txBody>
          <a:bodyPr>
            <a:normAutofit/>
          </a:bodyPr>
          <a:lstStyle/>
          <a:p>
            <a:r>
              <a:rPr lang="it-IT" dirty="0"/>
              <a:t>Based on neural embeddings.</a:t>
            </a:r>
          </a:p>
          <a:p>
            <a:r>
              <a:rPr lang="it-IT" dirty="0"/>
              <a:t>Examples:</a:t>
            </a:r>
          </a:p>
          <a:p>
            <a:pPr lvl="1"/>
            <a:r>
              <a:rPr lang="it-IT" dirty="0"/>
              <a:t>Word2Vec</a:t>
            </a:r>
          </a:p>
          <a:p>
            <a:pPr lvl="1"/>
            <a:r>
              <a:rPr lang="it-IT" dirty="0"/>
              <a:t>GloVe</a:t>
            </a:r>
          </a:p>
          <a:p>
            <a:pPr lvl="1"/>
            <a:r>
              <a:rPr lang="it-IT" dirty="0"/>
              <a:t>FastText</a:t>
            </a:r>
          </a:p>
          <a:p>
            <a:pPr lvl="1"/>
            <a:r>
              <a:rPr lang="it-IT" dirty="0"/>
              <a:t>Transformer embeddings</a:t>
            </a:r>
          </a:p>
          <a:p>
            <a:r>
              <a:rPr lang="it-IT" dirty="0"/>
              <a:t>Characteristics:</a:t>
            </a:r>
          </a:p>
          <a:p>
            <a:pPr lvl="1"/>
            <a:r>
              <a:rPr lang="it-IT" dirty="0"/>
              <a:t>Dense vectors</a:t>
            </a:r>
          </a:p>
          <a:p>
            <a:pPr lvl="1"/>
            <a:r>
              <a:rPr lang="it-IT" dirty="0"/>
              <a:t>Capture semantic meaning</a:t>
            </a:r>
          </a:p>
          <a:p>
            <a:pPr lvl="1"/>
            <a:r>
              <a:rPr lang="it-IT" dirty="0"/>
              <a:t>Lower dimensional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5F4EC-50F1-08FE-D971-5E6C8AD8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7</a:t>
            </a:fld>
            <a:endParaRPr lang="en-US"/>
          </a:p>
        </p:txBody>
      </p:sp>
      <p:pic>
        <p:nvPicPr>
          <p:cNvPr id="3074" name="Picture 2" descr="Dense Vectors: Capturing Meaning with Code | Pinecone">
            <a:extLst>
              <a:ext uri="{FF2B5EF4-FFF2-40B4-BE49-F238E27FC236}">
                <a16:creationId xmlns:a16="http://schemas.microsoft.com/office/drawing/2014/main" id="{EC4FB812-0D28-D1C2-B64C-0A212F721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121" y="1516698"/>
            <a:ext cx="5583943" cy="314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02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599E-34C2-0AFD-5384-F0F0C1469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3B0F5-3EDF-FE18-8F4A-5AD7A5AA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Bag-of-Words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79313-A24D-E644-B825-98D6CFDF8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904" y="1700808"/>
                <a:ext cx="10137328" cy="49285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it-IT" b="1" dirty="0"/>
                  <a:t>Bag-of-Words (BoW)</a:t>
                </a:r>
                <a:r>
                  <a:rPr lang="it-IT" dirty="0"/>
                  <a:t> is the simplest and most widely used method for representing text.</a:t>
                </a:r>
              </a:p>
              <a:p>
                <a:r>
                  <a:rPr lang="it-IT" dirty="0"/>
                  <a:t>A document is represented as a </a:t>
                </a:r>
                <a:r>
                  <a:rPr lang="it-IT" b="1" dirty="0"/>
                  <a:t>multiset of words</a:t>
                </a:r>
                <a:r>
                  <a:rPr lang="it-IT" dirty="0"/>
                  <a:t>, ignoring:</a:t>
                </a:r>
              </a:p>
              <a:p>
                <a:pPr lvl="1"/>
                <a:r>
                  <a:rPr lang="it-IT" dirty="0"/>
                  <a:t>word order</a:t>
                </a:r>
              </a:p>
              <a:p>
                <a:pPr lvl="1"/>
                <a:r>
                  <a:rPr lang="it-IT" dirty="0"/>
                  <a:t>grammar</a:t>
                </a:r>
              </a:p>
              <a:p>
                <a:pPr lvl="1"/>
                <a:r>
                  <a:rPr lang="it-IT" dirty="0"/>
                  <a:t>syntax</a:t>
                </a:r>
              </a:p>
              <a:p>
                <a:r>
                  <a:rPr lang="it-IT" dirty="0"/>
                  <a:t>Only </a:t>
                </a:r>
                <a:r>
                  <a:rPr lang="it-IT" b="1" dirty="0"/>
                  <a:t>word frequency</a:t>
                </a:r>
                <a:r>
                  <a:rPr lang="it-IT" dirty="0"/>
                  <a:t> matters.</a:t>
                </a:r>
              </a:p>
              <a:p>
                <a:r>
                  <a:rPr lang="it-IT" dirty="0"/>
                  <a:t>Mathematically:</a:t>
                </a:r>
              </a:p>
              <a:p>
                <a:pPr marL="0" indent="0" algn="ctr">
                  <a:buNone/>
                </a:pPr>
                <a:r>
                  <a:rPr lang="it-IT" dirty="0"/>
                  <a:t>Given vocabulary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ur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ur-PK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ur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ur-PK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ur-PK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ur-PK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ur-P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ur-PK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ur-PK" dirty="0"/>
              </a:p>
              <a:p>
                <a:r>
                  <a:rPr lang="it-IT" dirty="0"/>
                  <a:t>A document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it-IT" dirty="0"/>
                  <a:t>is represented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ur-PK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ur-PK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ur-PK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e>
                          <m:r>
                            <a:rPr lang="ur-PK"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r-PK" b="0" dirty="0"/>
              </a:p>
              <a:p>
                <a:r>
                  <a:rPr lang="it-IT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i="1"/>
                        <m:t>count</m:t>
                      </m:r>
                      <m:r>
                        <m:rPr>
                          <m:nor/>
                        </m:rPr>
                        <a:rPr lang="it-IT" i="1"/>
                        <m:t> </m:t>
                      </m:r>
                      <m:r>
                        <m:rPr>
                          <m:nor/>
                        </m:rPr>
                        <a:rPr lang="it-IT" i="1"/>
                        <m:t>of</m:t>
                      </m:r>
                      <m:r>
                        <m:rPr>
                          <m:nor/>
                        </m:rPr>
                        <a:rPr lang="it-IT" i="1"/>
                        <m:t> </m:t>
                      </m:r>
                      <m:r>
                        <m:rPr>
                          <m:nor/>
                        </m:rPr>
                        <a:rPr lang="it-IT" i="1"/>
                        <m:t>word</m:t>
                      </m:r>
                      <m:r>
                        <m:rPr>
                          <m:nor/>
                        </m:rPr>
                        <a:rPr lang="it-IT" i="1"/>
                        <m:t> </m:t>
                      </m:r>
                      <m:sSub>
                        <m:sSub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ur-PK" i="1"/>
                        <m:t> </m:t>
                      </m:r>
                      <m:r>
                        <m:rPr>
                          <m:nor/>
                        </m:rPr>
                        <a:rPr lang="it-IT" i="1"/>
                        <m:t>in</m:t>
                      </m:r>
                      <m:r>
                        <m:rPr>
                          <m:nor/>
                        </m:rPr>
                        <a:rPr lang="it-IT" i="1"/>
                        <m:t> </m:t>
                      </m:r>
                      <m:r>
                        <m:rPr>
                          <m:nor/>
                        </m:rPr>
                        <a:rPr lang="it-IT" i="1"/>
                        <m:t>document</m:t>
                      </m:r>
                      <m:r>
                        <m:rPr>
                          <m:nor/>
                        </m:rPr>
                        <a:rPr lang="it-IT" i="1"/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it-IT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79313-A24D-E644-B825-98D6CFDF8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904" y="1700808"/>
                <a:ext cx="10137328" cy="4928592"/>
              </a:xfrm>
              <a:blipFill>
                <a:blip r:embed="rId2"/>
                <a:stretch>
                  <a:fillRect l="-180" t="-222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D1A9-DCF4-0B99-1C29-EC002790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9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1F41-6F5D-DF52-8C20-6ACA956A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3331-6A78-2E26-1A9F-DDEB338B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Bag-of-Words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7AEC-BE06-5AA0-29E2-308ED1C0D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04" y="1700808"/>
            <a:ext cx="10137328" cy="4928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Each document or query is treated as a </a:t>
            </a:r>
            <a:r>
              <a:rPr lang="en-US" altLang="en-US" sz="3200" b="1" dirty="0">
                <a:solidFill>
                  <a:srgbClr val="FF0000"/>
                </a:solidFill>
              </a:rPr>
              <a:t>“bag” of words </a:t>
            </a:r>
            <a:r>
              <a:rPr lang="en-US" altLang="en-US" sz="3200" dirty="0"/>
              <a:t>or </a:t>
            </a:r>
            <a:r>
              <a:rPr lang="en-US" altLang="en-US" sz="3200" b="1" dirty="0"/>
              <a:t>terms</a:t>
            </a:r>
            <a:r>
              <a:rPr lang="en-US" altLang="en-US" sz="3200" dirty="0"/>
              <a:t>. Word sequence is not considered. </a:t>
            </a:r>
          </a:p>
          <a:p>
            <a:pPr>
              <a:lnSpc>
                <a:spcPct val="90000"/>
              </a:lnSpc>
            </a:pPr>
            <a:r>
              <a:rPr lang="en-US" altLang="en-US" sz="3200" dirty="0"/>
              <a:t>Given a collection of documents </a:t>
            </a:r>
            <a:r>
              <a:rPr lang="en-US" altLang="en-US" sz="3200" i="1" dirty="0"/>
              <a:t>D</a:t>
            </a:r>
            <a:r>
              <a:rPr lang="en-US" altLang="en-US" sz="3200" dirty="0"/>
              <a:t>, let </a:t>
            </a:r>
            <a:r>
              <a:rPr lang="en-US" altLang="en-US" sz="3200" i="1" dirty="0"/>
              <a:t>V </a:t>
            </a:r>
            <a:r>
              <a:rPr lang="en-US" altLang="en-US" sz="3200" dirty="0"/>
              <a:t>= {</a:t>
            </a:r>
            <a:r>
              <a:rPr lang="en-US" altLang="en-US" sz="3200" i="1" dirty="0"/>
              <a:t>t</a:t>
            </a:r>
            <a:r>
              <a:rPr lang="en-US" altLang="en-US" sz="3200" baseline="-25000" dirty="0"/>
              <a:t>1</a:t>
            </a:r>
            <a:r>
              <a:rPr lang="en-US" altLang="en-US" sz="3200" dirty="0"/>
              <a:t>, </a:t>
            </a:r>
            <a:r>
              <a:rPr lang="en-US" altLang="en-US" sz="3200" i="1" dirty="0"/>
              <a:t>t</a:t>
            </a:r>
            <a:r>
              <a:rPr lang="en-US" altLang="en-US" sz="3200" baseline="-25000" dirty="0"/>
              <a:t>2</a:t>
            </a:r>
            <a:r>
              <a:rPr lang="en-US" altLang="en-US" sz="3200" dirty="0"/>
              <a:t>, ..., </a:t>
            </a:r>
            <a:r>
              <a:rPr lang="en-US" altLang="en-US" sz="3200" i="1" dirty="0" err="1"/>
              <a:t>t</a:t>
            </a:r>
            <a:r>
              <a:rPr lang="en-US" altLang="en-US" sz="3200" baseline="-25000" dirty="0" err="1"/>
              <a:t>|</a:t>
            </a:r>
            <a:r>
              <a:rPr lang="en-US" altLang="en-US" sz="3200" i="1" baseline="-25000" dirty="0" err="1"/>
              <a:t>V</a:t>
            </a:r>
            <a:r>
              <a:rPr lang="en-US" altLang="en-US" sz="3200" baseline="-25000" dirty="0"/>
              <a:t>|</a:t>
            </a:r>
            <a:r>
              <a:rPr lang="en-US" altLang="en-US" sz="3200" dirty="0"/>
              <a:t>} be the set of distinctive words/terms in the collection. </a:t>
            </a:r>
            <a:r>
              <a:rPr lang="en-US" altLang="en-US" sz="3200" i="1" dirty="0"/>
              <a:t>V</a:t>
            </a:r>
            <a:r>
              <a:rPr lang="en-US" altLang="en-US" sz="3200" dirty="0"/>
              <a:t> is called the </a:t>
            </a:r>
            <a:r>
              <a:rPr lang="en-US" altLang="en-US" sz="3200" dirty="0">
                <a:solidFill>
                  <a:srgbClr val="FF0000"/>
                </a:solidFill>
              </a:rPr>
              <a:t>vocabulary</a:t>
            </a:r>
            <a:r>
              <a:rPr lang="en-US" altLang="en-US" sz="3200" dirty="0"/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3200" dirty="0"/>
              <a:t>A weight </a:t>
            </a:r>
            <a:r>
              <a:rPr lang="en-US" altLang="en-US" sz="3200" i="1" dirty="0" err="1"/>
              <a:t>w</a:t>
            </a:r>
            <a:r>
              <a:rPr lang="en-US" altLang="en-US" sz="3200" i="1" baseline="-25000" dirty="0" err="1"/>
              <a:t>ij</a:t>
            </a:r>
            <a:r>
              <a:rPr lang="en-US" altLang="en-US" sz="3200" i="1" dirty="0"/>
              <a:t> </a:t>
            </a:r>
            <a:r>
              <a:rPr lang="en-US" altLang="en-US" sz="3200" dirty="0"/>
              <a:t>&gt; 0 is associated with each term </a:t>
            </a:r>
            <a:r>
              <a:rPr lang="en-US" altLang="en-US" sz="3200" i="1" dirty="0" err="1"/>
              <a:t>t</a:t>
            </a:r>
            <a:r>
              <a:rPr lang="en-US" altLang="en-US" sz="3200" i="1" baseline="-25000" dirty="0" err="1"/>
              <a:t>i</a:t>
            </a:r>
            <a:r>
              <a:rPr lang="en-US" altLang="en-US" sz="3200" i="1" dirty="0"/>
              <a:t> </a:t>
            </a:r>
            <a:r>
              <a:rPr lang="en-US" altLang="en-US" sz="3200" dirty="0"/>
              <a:t>of a document </a:t>
            </a:r>
            <a:r>
              <a:rPr lang="en-US" altLang="en-US" sz="3200" b="1" dirty="0" err="1"/>
              <a:t>d</a:t>
            </a:r>
            <a:r>
              <a:rPr lang="en-US" altLang="en-US" sz="3200" i="1" baseline="-25000" dirty="0" err="1"/>
              <a:t>j</a:t>
            </a:r>
            <a:r>
              <a:rPr lang="en-US" altLang="en-US" sz="3200" i="1" dirty="0"/>
              <a:t> </a:t>
            </a:r>
            <a:r>
              <a:rPr lang="en-US" altLang="en-US" sz="3200" dirty="0"/>
              <a:t>∈ </a:t>
            </a:r>
            <a:r>
              <a:rPr lang="en-US" altLang="en-US" sz="3200" i="1" dirty="0"/>
              <a:t>D</a:t>
            </a:r>
            <a:r>
              <a:rPr lang="en-US" altLang="en-US" sz="3200" dirty="0"/>
              <a:t>. For a term that does not appear in document </a:t>
            </a:r>
            <a:r>
              <a:rPr lang="en-US" altLang="en-US" sz="3200" b="1" dirty="0" err="1"/>
              <a:t>d</a:t>
            </a:r>
            <a:r>
              <a:rPr lang="en-US" altLang="en-US" sz="3200" i="1" baseline="-25000" dirty="0" err="1"/>
              <a:t>j</a:t>
            </a:r>
            <a:r>
              <a:rPr lang="en-US" altLang="en-US" sz="3200" dirty="0"/>
              <a:t>, </a:t>
            </a:r>
            <a:r>
              <a:rPr lang="en-US" altLang="en-US" sz="3200" i="1" dirty="0" err="1"/>
              <a:t>w</a:t>
            </a:r>
            <a:r>
              <a:rPr lang="en-US" altLang="en-US" sz="3200" i="1" baseline="-25000" dirty="0" err="1"/>
              <a:t>ij</a:t>
            </a:r>
            <a:r>
              <a:rPr lang="en-US" altLang="en-US" sz="3200" i="1" dirty="0"/>
              <a:t> </a:t>
            </a:r>
            <a:r>
              <a:rPr lang="en-US" altLang="en-US" sz="3200" dirty="0"/>
              <a:t>= 0.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3200" b="1" dirty="0"/>
              <a:t>		</a:t>
            </a:r>
            <a:r>
              <a:rPr lang="en-US" altLang="en-US" sz="3200" b="1" dirty="0" err="1"/>
              <a:t>d</a:t>
            </a:r>
            <a:r>
              <a:rPr lang="en-US" altLang="en-US" sz="3200" i="1" baseline="-25000" dirty="0" err="1"/>
              <a:t>j</a:t>
            </a:r>
            <a:r>
              <a:rPr lang="en-US" altLang="en-US" sz="3200" i="1" dirty="0"/>
              <a:t> </a:t>
            </a:r>
            <a:r>
              <a:rPr lang="en-US" altLang="en-US" sz="3200" dirty="0"/>
              <a:t>= (</a:t>
            </a:r>
            <a:r>
              <a:rPr lang="en-US" altLang="en-US" sz="3200" i="1" dirty="0"/>
              <a:t>w</a:t>
            </a:r>
            <a:r>
              <a:rPr lang="en-US" altLang="en-US" sz="3200" baseline="-25000" dirty="0"/>
              <a:t>1</a:t>
            </a:r>
            <a:r>
              <a:rPr lang="en-US" altLang="en-US" sz="3200" i="1" baseline="-25000" dirty="0"/>
              <a:t>j</a:t>
            </a:r>
            <a:r>
              <a:rPr lang="en-US" altLang="en-US" sz="3200" dirty="0"/>
              <a:t>, </a:t>
            </a:r>
            <a:r>
              <a:rPr lang="en-US" altLang="en-US" sz="3200" i="1" dirty="0"/>
              <a:t>w</a:t>
            </a:r>
            <a:r>
              <a:rPr lang="en-US" altLang="en-US" sz="3200" baseline="-25000" dirty="0"/>
              <a:t>2</a:t>
            </a:r>
            <a:r>
              <a:rPr lang="en-US" altLang="en-US" sz="3200" i="1" baseline="-25000" dirty="0"/>
              <a:t>j</a:t>
            </a:r>
            <a:r>
              <a:rPr lang="en-US" altLang="en-US" sz="3200" dirty="0"/>
              <a:t>, ..., </a:t>
            </a:r>
            <a:r>
              <a:rPr lang="en-US" altLang="en-US" sz="3200" i="1" dirty="0" err="1"/>
              <a:t>w</a:t>
            </a:r>
            <a:r>
              <a:rPr lang="en-US" altLang="en-US" sz="3200" baseline="-25000" dirty="0" err="1"/>
              <a:t>|</a:t>
            </a:r>
            <a:r>
              <a:rPr lang="en-US" altLang="en-US" sz="3200" i="1" baseline="-25000" dirty="0" err="1"/>
              <a:t>V</a:t>
            </a:r>
            <a:r>
              <a:rPr lang="en-US" altLang="en-US" sz="3200" baseline="-25000" dirty="0" err="1"/>
              <a:t>|</a:t>
            </a:r>
            <a:r>
              <a:rPr lang="en-US" altLang="en-US" sz="3200" i="1" baseline="-25000" dirty="0" err="1"/>
              <a:t>j</a:t>
            </a:r>
            <a:r>
              <a:rPr lang="en-US" altLang="en-US" sz="3200" dirty="0"/>
              <a:t>),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A749D-72D2-E2FE-57A9-B0203F4B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3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9815-7E78-127B-C5D1-C9EB8B8D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10A7-12C6-56E0-B7B9-E645E3EF3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Bag-of-Words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0BA7-CA7A-6123-812F-7BC241DE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04" y="1700808"/>
            <a:ext cx="10137328" cy="4928592"/>
          </a:xfrm>
        </p:spPr>
        <p:txBody>
          <a:bodyPr>
            <a:normAutofit/>
          </a:bodyPr>
          <a:lstStyle/>
          <a:p>
            <a:r>
              <a:rPr lang="it-IT" dirty="0"/>
              <a:t>Example </a:t>
            </a:r>
            <a:r>
              <a:rPr lang="en-US" dirty="0"/>
              <a:t>Corpus:</a:t>
            </a:r>
          </a:p>
          <a:p>
            <a:pPr lvl="1"/>
            <a:r>
              <a:rPr lang="en-US" dirty="0"/>
              <a:t>D1: I love NLP</a:t>
            </a:r>
          </a:p>
          <a:p>
            <a:pPr lvl="1"/>
            <a:r>
              <a:rPr lang="en-US" dirty="0"/>
              <a:t>D2: I love machine learning</a:t>
            </a:r>
          </a:p>
          <a:p>
            <a:pPr lvl="1"/>
            <a:r>
              <a:rPr lang="en-US" dirty="0"/>
              <a:t>D3: NLP is interesting</a:t>
            </a:r>
          </a:p>
          <a:p>
            <a:r>
              <a:rPr lang="it-IT" dirty="0"/>
              <a:t>Vocabulary:</a:t>
            </a:r>
            <a:r>
              <a:rPr lang="en-US" dirty="0"/>
              <a:t> V={</a:t>
            </a:r>
            <a:r>
              <a:rPr lang="en-US" dirty="0" err="1"/>
              <a:t>I,love,NLP,machine,learning,is,interesting</a:t>
            </a:r>
            <a:r>
              <a:rPr lang="en-US" dirty="0"/>
              <a:t>}</a:t>
            </a:r>
            <a:endParaRPr lang="ur-PK" dirty="0"/>
          </a:p>
          <a:p>
            <a:endParaRPr lang="it-IT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83673-BF33-3EC1-B4F4-EBCF81C8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7DE997-03A0-B64D-B7B4-72F2B2E7D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678261"/>
              </p:ext>
            </p:extLst>
          </p:nvPr>
        </p:nvGraphicFramePr>
        <p:xfrm>
          <a:off x="774424" y="4509120"/>
          <a:ext cx="10871200" cy="212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2407078335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18594646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80389172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051055529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47921422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16243983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4001659128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052518452"/>
                    </a:ext>
                  </a:extLst>
                </a:gridCol>
              </a:tblGrid>
              <a:tr h="5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Document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love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NLP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machine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learning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is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solidFill>
                            <a:schemeClr val="bg1"/>
                          </a:solidFill>
                        </a:rPr>
                        <a:t>interesting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72015"/>
                  </a:ext>
                </a:extLst>
              </a:tr>
              <a:tr h="5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734197"/>
                  </a:ext>
                </a:extLst>
              </a:tr>
              <a:tr h="5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601555"/>
                  </a:ext>
                </a:extLst>
              </a:tr>
              <a:tr h="53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46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72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35B4-58D9-BA77-F6B4-EFCD7F5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2434-1E12-C38E-3280-3D2C2866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with Raw Word Counts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06BF-BE45-329F-E4E4-82A64952D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04" y="1700808"/>
            <a:ext cx="10137328" cy="4928592"/>
          </a:xfrm>
        </p:spPr>
        <p:txBody>
          <a:bodyPr>
            <a:normAutofit/>
          </a:bodyPr>
          <a:lstStyle/>
          <a:p>
            <a:r>
              <a:rPr lang="en-US" dirty="0"/>
              <a:t>Raw frequency counts create bias toward </a:t>
            </a:r>
            <a:r>
              <a:rPr lang="en-US" b="1" dirty="0"/>
              <a:t>common words</a:t>
            </a:r>
            <a:r>
              <a:rPr lang="en-US" dirty="0"/>
              <a:t>.</a:t>
            </a:r>
          </a:p>
          <a:p>
            <a:r>
              <a:rPr lang="en-US" dirty="0"/>
              <a:t>Example corpus:</a:t>
            </a:r>
          </a:p>
          <a:p>
            <a:pPr lvl="1"/>
            <a:r>
              <a:rPr lang="en-US" dirty="0"/>
              <a:t>the cat sat on the mat</a:t>
            </a:r>
          </a:p>
          <a:p>
            <a:pPr lvl="1"/>
            <a:r>
              <a:rPr lang="en-US" dirty="0"/>
              <a:t>the dog sat on the floor</a:t>
            </a:r>
          </a:p>
          <a:p>
            <a:r>
              <a:rPr lang="en-US" dirty="0"/>
              <a:t>Word </a:t>
            </a:r>
            <a:r>
              <a:rPr lang="en-US" b="1" dirty="0"/>
              <a:t>"the"</a:t>
            </a:r>
            <a:r>
              <a:rPr lang="en-US" dirty="0"/>
              <a:t> appears frequently but carries </a:t>
            </a:r>
            <a:r>
              <a:rPr lang="en-US" b="1" dirty="0"/>
              <a:t>little semantic information</a:t>
            </a:r>
            <a:r>
              <a:rPr lang="en-US" dirty="0"/>
              <a:t>.</a:t>
            </a:r>
          </a:p>
          <a:p>
            <a:r>
              <a:rPr lang="en-US" dirty="0"/>
              <a:t>Thus we need a weighting scheme that:</a:t>
            </a:r>
          </a:p>
          <a:p>
            <a:pPr lvl="1"/>
            <a:r>
              <a:rPr lang="en-US" b="1" dirty="0"/>
              <a:t>penalizes</a:t>
            </a:r>
            <a:r>
              <a:rPr lang="en-US" dirty="0"/>
              <a:t> common words</a:t>
            </a:r>
          </a:p>
          <a:p>
            <a:pPr lvl="1"/>
            <a:r>
              <a:rPr lang="en-US" b="1" dirty="0"/>
              <a:t>emphasizes</a:t>
            </a:r>
            <a:r>
              <a:rPr lang="en-US" dirty="0"/>
              <a:t> informative words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A865D-584F-9A07-3E38-9623C911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43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7590-E7A4-761A-E649-92CB9414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8CA4-3FDB-BF57-D8CD-E05A352D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pc="-40" dirty="0"/>
              <a:t>Term</a:t>
            </a:r>
            <a:r>
              <a:rPr lang="it-IT" spc="-110" dirty="0"/>
              <a:t> </a:t>
            </a:r>
            <a:r>
              <a:rPr lang="it-IT" spc="-10" dirty="0"/>
              <a:t>Frequency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E15A6-41F5-E690-49A1-8718DDD0A2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904" y="1700808"/>
                <a:ext cx="6608240" cy="4928592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Term Frequency measures how often a word appears in a document.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Where: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ur-PK" dirty="0"/>
                  <a:t>= </a:t>
                </a:r>
                <a:r>
                  <a:rPr lang="it-IT" dirty="0"/>
                  <a:t>frequency of term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it-IT" dirty="0"/>
                  <a:t>in document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it-IT" dirty="0"/>
              </a:p>
              <a:p>
                <a:r>
                  <a:rPr lang="it-IT" dirty="0"/>
                  <a:t>Example:</a:t>
                </a:r>
              </a:p>
              <a:p>
                <a:r>
                  <a:rPr lang="it-IT" dirty="0"/>
                  <a:t>Document: NLP is fun and NLP is powerful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E15A6-41F5-E690-49A1-8718DDD0A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904" y="1700808"/>
                <a:ext cx="6608240" cy="4928592"/>
              </a:xfrm>
              <a:blipFill>
                <a:blip r:embed="rId2"/>
                <a:stretch>
                  <a:fillRect l="-554" t="-123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0C98D-5752-C6D0-E6B8-09EF92CE0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6AA97-A075-22E5-5C33-6B9138F8E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5292"/>
              </p:ext>
            </p:extLst>
          </p:nvPr>
        </p:nvGraphicFramePr>
        <p:xfrm>
          <a:off x="7536160" y="3284984"/>
          <a:ext cx="4296620" cy="2856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310">
                  <a:extLst>
                    <a:ext uri="{9D8B030D-6E8A-4147-A177-3AD203B41FA5}">
                      <a16:colId xmlns:a16="http://schemas.microsoft.com/office/drawing/2014/main" val="2622542674"/>
                    </a:ext>
                  </a:extLst>
                </a:gridCol>
                <a:gridCol w="2148310">
                  <a:extLst>
                    <a:ext uri="{9D8B030D-6E8A-4147-A177-3AD203B41FA5}">
                      <a16:colId xmlns:a16="http://schemas.microsoft.com/office/drawing/2014/main" val="1053745930"/>
                    </a:ext>
                  </a:extLst>
                </a:gridCol>
              </a:tblGrid>
              <a:tr h="571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word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35949"/>
                  </a:ext>
                </a:extLst>
              </a:tr>
              <a:tr h="571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172337"/>
                  </a:ext>
                </a:extLst>
              </a:tr>
              <a:tr h="571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224764"/>
                  </a:ext>
                </a:extLst>
              </a:tr>
              <a:tr h="571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fun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905475"/>
                  </a:ext>
                </a:extLst>
              </a:tr>
              <a:tr h="571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powerful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49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91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9A21-56E2-698E-2F90-14819933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B1BC-90CA-B10C-9A96-2C1E5EB3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Inverse Document Frequency (IDF)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9A472-7296-5787-2232-CCF2E3786B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904" y="1700808"/>
                <a:ext cx="10352656" cy="4928592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IDF measures how </a:t>
                </a:r>
                <a:r>
                  <a:rPr lang="it-IT" b="1" dirty="0"/>
                  <a:t>rare a word is across documents</a:t>
                </a:r>
                <a:r>
                  <a:rPr lang="it-IT" dirty="0"/>
                  <a:t>.</a:t>
                </a:r>
              </a:p>
              <a:p>
                <a:r>
                  <a:rPr lang="it-IT" dirty="0"/>
                  <a:t>Rare words are more informative.</a:t>
                </a:r>
              </a:p>
              <a:p>
                <a:r>
                  <a:rPr lang="it-IT" dirty="0"/>
                  <a:t>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ur-P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ur-PK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ur-PK" i="1">
                                      <a:latin typeface="Cambria Math" panose="02040503050406030204" pitchFamily="18" charset="0"/>
                                    </a:rPr>
                                    <m:t>𝑑𝑓</m:t>
                                  </m:r>
                                  <m:d>
                                    <m:dPr>
                                      <m:ctrlP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it-IT" dirty="0"/>
                  <a:t>= total number of documents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𝑑𝑓</m:t>
                    </m:r>
                    <m:d>
                      <m:dPr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ur-PK" dirty="0"/>
                  <a:t>= </a:t>
                </a:r>
                <a:r>
                  <a:rPr lang="it-IT" dirty="0"/>
                  <a:t>number of documents containing term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9A472-7296-5787-2232-CCF2E3786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904" y="1700808"/>
                <a:ext cx="10352656" cy="4928592"/>
              </a:xfrm>
              <a:blipFill>
                <a:blip r:embed="rId2"/>
                <a:stretch>
                  <a:fillRect l="-353" t="-123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98ADC-235D-CD3A-7E8D-BE8A2AD7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5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8E40-264A-D836-CD99-F1531465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B15F-E1B9-F225-0BCF-C207D4B2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TF-IDF Weight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C54B4-B6BB-9918-698C-10E4540674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904" y="1700808"/>
                <a:ext cx="10352656" cy="4928592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TF-IDF combines </a:t>
                </a:r>
                <a:r>
                  <a:rPr lang="it-IT" b="1" dirty="0"/>
                  <a:t>term frequency</a:t>
                </a:r>
                <a:r>
                  <a:rPr lang="it-IT" dirty="0"/>
                  <a:t> and </a:t>
                </a:r>
                <a:r>
                  <a:rPr lang="it-IT" b="1" dirty="0"/>
                  <a:t>inverse document frequency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𝑇𝐹𝐼𝐷𝐹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Expanded 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𝑇𝐹𝐼𝐷𝐹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ur-P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ur-PK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ur-PK" i="1">
                                      <a:latin typeface="Cambria Math" panose="02040503050406030204" pitchFamily="18" charset="0"/>
                                    </a:rPr>
                                    <m:t>𝑑𝑓</m:t>
                                  </m:r>
                                  <m:d>
                                    <m:dPr>
                                      <m:ctrlP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ur-PK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Interpretation:</a:t>
                </a:r>
              </a:p>
              <a:p>
                <a:pPr lvl="1"/>
                <a:r>
                  <a:rPr lang="it-IT" dirty="0"/>
                  <a:t>High value occurs when:</a:t>
                </a:r>
              </a:p>
              <a:p>
                <a:pPr lvl="1"/>
                <a:r>
                  <a:rPr lang="it-IT" dirty="0"/>
                  <a:t>term is frequent in document</a:t>
                </a:r>
              </a:p>
              <a:p>
                <a:pPr lvl="1"/>
                <a:r>
                  <a:rPr lang="it-IT" dirty="0"/>
                  <a:t>term is rare across corpus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C54B4-B6BB-9918-698C-10E454067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904" y="1700808"/>
                <a:ext cx="10352656" cy="4928592"/>
              </a:xfrm>
              <a:blipFill>
                <a:blip r:embed="rId2"/>
                <a:stretch>
                  <a:fillRect l="-353" t="-1236" b="-247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F1BDE-451C-C128-DAFB-857633A9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4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8ACB-3F0B-A1E3-648E-F8D7FD96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9FBC-EAB4-1456-433D-3CF9B57A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CC80-29B0-CECC-3705-8A765C8B1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04" y="1700808"/>
            <a:ext cx="10352656" cy="4928592"/>
          </a:xfrm>
        </p:spPr>
        <p:txBody>
          <a:bodyPr>
            <a:normAutofit/>
          </a:bodyPr>
          <a:lstStyle/>
          <a:p>
            <a:r>
              <a:rPr lang="en-US" sz="3200" dirty="0"/>
              <a:t>D1: "Shipment of gold damaged in a fire"</a:t>
            </a:r>
            <a:br>
              <a:rPr lang="en-US" sz="3200" dirty="0"/>
            </a:br>
            <a:r>
              <a:rPr lang="en-US" sz="3200" dirty="0"/>
              <a:t>D2: "Delivery of silver arrived in a silver truck"</a:t>
            </a:r>
            <a:br>
              <a:rPr lang="en-US" sz="3200" dirty="0"/>
            </a:br>
            <a:r>
              <a:rPr lang="en-US" sz="3200" dirty="0"/>
              <a:t>D3: "Shipment of gold arrived in a truck”</a:t>
            </a:r>
          </a:p>
          <a:p>
            <a:endParaRPr lang="en-US" sz="3200" dirty="0"/>
          </a:p>
          <a:p>
            <a:r>
              <a:rPr lang="en-US" sz="3200" dirty="0"/>
              <a:t>query : "gold silver truck“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8FD2-88B9-FCD1-F8DC-AE656194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87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DCB5-8598-4E7B-054D-E013FF34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1A04-6594-8079-372E-2AD3306D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Terms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3AD5-1B4E-7580-28C8-34CD06B1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04" y="1700808"/>
            <a:ext cx="10352656" cy="4928592"/>
          </a:xfrm>
        </p:spPr>
        <p:txBody>
          <a:bodyPr>
            <a:normAutofit/>
          </a:bodyPr>
          <a:lstStyle/>
          <a:p>
            <a:r>
              <a:rPr lang="en-US" sz="2800" dirty="0"/>
              <a:t>Term Frequency (</a:t>
            </a:r>
            <a:r>
              <a:rPr lang="en-US" sz="2800" dirty="0" err="1"/>
              <a:t>tf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No of times a term occurred in a document</a:t>
            </a:r>
          </a:p>
          <a:p>
            <a:r>
              <a:rPr lang="en-US" sz="2800" dirty="0"/>
              <a:t>Document Frequency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No of documents in which a term occurred. </a:t>
            </a:r>
          </a:p>
          <a:p>
            <a:r>
              <a:rPr lang="en-US" sz="2800" dirty="0"/>
              <a:t>Inverse Document Frequency</a:t>
            </a:r>
          </a:p>
          <a:p>
            <a:pPr lvl="1"/>
            <a:r>
              <a:rPr lang="en-US" sz="2400" dirty="0"/>
              <a:t>IDF = log(D/d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B4D51-3700-7930-6EFD-3CA58ECC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92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9CBC-B9B7-74B1-9C18-EEE8028A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19E4-B610-623F-F635-F884E049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EC916-0179-B6F8-D8DA-2FC3D0A45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04" y="1700808"/>
            <a:ext cx="10352656" cy="4928592"/>
          </a:xfrm>
        </p:spPr>
        <p:txBody>
          <a:bodyPr>
            <a:normAutofit/>
          </a:bodyPr>
          <a:lstStyle/>
          <a:p>
            <a:r>
              <a:rPr lang="en-US" sz="2800" dirty="0"/>
              <a:t>Term Frequency (</a:t>
            </a:r>
            <a:r>
              <a:rPr lang="en-US" sz="2800" dirty="0" err="1"/>
              <a:t>tf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No of times a term occurred in a document</a:t>
            </a:r>
          </a:p>
          <a:p>
            <a:r>
              <a:rPr lang="en-US" sz="2800" dirty="0"/>
              <a:t>Document Frequency 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No of documents in which a term occurred. </a:t>
            </a:r>
          </a:p>
          <a:p>
            <a:r>
              <a:rPr lang="en-US" sz="2800" dirty="0"/>
              <a:t>Inverse Document Frequency</a:t>
            </a:r>
          </a:p>
          <a:p>
            <a:pPr lvl="1"/>
            <a:r>
              <a:rPr lang="en-US" sz="2400" dirty="0"/>
              <a:t>IDF = log(D/d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00FF6-2BD5-9398-FB72-C7ACD452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619A652-86F6-FE52-8F40-B92A12CCC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5" y="304800"/>
            <a:ext cx="11855669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2305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A64D-13C8-A299-8310-AA36350C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19DC-50C0-BDED-0510-4BF610A5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 to document similarity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9EDF-B7CA-E306-B030-6893DFDA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8289D6-A739-F3AF-65F8-8E0C6E990CE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Query </a:t>
            </a:r>
            <a:r>
              <a:rPr lang="en-US" altLang="en-US" b="1" dirty="0"/>
              <a:t>q</a:t>
            </a:r>
            <a:r>
              <a:rPr lang="en-US" altLang="en-US" dirty="0"/>
              <a:t> is represented in the same way or slightly differently.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Relevance of </a:t>
            </a:r>
            <a:r>
              <a:rPr lang="en-US" altLang="en-US" b="1" dirty="0">
                <a:solidFill>
                  <a:srgbClr val="FF0000"/>
                </a:solidFill>
              </a:rPr>
              <a:t>d</a:t>
            </a:r>
            <a:r>
              <a:rPr lang="en-US" altLang="en-US" i="1" baseline="-25000" dirty="0">
                <a:solidFill>
                  <a:srgbClr val="FF0000"/>
                </a:solidFill>
              </a:rPr>
              <a:t>i</a:t>
            </a:r>
            <a:r>
              <a:rPr lang="en-US" altLang="en-US" dirty="0">
                <a:solidFill>
                  <a:srgbClr val="FF0000"/>
                </a:solidFill>
              </a:rPr>
              <a:t> to </a:t>
            </a:r>
            <a:r>
              <a:rPr lang="en-US" altLang="en-US" b="1" dirty="0">
                <a:solidFill>
                  <a:srgbClr val="FF0000"/>
                </a:solidFill>
              </a:rPr>
              <a:t>q</a:t>
            </a:r>
            <a:r>
              <a:rPr lang="en-US" altLang="en-US" dirty="0"/>
              <a:t>: Compare the similarity of query </a:t>
            </a:r>
            <a:r>
              <a:rPr lang="en-US" altLang="en-US" b="1" dirty="0"/>
              <a:t>q</a:t>
            </a:r>
            <a:r>
              <a:rPr lang="en-US" altLang="en-US" dirty="0"/>
              <a:t> and document </a:t>
            </a:r>
            <a:r>
              <a:rPr lang="en-US" altLang="en-US" b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Cosine similarity (the cosine of the angle between the two vectors)</a:t>
            </a:r>
          </a:p>
          <a:p>
            <a:endParaRPr lang="en-US" altLang="zh-CN" sz="2800" dirty="0">
              <a:ea typeface="宋体" charset="-122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DE5EA8AF-8ED2-22B4-AADC-7A8071112C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114801"/>
          <a:ext cx="9127067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500" imgH="596900" progId="Equation.3">
                  <p:embed/>
                </p:oleObj>
              </mc:Choice>
              <mc:Fallback>
                <p:oleObj name="Equation" r:id="rId2" imgW="2730500" imgH="596900" progId="Equation.3">
                  <p:embed/>
                  <p:pic>
                    <p:nvPicPr>
                      <p:cNvPr id="317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14801"/>
                        <a:ext cx="9127067" cy="149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9150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719C-9A1E-44B5-F2AC-15164627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AE1D8-8E48-A999-CB6F-7306E20F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Cosine Similarity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4025C-6368-8A6A-226B-ABD9B20C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7DD236-4095-094C-BBB6-8213320B431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1FBBAEF-C5E7-00FF-6B2D-8CBB91584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344" y="1772816"/>
            <a:ext cx="8654240" cy="45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8044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529D-24B5-EBF0-B5BD-C95FDFDE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A52B-BB0B-B716-65A9-B962349D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Cosine Similarity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E321-2D6D-14BE-414E-0E12CC51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9DF928-17B8-7CDD-5B19-7AB2C58472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BC6D2B-4496-8D36-89DF-66E7AB420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64" y="1988840"/>
            <a:ext cx="9235296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112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8B14-439C-04A3-0325-2C72384F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96BC-7522-5686-9485-8974E5BF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Cosine Similarity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975FA-695D-141E-D9C8-83173F1D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02E8A4-7EB7-0F63-2810-0622C98CC4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300E40-13AE-1625-CD69-86DA3E2D1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1665297"/>
            <a:ext cx="8133714" cy="4964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650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B81D-03FD-EF1B-E411-06A0FFC2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3CA4-9271-B1B1-AB66-2E3FD296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Ranking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CD96-3EA4-8867-B506-993F0D7A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60B76-889F-D7E6-9A9D-DF835A83A2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Rank 1: Doc 2 = 0.8246</a:t>
            </a:r>
          </a:p>
          <a:p>
            <a:r>
              <a:rPr lang="en-US" dirty="0"/>
              <a:t>Rank 2: Doc 3 = 0.3271</a:t>
            </a:r>
          </a:p>
          <a:p>
            <a:r>
              <a:rPr lang="en-US" dirty="0"/>
              <a:t>Rank 3: Doc 1 = 0.0801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40270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F992-498D-B023-80AB-7C2475563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BBEA-7DB7-93CD-1BC4-1B84B238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Baseline Model: Text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94AB-3625-69DE-BCF2-67021703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52205E6-CF98-DD85-9BD5-3EE0CDB0FE7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32096" y="1988840"/>
                <a:ext cx="4301608" cy="406384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it-IT" dirty="0"/>
                  <a:t>Goal:</a:t>
                </a:r>
              </a:p>
              <a:p>
                <a:r>
                  <a:rPr lang="it-IT" dirty="0"/>
                  <a:t>Classify movie reviews as:</a:t>
                </a:r>
              </a:p>
              <a:p>
                <a:pPr lvl="1"/>
                <a:r>
                  <a:rPr lang="it-IT" dirty="0"/>
                  <a:t>Positive</a:t>
                </a:r>
              </a:p>
              <a:p>
                <a:pPr lvl="1"/>
                <a:r>
                  <a:rPr lang="it-IT" dirty="0"/>
                  <a:t>negative</a:t>
                </a:r>
              </a:p>
              <a:p>
                <a:r>
                  <a:rPr lang="it-IT" dirty="0"/>
                  <a:t>Mathematical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ur-PK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ur-P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ur-P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ur-P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ur-PK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= TF-IDF feature vector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it-IT" dirty="0"/>
                  <a:t>= model weights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52205E6-CF98-DD85-9BD5-3EE0CDB0F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32096" y="1988840"/>
                <a:ext cx="4301608" cy="4063847"/>
              </a:xfrm>
              <a:blipFill>
                <a:blip r:embed="rId3"/>
                <a:stretch>
                  <a:fillRect l="-567" t="-224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6F01F59-B935-489E-43B9-D599C9463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6951347"/>
              </p:ext>
            </p:extLst>
          </p:nvPr>
        </p:nvGraphicFramePr>
        <p:xfrm>
          <a:off x="6340216" y="1772816"/>
          <a:ext cx="5040560" cy="417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05703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0BA0-27C7-872B-88D3-1F4FBA95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C9A6-0962-6B72-8180-19F23402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Why Baselines Are Important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0C47-EC7B-C441-A319-8A9FBFA8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661BD0-62D9-B4C1-F5B0-784926C4F4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11776" y="1700808"/>
            <a:ext cx="10476472" cy="4824536"/>
          </a:xfrm>
        </p:spPr>
        <p:txBody>
          <a:bodyPr>
            <a:normAutofit/>
          </a:bodyPr>
          <a:lstStyle/>
          <a:p>
            <a:r>
              <a:rPr lang="it-IT" dirty="0"/>
              <a:t>Baselines provide:</a:t>
            </a:r>
          </a:p>
          <a:p>
            <a:r>
              <a:rPr lang="it-IT" b="1" dirty="0"/>
              <a:t>1. Reference performance</a:t>
            </a:r>
            <a:endParaRPr lang="it-IT" dirty="0"/>
          </a:p>
          <a:p>
            <a:pPr lvl="1"/>
            <a:r>
              <a:rPr lang="it-IT" dirty="0"/>
              <a:t>TF-IDF + Logistic Regression → 85% accuracy</a:t>
            </a:r>
            <a:br>
              <a:rPr lang="it-IT" dirty="0"/>
            </a:br>
            <a:r>
              <a:rPr lang="it-IT" dirty="0"/>
              <a:t>BERT model → 86%</a:t>
            </a:r>
          </a:p>
          <a:p>
            <a:pPr lvl="1"/>
            <a:r>
              <a:rPr lang="it-IT" dirty="0"/>
              <a:t>Improvement is small → model complexity not justified.</a:t>
            </a:r>
          </a:p>
          <a:p>
            <a:r>
              <a:rPr lang="it-IT" b="1" dirty="0"/>
              <a:t>2. Debugging tool</a:t>
            </a:r>
            <a:endParaRPr lang="it-IT" dirty="0"/>
          </a:p>
          <a:p>
            <a:pPr lvl="1"/>
            <a:r>
              <a:rPr lang="it-IT" dirty="0"/>
              <a:t>If baseline works better than deep model:</a:t>
            </a:r>
          </a:p>
          <a:p>
            <a:pPr lvl="2"/>
            <a:r>
              <a:rPr lang="it-IT" dirty="0"/>
              <a:t>data problem</a:t>
            </a:r>
          </a:p>
          <a:p>
            <a:pPr lvl="2"/>
            <a:r>
              <a:rPr lang="it-IT" dirty="0"/>
              <a:t>training problem</a:t>
            </a:r>
          </a:p>
          <a:p>
            <a:pPr lvl="2"/>
            <a:r>
              <a:rPr lang="it-IT" dirty="0"/>
              <a:t>feature problem</a:t>
            </a:r>
          </a:p>
        </p:txBody>
      </p:sp>
    </p:spTree>
    <p:extLst>
      <p:ext uri="{BB962C8B-B14F-4D97-AF65-F5344CB8AC3E}">
        <p14:creationId xmlns:p14="http://schemas.microsoft.com/office/powerpoint/2010/main" val="1462940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7FA6-E679-8655-3C10-E1D83547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C13F-DB47-4370-DE62-ED16DD69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86828-F504-25A8-B8AA-887E6D42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05A52A-C034-49D3-A372-63FE637D1E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11776" y="1700808"/>
            <a:ext cx="10476472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Key concepts covered:</a:t>
            </a:r>
          </a:p>
          <a:p>
            <a:r>
              <a:rPr lang="en-US" dirty="0"/>
              <a:t>Bag-of-Words</a:t>
            </a:r>
          </a:p>
          <a:p>
            <a:pPr lvl="1"/>
            <a:r>
              <a:rPr lang="en-US" dirty="0"/>
              <a:t>Count-based representation</a:t>
            </a:r>
          </a:p>
          <a:p>
            <a:pPr lvl="1"/>
            <a:r>
              <a:rPr lang="en-US" dirty="0"/>
              <a:t>Ignores word order</a:t>
            </a:r>
          </a:p>
          <a:p>
            <a:pPr lvl="1"/>
            <a:r>
              <a:rPr lang="en-US" dirty="0"/>
              <a:t>Simple but effective</a:t>
            </a:r>
          </a:p>
          <a:p>
            <a:r>
              <a:rPr lang="en-US" dirty="0"/>
              <a:t>TF-IDF</a:t>
            </a:r>
          </a:p>
          <a:p>
            <a:pPr lvl="1"/>
            <a:r>
              <a:rPr lang="en-US" dirty="0"/>
              <a:t>Penalizes common words</a:t>
            </a:r>
          </a:p>
          <a:p>
            <a:pPr lvl="1"/>
            <a:r>
              <a:rPr lang="en-US" dirty="0"/>
              <a:t>Highlights informative words</a:t>
            </a:r>
          </a:p>
          <a:p>
            <a:r>
              <a:rPr lang="en-US" dirty="0"/>
              <a:t>Baseline Models</a:t>
            </a:r>
          </a:p>
          <a:p>
            <a:pPr lvl="1"/>
            <a:r>
              <a:rPr lang="en-US" dirty="0"/>
              <a:t>Provide performance benchmarks</a:t>
            </a:r>
          </a:p>
          <a:p>
            <a:pPr lvl="1"/>
            <a:r>
              <a:rPr lang="en-US" dirty="0"/>
              <a:t>Often built with TF-IDF + classical ML</a:t>
            </a:r>
          </a:p>
        </p:txBody>
      </p:sp>
    </p:spTree>
    <p:extLst>
      <p:ext uri="{BB962C8B-B14F-4D97-AF65-F5344CB8AC3E}">
        <p14:creationId xmlns:p14="http://schemas.microsoft.com/office/powerpoint/2010/main" val="1105400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64A-132F-A1FA-5133-6216C9E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92EF-D70A-938B-04A7-F8E3C271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2A23-B241-0541-DA04-99ADB0B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5920-88A7-BF52-118E-4C8DA12D9D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2050" name="Picture 2" descr="10 Motivational Quotes That Motivates Me Daily | by Amit Roy | Medium">
            <a:extLst>
              <a:ext uri="{FF2B5EF4-FFF2-40B4-BE49-F238E27FC236}">
                <a16:creationId xmlns:a16="http://schemas.microsoft.com/office/drawing/2014/main" id="{C4DEEC36-2A4E-18FA-4D46-5493D6CC3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16" y="1988840"/>
            <a:ext cx="3528368" cy="430702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7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7074</TotalTime>
  <Words>1107</Words>
  <Application>Microsoft Office PowerPoint</Application>
  <PresentationFormat>Widescreen</PresentationFormat>
  <Paragraphs>263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宋体</vt:lpstr>
      <vt:lpstr>Arial</vt:lpstr>
      <vt:lpstr>Bahnschrift SemiBold</vt:lpstr>
      <vt:lpstr>Calibri</vt:lpstr>
      <vt:lpstr>Cambria Math</vt:lpstr>
      <vt:lpstr>Congenial Black</vt:lpstr>
      <vt:lpstr>Wingdings</vt:lpstr>
      <vt:lpstr>Wingdings 2</vt:lpstr>
      <vt:lpstr>Median</vt:lpstr>
      <vt:lpstr>State history report presentation</vt:lpstr>
      <vt:lpstr>Equation</vt:lpstr>
      <vt:lpstr>Dr. Muzamil Ahmed (Assistant Professor)  Namal University Mianwali   </vt:lpstr>
      <vt:lpstr>Lesson from Quran</vt:lpstr>
      <vt:lpstr>Lecture Outline</vt:lpstr>
      <vt:lpstr>Motivation: Why Do We Need Text Representation?</vt:lpstr>
      <vt:lpstr>Types of Text Representations</vt:lpstr>
      <vt:lpstr>Count-Based Representations</vt:lpstr>
      <vt:lpstr>Dense Distributed Representations</vt:lpstr>
      <vt:lpstr>Bag-of-Words Representation</vt:lpstr>
      <vt:lpstr>Bag-of-Words Representation</vt:lpstr>
      <vt:lpstr>Bag-of-Words Representation</vt:lpstr>
      <vt:lpstr>Problem with Raw Word Counts</vt:lpstr>
      <vt:lpstr>Term Frequency</vt:lpstr>
      <vt:lpstr>Inverse Document Frequency (IDF)</vt:lpstr>
      <vt:lpstr>TF-IDF Weight</vt:lpstr>
      <vt:lpstr>Example</vt:lpstr>
      <vt:lpstr>Terms</vt:lpstr>
      <vt:lpstr>PowerPoint Presentation</vt:lpstr>
      <vt:lpstr>Document to document similarity</vt:lpstr>
      <vt:lpstr>Cosine Similarity</vt:lpstr>
      <vt:lpstr>Cosine Similarity</vt:lpstr>
      <vt:lpstr>Cosine Similarity</vt:lpstr>
      <vt:lpstr>Ranking</vt:lpstr>
      <vt:lpstr>Baseline Model: Text Classification</vt:lpstr>
      <vt:lpstr>Why Baselines Are Important</vt:lpstr>
      <vt:lpstr>Summary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Muzamil Ahmed</cp:lastModifiedBy>
  <cp:revision>590</cp:revision>
  <dcterms:created xsi:type="dcterms:W3CDTF">2012-01-21T01:40:52Z</dcterms:created>
  <dcterms:modified xsi:type="dcterms:W3CDTF">2026-03-18T03:55:45Z</dcterms:modified>
</cp:coreProperties>
</file>