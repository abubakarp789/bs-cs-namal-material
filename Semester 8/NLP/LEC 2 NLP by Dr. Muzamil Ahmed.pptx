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34"/>
  </p:notesMasterIdLst>
  <p:sldIdLst>
    <p:sldId id="257" r:id="rId3"/>
    <p:sldId id="259" r:id="rId4"/>
    <p:sldId id="360" r:id="rId5"/>
    <p:sldId id="446" r:id="rId6"/>
    <p:sldId id="282" r:id="rId7"/>
    <p:sldId id="285" r:id="rId8"/>
    <p:sldId id="284" r:id="rId9"/>
    <p:sldId id="447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03" r:id="rId18"/>
    <p:sldId id="258" r:id="rId19"/>
    <p:sldId id="445" r:id="rId20"/>
    <p:sldId id="260" r:id="rId21"/>
    <p:sldId id="261" r:id="rId22"/>
    <p:sldId id="265" r:id="rId23"/>
    <p:sldId id="455" r:id="rId24"/>
    <p:sldId id="456" r:id="rId25"/>
    <p:sldId id="457" r:id="rId26"/>
    <p:sldId id="458" r:id="rId27"/>
    <p:sldId id="459" r:id="rId28"/>
    <p:sldId id="460" r:id="rId29"/>
    <p:sldId id="461" r:id="rId30"/>
    <p:sldId id="462" r:id="rId31"/>
    <p:sldId id="463" r:id="rId32"/>
    <p:sldId id="423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86" autoAdjust="0"/>
  </p:normalViewPr>
  <p:slideViewPr>
    <p:cSldViewPr>
      <p:cViewPr varScale="1">
        <p:scale>
          <a:sx n="59" d="100"/>
          <a:sy n="59" d="100"/>
        </p:scale>
        <p:origin x="151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60721-94BF-4411-A1EA-5F660A4BE96A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D184-5CFF-481F-B21F-761C7DC0E7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971FF-EF28-4195-A575-329446EFAA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Balanced vs. Uniform Corpora</a:t>
            </a:r>
          </a:p>
          <a:p>
            <a:r>
              <a:rPr lang="en-US" b="1" dirty="0"/>
              <a:t>Balanced </a:t>
            </a:r>
            <a:r>
              <a:rPr lang="en-US" dirty="0"/>
              <a:t>This refers to how the text is distributed across genres or sources.</a:t>
            </a:r>
          </a:p>
          <a:p>
            <a:r>
              <a:rPr lang="en-US" dirty="0"/>
              <a:t>A </a:t>
            </a:r>
            <a:r>
              <a:rPr lang="en-US" b="1" dirty="0"/>
              <a:t>uniform corpus</a:t>
            </a:r>
            <a:r>
              <a:rPr lang="en-US" dirty="0"/>
              <a:t> focuses on one specific domain or style.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02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analyze text in NLP, we often treat it as data — tokens, vectors, embeddings.</a:t>
            </a:r>
          </a:p>
          <a:p>
            <a:r>
              <a:rPr lang="en-US" dirty="0"/>
              <a:t>But linguistically:</a:t>
            </a:r>
          </a:p>
          <a:p>
            <a:r>
              <a:rPr lang="en-US" dirty="0"/>
              <a:t>Every word choice reflects intention.</a:t>
            </a:r>
          </a:p>
          <a:p>
            <a:r>
              <a:rPr lang="en-US" dirty="0"/>
              <a:t>Every structure reflects context.</a:t>
            </a:r>
          </a:p>
          <a:p>
            <a:r>
              <a:rPr lang="en-US" dirty="0"/>
              <a:t>Every variation reflects social and historical factors.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53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70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EEG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Electroencephalographically means </a:t>
            </a:r>
            <a:r>
              <a:rPr lang="en-US" dirty="0"/>
              <a:t>relating to the recording of the brain's spontaneous electrical activity (brain waves) using sensors (electrodes) placed on the scalp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19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Porter Stemmer</a:t>
            </a:r>
            <a:r>
              <a:rPr lang="en-US" dirty="0"/>
              <a:t> is one of the most famous stemming algorithms.</a:t>
            </a:r>
          </a:p>
          <a:p>
            <a:r>
              <a:rPr lang="en-US" dirty="0"/>
              <a:t>It works by:</a:t>
            </a:r>
          </a:p>
          <a:p>
            <a:r>
              <a:rPr lang="en-US" dirty="0"/>
              <a:t>Applying a sequence of rule-based suffix stripping steps</a:t>
            </a:r>
          </a:p>
          <a:p>
            <a:r>
              <a:rPr lang="en-US" dirty="0"/>
              <a:t>Checking conditions before removing endings</a:t>
            </a:r>
          </a:p>
          <a:p>
            <a:r>
              <a:rPr lang="en-US" dirty="0"/>
              <a:t>Progressively simplifying the word</a:t>
            </a:r>
          </a:p>
          <a:p>
            <a:r>
              <a:rPr lang="en-US" dirty="0"/>
              <a:t>Example rules:</a:t>
            </a:r>
          </a:p>
          <a:p>
            <a:r>
              <a:rPr lang="en-US" dirty="0"/>
              <a:t>Remove “</a:t>
            </a:r>
            <a:r>
              <a:rPr lang="en-US" dirty="0" err="1"/>
              <a:t>ing</a:t>
            </a:r>
            <a:r>
              <a:rPr lang="en-US" dirty="0"/>
              <a:t>” if certain conditions hold</a:t>
            </a:r>
          </a:p>
          <a:p>
            <a:r>
              <a:rPr lang="en-US" dirty="0"/>
              <a:t>Replace “</a:t>
            </a:r>
            <a:r>
              <a:rPr lang="en-US" dirty="0" err="1"/>
              <a:t>ies</a:t>
            </a:r>
            <a:r>
              <a:rPr lang="en-US" dirty="0"/>
              <a:t>” with “</a:t>
            </a:r>
            <a:r>
              <a:rPr lang="en-US" dirty="0" err="1"/>
              <a:t>i</a:t>
            </a:r>
            <a:r>
              <a:rPr lang="en-US" dirty="0"/>
              <a:t>”</a:t>
            </a:r>
          </a:p>
          <a:p>
            <a:r>
              <a:rPr lang="en-US" dirty="0"/>
              <a:t>Remove “ed” in specific contexts</a:t>
            </a:r>
          </a:p>
          <a:p>
            <a:r>
              <a:rPr lang="en-US" dirty="0"/>
              <a:t>It is:</a:t>
            </a:r>
          </a:p>
          <a:p>
            <a:r>
              <a:rPr lang="en-US" dirty="0"/>
              <a:t>Fast</a:t>
            </a:r>
          </a:p>
          <a:p>
            <a:r>
              <a:rPr lang="en-US" dirty="0"/>
              <a:t>Lightweight</a:t>
            </a:r>
          </a:p>
          <a:p>
            <a:r>
              <a:rPr lang="en-US" dirty="0"/>
              <a:t>Rule-based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98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0C0D7E8-BF32-438F-84C1-648083C955EA}" type="datetime1">
              <a:rPr lang="en-US" smtClean="0"/>
              <a:t>3/3/2026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5222-7FFD-458D-AA7A-4839D09D2800}" type="datetime1">
              <a:rPr lang="en-US" smtClean="0"/>
              <a:t>3/3/2026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5447-4F93-453B-9334-D6376E7308C7}" type="datetime1">
              <a:rPr lang="en-US" smtClean="0"/>
              <a:t>3/3/2026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4E7F0E-8329-46BA-AEFC-B25BD543546E}" type="datetime1">
              <a:rPr lang="en-US" smtClean="0"/>
              <a:t>3/3/2026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397755-24C4-4CB8-A24E-CE875D52ADFE}" type="datetime1">
              <a:rPr lang="en-US" smtClean="0"/>
              <a:t>3/3/2026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BC2-AD67-4B36-8D3D-00D5A970F27C}" type="datetime1">
              <a:rPr lang="en-US" smtClean="0"/>
              <a:t>3/3/2026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7C5A3-E0F5-420B-BF58-C61AC76EA112}" type="datetime1">
              <a:rPr lang="en-US" smtClean="0"/>
              <a:t>3/3/2026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648-7D39-4045-95DD-019E6055DCA9}" type="datetime1">
              <a:rPr lang="en-US" smtClean="0"/>
              <a:t>3/3/2026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34AD72A-2615-44F1-AEE6-5D7304D3515A}" type="datetime1">
              <a:rPr lang="en-US" smtClean="0"/>
              <a:t>3/3/2026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0B56-782F-4474-B90E-D53FC6B5852A}" type="datetime1">
              <a:rPr lang="en-US" smtClean="0"/>
              <a:t>3/3/2026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9E114A5-3191-4D8F-942E-022FACD68F64}" type="datetime1">
              <a:rPr lang="en-US" smtClean="0"/>
              <a:t>3/3/2026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921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4740" y="3175"/>
            <a:ext cx="771726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0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655C-B830-4E55-B43E-F6625671B34E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C6BC-A433-4696-A465-46BA6A0105BF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60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C1DB-864B-4661-A723-56F9D948027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CC8-A8E5-4BF9-AE4A-CA7C2E5CCD9A}" type="datetime1">
              <a:rPr lang="en-US" smtClean="0"/>
              <a:t>3/3/2026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0841-724E-4D0C-B909-EAC4BCECF5C4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EE21-688A-43E1-B3F7-A0F14FE370C9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7342" y="685800"/>
            <a:ext cx="564026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0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22FA-491E-405E-B06C-DE8D819FF033}" type="datetime1">
              <a:rPr lang="en-US" smtClean="0"/>
              <a:t>3/3/2026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1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B28-5721-43C7-BA9D-5C4CB5E839B6}" type="datetime1">
              <a:rPr lang="en-US" smtClean="0"/>
              <a:t>3/3/2026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E93-C28B-4E69-97C0-5D3668E3DABE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F19E-BC11-4124-A139-2E5CC8169839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B70B3A-F527-4D79-87DD-D1847B721911}" type="datetime1">
              <a:rPr lang="en-US" smtClean="0"/>
              <a:t>3/3/2026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B92C6DA7-2534-4EE1-AE5D-0AFAED58DEB3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6.0949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www.nltk.org/nltk_data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9DA5A3-D44A-2CEB-B6E0-8625CE59C7CB}"/>
              </a:ext>
            </a:extLst>
          </p:cNvPr>
          <p:cNvSpPr/>
          <p:nvPr/>
        </p:nvSpPr>
        <p:spPr>
          <a:xfrm>
            <a:off x="0" y="606620"/>
            <a:ext cx="12192000" cy="1431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6B468-B8BE-3B89-CA0C-D4FEC54512FB}"/>
              </a:ext>
            </a:extLst>
          </p:cNvPr>
          <p:cNvSpPr txBox="1">
            <a:spLocks/>
          </p:cNvSpPr>
          <p:nvPr/>
        </p:nvSpPr>
        <p:spPr>
          <a:xfrm>
            <a:off x="1173444" y="962158"/>
            <a:ext cx="8237209" cy="706184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dirty="0">
                <a:solidFill>
                  <a:prstClr val="white"/>
                </a:solidFill>
                <a:latin typeface="Congenial Black" panose="020B0604020202020204" pitchFamily="2" charset="0"/>
              </a:rPr>
              <a:t>Natural Language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C1428-F5BA-E671-7907-EECA8DA932A4}"/>
              </a:ext>
            </a:extLst>
          </p:cNvPr>
          <p:cNvSpPr/>
          <p:nvPr/>
        </p:nvSpPr>
        <p:spPr>
          <a:xfrm>
            <a:off x="0" y="2038486"/>
            <a:ext cx="12192000" cy="1663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E19DF-522F-D9E4-DCF5-C849E42ED1DF}"/>
              </a:ext>
            </a:extLst>
          </p:cNvPr>
          <p:cNvSpPr/>
          <p:nvPr/>
        </p:nvSpPr>
        <p:spPr>
          <a:xfrm>
            <a:off x="-9547" y="5522341"/>
            <a:ext cx="12188824" cy="8538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FF"/>
              </a:highlight>
              <a:latin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920A4E-F7D4-C7D9-8A43-FA9E112C0EF2}"/>
              </a:ext>
            </a:extLst>
          </p:cNvPr>
          <p:cNvSpPr txBox="1">
            <a:spLocks/>
          </p:cNvSpPr>
          <p:nvPr/>
        </p:nvSpPr>
        <p:spPr>
          <a:xfrm>
            <a:off x="1686918" y="2750357"/>
            <a:ext cx="9122964" cy="1298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Text Preprocessing, Tokenization, Linguistic Basics</a:t>
            </a:r>
            <a:endParaRPr lang="de-AT" sz="24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62" y="5737273"/>
            <a:ext cx="9361040" cy="853877"/>
          </a:xfrm>
        </p:spPr>
        <p:txBody>
          <a:bodyPr>
            <a:noAutofit/>
          </a:bodyPr>
          <a:lstStyle/>
          <a:p>
            <a:r>
              <a:rPr lang="de-DE" sz="2800" b="1" cap="none" dirty="0">
                <a:solidFill>
                  <a:schemeClr val="tx1"/>
                </a:solidFill>
              </a:rPr>
              <a:t>Dr. Muzamil Ahmed </a:t>
            </a:r>
            <a:r>
              <a:rPr lang="de-DE" sz="2800" cap="none" dirty="0">
                <a:solidFill>
                  <a:schemeClr val="tx1"/>
                </a:solidFill>
              </a:rPr>
              <a:t>(Assistant Professor) </a:t>
            </a:r>
            <a:br>
              <a:rPr lang="de-DE" sz="2800" cap="none" dirty="0">
                <a:solidFill>
                  <a:schemeClr val="tx1"/>
                </a:solidFill>
              </a:rPr>
            </a:br>
            <a:r>
              <a:rPr lang="de-DE" sz="2800" cap="none" dirty="0">
                <a:solidFill>
                  <a:schemeClr val="tx1"/>
                </a:solidFill>
              </a:rPr>
              <a:t>Namal University Mianwali </a:t>
            </a:r>
            <a:br>
              <a:rPr lang="de-DE" sz="1600" cap="none" dirty="0">
                <a:solidFill>
                  <a:schemeClr val="tx1"/>
                </a:solidFill>
              </a:rPr>
            </a:br>
            <a:r>
              <a:rPr lang="de-DE" sz="1600" cap="none" dirty="0">
                <a:solidFill>
                  <a:schemeClr val="tx1"/>
                </a:solidFill>
              </a:rPr>
              <a:t> </a:t>
            </a:r>
            <a:endParaRPr lang="de-AT" sz="2800" cap="none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93903-47AA-AF8B-6E92-B1AE3E48B5A3}"/>
              </a:ext>
            </a:extLst>
          </p:cNvPr>
          <p:cNvGrpSpPr/>
          <p:nvPr/>
        </p:nvGrpSpPr>
        <p:grpSpPr>
          <a:xfrm>
            <a:off x="431404" y="5002713"/>
            <a:ext cx="1487250" cy="1612480"/>
            <a:chOff x="10056440" y="495816"/>
            <a:chExt cx="1487250" cy="161248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0F7D5EC-7610-5903-A5B2-9CCAEB379BE6}"/>
                </a:ext>
              </a:extLst>
            </p:cNvPr>
            <p:cNvSpPr/>
            <p:nvPr/>
          </p:nvSpPr>
          <p:spPr>
            <a:xfrm>
              <a:off x="10056440" y="495816"/>
              <a:ext cx="1487250" cy="161248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 descr="A green shield with gold leaves&#10;&#10;Description automatically generated">
              <a:extLst>
                <a:ext uri="{FF2B5EF4-FFF2-40B4-BE49-F238E27FC236}">
                  <a16:creationId xmlns:a16="http://schemas.microsoft.com/office/drawing/2014/main" id="{6CB1C283-04D7-CF74-28D6-296B5A1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064" y="704181"/>
              <a:ext cx="1342001" cy="1342001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D114AB5-BD09-C757-50AF-421E9699DA51}"/>
              </a:ext>
            </a:extLst>
          </p:cNvPr>
          <p:cNvSpPr txBox="1">
            <a:spLocks/>
          </p:cNvSpPr>
          <p:nvPr/>
        </p:nvSpPr>
        <p:spPr>
          <a:xfrm>
            <a:off x="2269899" y="4594459"/>
            <a:ext cx="7652201" cy="828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3200" b="1" cap="non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49D67D-5455-A72F-934C-48CF4FDE0E0A}"/>
              </a:ext>
            </a:extLst>
          </p:cNvPr>
          <p:cNvSpPr txBox="1">
            <a:spLocks/>
          </p:cNvSpPr>
          <p:nvPr/>
        </p:nvSpPr>
        <p:spPr>
          <a:xfrm>
            <a:off x="6588828" y="5761236"/>
            <a:ext cx="5210937" cy="4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16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6 Real-World Examples of AI Natural Language Processing | expert.ai">
            <a:extLst>
              <a:ext uri="{FF2B5EF4-FFF2-40B4-BE49-F238E27FC236}">
                <a16:creationId xmlns:a16="http://schemas.microsoft.com/office/drawing/2014/main" id="{B50F3C57-A621-0E06-D811-17732AF6A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32" name="Picture 8" descr="Key Areas of NLP in Real-Time Decision-Making :: PM Expert">
            <a:extLst>
              <a:ext uri="{FF2B5EF4-FFF2-40B4-BE49-F238E27FC236}">
                <a16:creationId xmlns:a16="http://schemas.microsoft.com/office/drawing/2014/main" id="{CC798F2F-987A-EA50-00D1-3DC217F6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956" y="601022"/>
            <a:ext cx="2405763" cy="160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D4C-B7BC-4D60-AEB7-993BD6A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Quran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D923-B994-4D8D-9943-457F4205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</a:t>
            </a:fld>
            <a:endParaRPr lang="en-US"/>
          </a:p>
        </p:txBody>
      </p:sp>
      <p:pic>
        <p:nvPicPr>
          <p:cNvPr id="3074" name="Picture 2" descr="Pin by Sakinah 'Tranquility' on Tawakkulillah | Quran quotes, Quran quotes  love, Quran quotes verses">
            <a:extLst>
              <a:ext uri="{FF2B5EF4-FFF2-40B4-BE49-F238E27FC236}">
                <a16:creationId xmlns:a16="http://schemas.microsoft.com/office/drawing/2014/main" id="{211A796F-ABD9-D6AE-151E-A2294D2B5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4" y="1844824"/>
            <a:ext cx="4523081" cy="452308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5422-EED2-4AC9-B449-4E4B1B2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96ED-4830-4384-A83E-49C80C05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916832"/>
            <a:ext cx="10871200" cy="4495800"/>
          </a:xfrm>
        </p:spPr>
        <p:txBody>
          <a:bodyPr>
            <a:normAutofit/>
          </a:bodyPr>
          <a:lstStyle/>
          <a:p>
            <a:r>
              <a:rPr lang="it-IT" spc="-29" dirty="0"/>
              <a:t>Corpora</a:t>
            </a:r>
            <a:endParaRPr lang="en-US" dirty="0"/>
          </a:p>
          <a:p>
            <a:r>
              <a:rPr lang="en-US" dirty="0"/>
              <a:t>Regular Expressions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0E8-4035-41DE-ADFD-837186ED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9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FC0E4-2A41-7928-FD18-A54BE59B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8557-AC2D-C546-C176-EAEE07D4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Data is Superficial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A670C-6087-F829-6C86-DAB1C94FB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705959"/>
            <a:ext cx="5435600" cy="4495800"/>
          </a:xfrm>
        </p:spPr>
        <p:txBody>
          <a:bodyPr>
            <a:normAutofit/>
          </a:bodyPr>
          <a:lstStyle/>
          <a:p>
            <a:r>
              <a:rPr lang="en-US" dirty="0"/>
              <a:t>An iceberg is a large piece of freshwater ice that has broken off from a snow-formed glacier or ice shelf and is floating in open water.</a:t>
            </a:r>
          </a:p>
          <a:p>
            <a:r>
              <a:rPr lang="en-US" dirty="0"/>
              <a:t>… But Language is Complex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73527-22E6-A492-7F93-82D1EC8C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040F7-DFE8-A133-8FF5-2B190AF39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849"/>
          <a:stretch>
            <a:fillRect/>
          </a:stretch>
        </p:blipFill>
        <p:spPr>
          <a:xfrm>
            <a:off x="6862203" y="0"/>
            <a:ext cx="5344605" cy="2204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7B7B19-8BDA-E670-8139-D01167743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150"/>
          <a:stretch>
            <a:fillRect/>
          </a:stretch>
        </p:blipFill>
        <p:spPr>
          <a:xfrm>
            <a:off x="6862203" y="2204864"/>
            <a:ext cx="5344605" cy="4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7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lang="it-IT" spc="-29" dirty="0"/>
              <a:t>Corpora</a:t>
            </a:r>
            <a:endParaRPr spc="-58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59480-1EDE-D2FB-5206-6A03D652F4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7295360" cy="51411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corpus is a collection of text</a:t>
            </a:r>
          </a:p>
          <a:p>
            <a:pPr lvl="1"/>
            <a:r>
              <a:rPr lang="en-US" dirty="0"/>
              <a:t>Often annotated in some way</a:t>
            </a:r>
          </a:p>
          <a:p>
            <a:pPr lvl="1"/>
            <a:r>
              <a:rPr lang="en-US" dirty="0"/>
              <a:t>Sometimes just lots of text</a:t>
            </a:r>
          </a:p>
          <a:p>
            <a:pPr lvl="1"/>
            <a:r>
              <a:rPr lang="en-US" dirty="0"/>
              <a:t>Balanced vs. uniform corpora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Newswire collections: 500M+ words (</a:t>
            </a:r>
            <a:r>
              <a:rPr lang="en-US" dirty="0">
                <a:hlinkClick r:id="rId3"/>
              </a:rPr>
              <a:t>https://arxiv.org/abs/2406.09490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Brown corpus: 1M words of tagged “balanced” text</a:t>
            </a:r>
          </a:p>
          <a:p>
            <a:pPr lvl="1"/>
            <a:r>
              <a:rPr lang="en-US" dirty="0"/>
              <a:t>The Web: billions of words of who knows what</a:t>
            </a:r>
          </a:p>
          <a:p>
            <a:pPr lvl="1"/>
            <a:r>
              <a:rPr lang="en-US" dirty="0"/>
              <a:t>NLTK Corpora : </a:t>
            </a:r>
            <a:r>
              <a:rPr lang="en-US" dirty="0">
                <a:hlinkClick r:id="rId4"/>
              </a:rPr>
              <a:t>https://www.nltk.org/nltk_data/</a:t>
            </a:r>
            <a:r>
              <a:rPr lang="en-US" dirty="0"/>
              <a:t> 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F57A5-9551-7C3C-E69A-B93F6FF92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56" y="1557401"/>
            <a:ext cx="3695583" cy="5071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720" y="259353"/>
            <a:ext cx="9059333" cy="687795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spc="-71" dirty="0"/>
              <a:t>Corpora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9416" y="1772816"/>
            <a:ext cx="10657184" cy="3375582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 marR="4233">
              <a:lnSpc>
                <a:spcPct val="112900"/>
              </a:lnSpc>
              <a:spcBef>
                <a:spcPts val="83"/>
              </a:spcBef>
            </a:pPr>
            <a:r>
              <a:rPr sz="3200" spc="-21" dirty="0">
                <a:solidFill>
                  <a:srgbClr val="404040"/>
                </a:solidFill>
                <a:latin typeface="Calibri"/>
                <a:cs typeface="Calibri"/>
              </a:rPr>
              <a:t>Words</a:t>
            </a:r>
            <a:r>
              <a:rPr sz="3200" spc="-8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sz="3200" spc="-8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appear</a:t>
            </a:r>
            <a:r>
              <a:rPr sz="3200" spc="-9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out</a:t>
            </a:r>
            <a:r>
              <a:rPr sz="3200" spc="-8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200" spc="-8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8" dirty="0">
                <a:solidFill>
                  <a:srgbClr val="404040"/>
                </a:solidFill>
                <a:latin typeface="Calibri"/>
                <a:cs typeface="Calibri"/>
              </a:rPr>
              <a:t>nowhere!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2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32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200" spc="-8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produced</a:t>
            </a:r>
            <a:r>
              <a:rPr sz="3200" spc="-8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21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3200" dirty="0">
              <a:latin typeface="Calibri"/>
              <a:cs typeface="Calibri"/>
            </a:endParaRPr>
          </a:p>
          <a:p>
            <a:pPr marL="625979" indent="-300025">
              <a:spcBef>
                <a:spcPts val="500"/>
              </a:spcBef>
              <a:buClr>
                <a:srgbClr val="E48312"/>
              </a:buClr>
              <a:buFont typeface="Arial MT"/>
              <a:buChar char="•"/>
              <a:tabLst>
                <a:tab pos="625979" algn="l"/>
              </a:tabLst>
            </a:pP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200" spc="-6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3200" spc="-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8" dirty="0">
                <a:solidFill>
                  <a:srgbClr val="404040"/>
                </a:solidFill>
                <a:latin typeface="Calibri"/>
                <a:cs typeface="Calibri"/>
              </a:rPr>
              <a:t>writer(s),</a:t>
            </a:r>
            <a:endParaRPr sz="3200" dirty="0">
              <a:latin typeface="Calibri"/>
              <a:cs typeface="Calibri"/>
            </a:endParaRPr>
          </a:p>
          <a:p>
            <a:pPr marL="625979" indent="-300025">
              <a:spcBef>
                <a:spcPts val="579"/>
              </a:spcBef>
              <a:buClr>
                <a:srgbClr val="E48312"/>
              </a:buClr>
              <a:buFont typeface="Arial MT"/>
              <a:buChar char="•"/>
              <a:tabLst>
                <a:tab pos="625979" algn="l"/>
              </a:tabLst>
            </a:pP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3200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200" spc="-6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3200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8" dirty="0">
                <a:solidFill>
                  <a:srgbClr val="404040"/>
                </a:solidFill>
                <a:latin typeface="Calibri"/>
                <a:cs typeface="Calibri"/>
              </a:rPr>
              <a:t>time,</a:t>
            </a:r>
            <a:endParaRPr sz="3200" dirty="0">
              <a:latin typeface="Calibri"/>
              <a:cs typeface="Calibri"/>
            </a:endParaRPr>
          </a:p>
          <a:p>
            <a:pPr marL="625979" indent="-300025">
              <a:spcBef>
                <a:spcPts val="500"/>
              </a:spcBef>
              <a:buClr>
                <a:srgbClr val="E48312"/>
              </a:buClr>
              <a:buFont typeface="Arial MT"/>
              <a:buChar char="•"/>
              <a:tabLst>
                <a:tab pos="625979" algn="l"/>
              </a:tabLst>
            </a:pP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200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200" spc="-7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3200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8" dirty="0">
                <a:solidFill>
                  <a:srgbClr val="404040"/>
                </a:solidFill>
                <a:latin typeface="Calibri"/>
                <a:cs typeface="Calibri"/>
              </a:rPr>
              <a:t>variety,</a:t>
            </a:r>
            <a:endParaRPr sz="3200" dirty="0">
              <a:latin typeface="Calibri"/>
              <a:cs typeface="Calibri"/>
            </a:endParaRPr>
          </a:p>
          <a:p>
            <a:pPr marL="625979" indent="-300025">
              <a:spcBef>
                <a:spcPts val="579"/>
              </a:spcBef>
              <a:buClr>
                <a:srgbClr val="E48312"/>
              </a:buClr>
              <a:buFont typeface="Arial MT"/>
              <a:buChar char="•"/>
              <a:tabLst>
                <a:tab pos="625979" algn="l"/>
              </a:tabLst>
            </a:pP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200" spc="-7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200" spc="-6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3200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8" dirty="0">
                <a:solidFill>
                  <a:srgbClr val="404040"/>
                </a:solidFill>
                <a:latin typeface="Calibri"/>
                <a:cs typeface="Calibri"/>
              </a:rPr>
              <a:t>language,</a:t>
            </a:r>
            <a:endParaRPr sz="3200" dirty="0">
              <a:latin typeface="Calibri"/>
              <a:cs typeface="Calibri"/>
            </a:endParaRPr>
          </a:p>
          <a:p>
            <a:pPr marL="625979" indent="-300025">
              <a:spcBef>
                <a:spcPts val="500"/>
              </a:spcBef>
              <a:buClr>
                <a:srgbClr val="E48312"/>
              </a:buClr>
              <a:buFont typeface="Arial MT"/>
              <a:buChar char="•"/>
              <a:tabLst>
                <a:tab pos="625979" algn="l"/>
              </a:tabLst>
            </a:pP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200" spc="-9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2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3200" spc="-8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200" spc="-8" dirty="0">
                <a:solidFill>
                  <a:srgbClr val="404040"/>
                </a:solidFill>
                <a:latin typeface="Calibri"/>
                <a:cs typeface="Calibri"/>
              </a:rPr>
              <a:t>function.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720" y="259353"/>
            <a:ext cx="9059333" cy="687795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spc="-29" dirty="0"/>
              <a:t>How</a:t>
            </a:r>
            <a:r>
              <a:rPr spc="-196" dirty="0"/>
              <a:t> </a:t>
            </a:r>
            <a:r>
              <a:rPr spc="-58" dirty="0"/>
              <a:t>many</a:t>
            </a:r>
            <a:r>
              <a:rPr spc="-183" dirty="0"/>
              <a:t> </a:t>
            </a:r>
            <a:r>
              <a:rPr spc="-79" dirty="0"/>
              <a:t>words</a:t>
            </a:r>
            <a:r>
              <a:rPr spc="-187" dirty="0"/>
              <a:t> </a:t>
            </a:r>
            <a:r>
              <a:rPr dirty="0"/>
              <a:t>in</a:t>
            </a:r>
            <a:r>
              <a:rPr spc="-175" dirty="0"/>
              <a:t> </a:t>
            </a:r>
            <a:r>
              <a:rPr dirty="0"/>
              <a:t>a</a:t>
            </a:r>
            <a:r>
              <a:rPr spc="-179" dirty="0"/>
              <a:t> </a:t>
            </a:r>
            <a:r>
              <a:rPr spc="-46" dirty="0"/>
              <a:t>corpus?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384" y="1392028"/>
            <a:ext cx="8924925" cy="1270241"/>
          </a:xfrm>
          <a:prstGeom prst="rect">
            <a:avLst/>
          </a:prstGeom>
        </p:spPr>
        <p:txBody>
          <a:bodyPr vert="horz" wrap="square" lIns="0" tIns="152929" rIns="0" bIns="0" rtlCol="0">
            <a:spAutoFit/>
          </a:bodyPr>
          <a:lstStyle/>
          <a:p>
            <a:pPr marL="10583">
              <a:spcBef>
                <a:spcPts val="1204"/>
              </a:spcBef>
            </a:pPr>
            <a:r>
              <a:rPr sz="3167" b="1" i="1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3167" b="1" i="1" spc="1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3167" spc="2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167" spc="1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tokens</a:t>
            </a:r>
            <a:endParaRPr sz="3167" dirty="0">
              <a:latin typeface="Calibri"/>
              <a:cs typeface="Calibri"/>
            </a:endParaRPr>
          </a:p>
          <a:p>
            <a:pPr marL="10583">
              <a:spcBef>
                <a:spcPts val="1117"/>
              </a:spcBef>
            </a:pPr>
            <a:r>
              <a:rPr sz="3167" b="1" i="1" dirty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sz="3167" b="1" i="1" spc="1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vocabulary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3167" spc="-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types,</a:t>
            </a:r>
            <a:r>
              <a:rPr sz="3167" spc="1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b="1" dirty="0">
                <a:solidFill>
                  <a:srgbClr val="404040"/>
                </a:solidFill>
                <a:latin typeface="Calibri"/>
                <a:cs typeface="Calibri"/>
              </a:rPr>
              <a:t>|</a:t>
            </a:r>
            <a:r>
              <a:rPr sz="3167" b="1" i="1" dirty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sz="3167" b="1" dirty="0">
                <a:solidFill>
                  <a:srgbClr val="404040"/>
                </a:solidFill>
                <a:latin typeface="Calibri"/>
                <a:cs typeface="Calibri"/>
              </a:rPr>
              <a:t>|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size</a:t>
            </a:r>
            <a:r>
              <a:rPr sz="3167" spc="1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vocabulary</a:t>
            </a:r>
            <a:endParaRPr sz="3167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0217" y="2698390"/>
            <a:ext cx="4618567" cy="537006"/>
          </a:xfrm>
          <a:prstGeom prst="rect">
            <a:avLst/>
          </a:prstGeom>
        </p:spPr>
        <p:txBody>
          <a:bodyPr vert="horz" wrap="square" lIns="0" tIns="11113" rIns="0" bIns="0" rtlCol="0">
            <a:spAutoFit/>
          </a:bodyPr>
          <a:lstStyle/>
          <a:p>
            <a:pPr marL="31749">
              <a:spcBef>
                <a:spcPts val="87"/>
              </a:spcBef>
              <a:tabLst>
                <a:tab pos="4036322" algn="l"/>
              </a:tabLst>
            </a:pP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Heaps</a:t>
            </a:r>
            <a:r>
              <a:rPr sz="2667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Law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667" spc="-4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Herdan's</a:t>
            </a:r>
            <a:r>
              <a:rPr sz="2667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Law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spc="-42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5125" i="1" spc="-50" baseline="-9485" dirty="0">
                <a:latin typeface="Arial"/>
                <a:cs typeface="Arial"/>
              </a:rPr>
              <a:t>|</a:t>
            </a:r>
            <a:r>
              <a:rPr sz="5125" i="1" spc="-50" baseline="-9485" dirty="0">
                <a:latin typeface="Times New Roman"/>
                <a:cs typeface="Times New Roman"/>
              </a:rPr>
              <a:t>V</a:t>
            </a:r>
            <a:r>
              <a:rPr sz="5125" i="1" spc="-599" baseline="-9485" dirty="0">
                <a:latin typeface="Times New Roman"/>
                <a:cs typeface="Times New Roman"/>
              </a:rPr>
              <a:t> </a:t>
            </a:r>
            <a:r>
              <a:rPr sz="5125" i="1" spc="56" baseline="-9485" dirty="0">
                <a:latin typeface="Arial"/>
                <a:cs typeface="Arial"/>
              </a:rPr>
              <a:t>|</a:t>
            </a:r>
            <a:endParaRPr sz="5125" baseline="-9485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7595" y="2794109"/>
            <a:ext cx="3463925" cy="421120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2667" spc="-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often</a:t>
            </a:r>
            <a:r>
              <a:rPr sz="2667" spc="-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.67</a:t>
            </a:r>
            <a:r>
              <a:rPr sz="2667" spc="-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&lt;</a:t>
            </a:r>
            <a:r>
              <a:rPr sz="2667" spc="-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β</a:t>
            </a:r>
            <a:r>
              <a:rPr sz="2667" spc="-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&lt;</a:t>
            </a:r>
            <a:r>
              <a:rPr sz="2667" spc="-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spc="-21" dirty="0">
                <a:solidFill>
                  <a:srgbClr val="404040"/>
                </a:solidFill>
                <a:latin typeface="Calibri"/>
                <a:cs typeface="Calibri"/>
              </a:rPr>
              <a:t>.75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384" y="3345289"/>
            <a:ext cx="10378017" cy="421120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i.e.,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vocabulary</a:t>
            </a:r>
            <a:r>
              <a:rPr sz="2667" spc="-6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size</a:t>
            </a:r>
            <a:r>
              <a:rPr sz="2667" spc="-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grows</a:t>
            </a:r>
            <a:r>
              <a:rPr sz="2667" spc="-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&gt;</a:t>
            </a:r>
            <a:r>
              <a:rPr sz="2667" spc="-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square</a:t>
            </a:r>
            <a:r>
              <a:rPr sz="2667" spc="-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root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67" spc="-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spc="-8" dirty="0">
                <a:solidFill>
                  <a:srgbClr val="404040"/>
                </a:solidFill>
                <a:latin typeface="Calibri"/>
                <a:cs typeface="Calibri"/>
              </a:rPr>
              <a:t>tokens</a:t>
            </a:r>
            <a:endParaRPr sz="2667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338193"/>
              </p:ext>
            </p:extLst>
          </p:nvPr>
        </p:nvGraphicFramePr>
        <p:xfrm>
          <a:off x="858301" y="3988330"/>
          <a:ext cx="10464800" cy="2640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1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Tokens</a:t>
                      </a:r>
                      <a:r>
                        <a:rPr sz="27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7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Types</a:t>
                      </a:r>
                      <a:r>
                        <a:rPr sz="27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7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|V|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Switchboard</a:t>
                      </a:r>
                      <a:r>
                        <a:rPr sz="27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phone</a:t>
                      </a:r>
                      <a:r>
                        <a:rPr sz="27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conversations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2.4</a:t>
                      </a:r>
                      <a:r>
                        <a:rPr sz="27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million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thousand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Shakespeare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884,000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31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thousand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COCA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440</a:t>
                      </a:r>
                      <a:r>
                        <a:rPr sz="27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million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million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27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N-</a:t>
                      </a:r>
                      <a:r>
                        <a:rPr sz="2700" spc="-20" dirty="0">
                          <a:latin typeface="Calibri"/>
                          <a:cs typeface="Calibri"/>
                        </a:rPr>
                        <a:t>grams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trillion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13+</a:t>
                      </a:r>
                      <a:r>
                        <a:rPr sz="27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million</a:t>
                      </a:r>
                      <a:endParaRPr sz="2700" dirty="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350657" y="2774415"/>
            <a:ext cx="1389592" cy="537071"/>
          </a:xfrm>
          <a:prstGeom prst="rect">
            <a:avLst/>
          </a:prstGeom>
        </p:spPr>
        <p:txBody>
          <a:bodyPr vert="horz" wrap="square" lIns="0" tIns="11113" rIns="0" bIns="0" rtlCol="0">
            <a:spAutoFit/>
          </a:bodyPr>
          <a:lstStyle/>
          <a:p>
            <a:pPr marL="31749">
              <a:spcBef>
                <a:spcPts val="87"/>
              </a:spcBef>
              <a:tabLst>
                <a:tab pos="640795" algn="l"/>
              </a:tabLst>
            </a:pPr>
            <a:r>
              <a:rPr sz="3417" spc="-42" dirty="0">
                <a:latin typeface="Lucida Sans Unicode"/>
                <a:cs typeface="Lucida Sans Unicode"/>
              </a:rPr>
              <a:t>=</a:t>
            </a:r>
            <a:r>
              <a:rPr sz="3417" dirty="0">
                <a:latin typeface="Lucida Sans Unicode"/>
                <a:cs typeface="Lucida Sans Unicode"/>
              </a:rPr>
              <a:t>	</a:t>
            </a:r>
            <a:r>
              <a:rPr sz="3417" i="1" spc="87" dirty="0">
                <a:latin typeface="Times New Roman"/>
                <a:cs typeface="Times New Roman"/>
              </a:rPr>
              <a:t>kN</a:t>
            </a:r>
            <a:r>
              <a:rPr sz="3750" i="1" spc="131" baseline="31481" dirty="0">
                <a:latin typeface="Arial"/>
                <a:cs typeface="Arial"/>
              </a:rPr>
              <a:t>b</a:t>
            </a:r>
            <a:endParaRPr sz="3750" baseline="3148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1EBA9-FB8E-09DF-5AAD-D1822B50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Nature of Raw Text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5EF7E-0563-3DA3-2048-B3F35C07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8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95DA2-E89A-3BC0-15E2-17FC88E0AF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Natural language data, as collected from web pages, books, transcripts, or social media, is not immediately usable by computational models. </a:t>
            </a:r>
          </a:p>
          <a:p>
            <a:r>
              <a:rPr lang="en-US" dirty="0"/>
              <a:t>What we call “text” is, at the machine level, simply a sequence of characters encoded in Unicode. </a:t>
            </a:r>
          </a:p>
          <a:p>
            <a:r>
              <a:rPr lang="en-US" dirty="0"/>
              <a:t>There is no inherent notion of words, sentences, or meaning — only symbols arranged in sequence.</a:t>
            </a:r>
          </a:p>
          <a:p>
            <a:r>
              <a:rPr lang="en-US" dirty="0"/>
              <a:t>Consider the string: Dr. Ali’s students aren’t coming at 9:00 a.m.!!!</a:t>
            </a:r>
          </a:p>
          <a:p>
            <a:r>
              <a:rPr lang="en-US" dirty="0"/>
              <a:t>A human reader immediately recognizes titles, possessives, contractions, time expressions, and sentence structure. A machine sees a linear character stream.</a:t>
            </a:r>
          </a:p>
          <a:p>
            <a:r>
              <a:rPr lang="en-US" dirty="0"/>
              <a:t>Text preprocessing is the process of transforming this raw character stream into structured linguistic units that computational models can operate on. </a:t>
            </a:r>
          </a:p>
          <a:p>
            <a:r>
              <a:rPr lang="en-US" dirty="0"/>
              <a:t>It is not mere cleaning — it is a </a:t>
            </a:r>
            <a:r>
              <a:rPr lang="en-US" b="1" dirty="0"/>
              <a:t>controlled reduction of linguistic variability</a:t>
            </a:r>
            <a:r>
              <a:rPr lang="en-US" dirty="0"/>
              <a:t>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0908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6A2B-9505-BD5C-DC3A-E38E2E50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Preprocessing is Necessary in NLP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6423D2-C010-E5A9-E5D3-33EEDE1E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9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22141-D107-5944-3BBC-44F93308B64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Statistical NLP models rely on estimating frequencies and probabilities over units such as words or </a:t>
            </a:r>
            <a:r>
              <a:rPr lang="en-US" dirty="0" err="1"/>
              <a:t>subwords</a:t>
            </a:r>
            <a:r>
              <a:rPr lang="en-US" dirty="0"/>
              <a:t>. </a:t>
            </a:r>
          </a:p>
          <a:p>
            <a:r>
              <a:rPr lang="en-US" dirty="0"/>
              <a:t>If surface variations are treated as distinct items, the vocabulary grows unnecessarily large, leading to sparse data problems.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Apple, apple, APPLE</a:t>
            </a:r>
          </a:p>
          <a:p>
            <a:r>
              <a:rPr lang="en-US" dirty="0"/>
              <a:t>If treated separately, each has fewer occurrences. If normalized, their counts merge, improving statistical reliability.</a:t>
            </a:r>
          </a:p>
          <a:p>
            <a:r>
              <a:rPr lang="en-US" dirty="0"/>
              <a:t>Thus, preprocessing serves three major goals:</a:t>
            </a:r>
          </a:p>
          <a:p>
            <a:pPr lvl="1"/>
            <a:r>
              <a:rPr lang="en-US" dirty="0"/>
              <a:t>Reduce sparsity</a:t>
            </a:r>
          </a:p>
          <a:p>
            <a:pPr lvl="1"/>
            <a:r>
              <a:rPr lang="en-US" dirty="0"/>
              <a:t>Standardize representation</a:t>
            </a:r>
          </a:p>
          <a:p>
            <a:pPr lvl="1"/>
            <a:r>
              <a:rPr lang="en-US" dirty="0"/>
              <a:t>Preserve meaning while reducing noise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68699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213E-2D75-5B41-7D7D-858AEF04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FB2E-6472-26D4-4F63-23AFEE48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Normalization as Canonicalization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83680D-BC10-E680-7EE0-864DE0B2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10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4F84F-A6CD-0752-629A-446B9BEDC26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Text normalization aims to map different surface forms that represent the same linguistic concept into a canonical representation.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 “U.S.A.” and “USA”</a:t>
            </a:r>
          </a:p>
          <a:p>
            <a:pPr lvl="1"/>
            <a:r>
              <a:rPr lang="en-US" dirty="0"/>
              <a:t>“co-operate” and “cooperate”</a:t>
            </a:r>
          </a:p>
          <a:p>
            <a:pPr lvl="1"/>
            <a:r>
              <a:rPr lang="en-US" dirty="0"/>
              <a:t>“I’m” and “I am”</a:t>
            </a:r>
          </a:p>
          <a:p>
            <a:r>
              <a:rPr lang="en-US" dirty="0"/>
              <a:t>These variations arise from orthographic conventions, stylistic choices, or encoding differences.</a:t>
            </a:r>
          </a:p>
          <a:p>
            <a:r>
              <a:rPr lang="en-US" dirty="0"/>
              <a:t>Normalization reduces lexical diversity but may remove stylistic or syntactic signals. In information retrieval, aggressive normalization may help. In sentiment analysis or stylistic modeling, it may harm performance.</a:t>
            </a:r>
          </a:p>
          <a:p>
            <a:r>
              <a:rPr lang="en-US" dirty="0"/>
              <a:t>The central question is not “Should we normalize?” but rather “How much normalization is appropriate for this task?”</a:t>
            </a:r>
          </a:p>
        </p:txBody>
      </p:sp>
    </p:spTree>
    <p:extLst>
      <p:ext uri="{BB962C8B-B14F-4D97-AF65-F5344CB8AC3E}">
        <p14:creationId xmlns:p14="http://schemas.microsoft.com/office/powerpoint/2010/main" val="147847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DD7CE-9501-CE52-1524-B5B4F431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1C16-EBFF-2650-FC88-22193C69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Folding and Its Consequences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7474DA-58B1-1E80-862B-E186C870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11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225EB-27E1-041B-B42F-91EF31188F7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Lowercasing is one of the simplest normalization steps. It merges tokens differing only in capitalization.</a:t>
            </a:r>
          </a:p>
          <a:p>
            <a:r>
              <a:rPr lang="en-US" dirty="0"/>
              <a:t>“Apple released a product.”</a:t>
            </a:r>
            <a:br>
              <a:rPr lang="en-US" dirty="0"/>
            </a:br>
            <a:r>
              <a:rPr lang="en-US" dirty="0"/>
              <a:t>“apple is a fruit.”</a:t>
            </a:r>
          </a:p>
          <a:p>
            <a:r>
              <a:rPr lang="en-US" dirty="0"/>
              <a:t>After lowercasing, both instances become “apple.”</a:t>
            </a:r>
          </a:p>
          <a:p>
            <a:r>
              <a:rPr lang="en-US" dirty="0"/>
              <a:t>While this reduces vocabulary size and increases frequency counts, it eliminates distinctions between named entities and common nouns.</a:t>
            </a:r>
          </a:p>
          <a:p>
            <a:r>
              <a:rPr lang="en-US" dirty="0"/>
              <a:t>In named entity recognition, capitalization is an important feature. In topic modeling, it may be irrelevant.</a:t>
            </a:r>
          </a:p>
          <a:p>
            <a:r>
              <a:rPr lang="en-US" dirty="0"/>
              <a:t>Thus, case folding is beneficial when lexical identity matters more than syntactic or entity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6872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468A-EBB8-B39D-ADAF-7F609820F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7F11-6EBF-4B13-C2FC-596B6D83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Unicode and Representation Consistency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540DC-4624-7BE8-65B8-EA674DCD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12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C4A06-5A45-0A7B-8BE6-4A1EF78E859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Text collected from different sources may encode identical characters differently. </a:t>
            </a:r>
          </a:p>
          <a:p>
            <a:r>
              <a:rPr lang="en-US" dirty="0"/>
              <a:t>For example, accented characters can be stored as single composed characters or as base characters plus combining marks.</a:t>
            </a:r>
          </a:p>
          <a:p>
            <a:r>
              <a:rPr lang="en-US" dirty="0"/>
              <a:t>If these forms are not normalized, the model will treat visually identical words as different tokens. This creates artificial sparsity.</a:t>
            </a:r>
          </a:p>
          <a:p>
            <a:r>
              <a:rPr lang="en-US" dirty="0"/>
              <a:t>Unicode normalization ensures that equivalent characters are represented consistently. In multilingual NLP, this step is essential. Without it, cross-lingual modeling becomes unstable.</a:t>
            </a:r>
          </a:p>
          <a:p>
            <a:r>
              <a:rPr lang="en-US" dirty="0"/>
              <a:t>This stage is often invisible but critically important in real-world systems.</a:t>
            </a:r>
          </a:p>
        </p:txBody>
      </p:sp>
    </p:spTree>
    <p:extLst>
      <p:ext uri="{BB962C8B-B14F-4D97-AF65-F5344CB8AC3E}">
        <p14:creationId xmlns:p14="http://schemas.microsoft.com/office/powerpoint/2010/main" val="1427664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867A-E553-0A0A-B6FD-0DBE4BC8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1A29-13F9-6DFB-397F-1BB2D977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Unicode &amp; Encoding Issues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AC1F2-16D3-9B69-5FA0-EBEF2BF3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13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26057-2638-D76E-57F5-AD3EF0F6C11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Text may look identical but be encoded differently.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é may be:</a:t>
            </a:r>
          </a:p>
          <a:p>
            <a:r>
              <a:rPr lang="en-US" dirty="0"/>
              <a:t>• Single composed character</a:t>
            </a:r>
            <a:br>
              <a:rPr lang="en-US" dirty="0"/>
            </a:br>
            <a:r>
              <a:rPr lang="en-US" dirty="0"/>
              <a:t>• “e” + accent mark</a:t>
            </a:r>
          </a:p>
          <a:p>
            <a:r>
              <a:rPr lang="en-US" dirty="0"/>
              <a:t>If not normalized:</a:t>
            </a:r>
          </a:p>
          <a:p>
            <a:pPr lvl="1"/>
            <a:r>
              <a:rPr lang="en-US" dirty="0"/>
              <a:t>Models treat them as different tokens.</a:t>
            </a:r>
          </a:p>
          <a:p>
            <a:r>
              <a:rPr lang="en-US" dirty="0"/>
              <a:t>Unicode normalization ensures consistent representation across:</a:t>
            </a:r>
          </a:p>
          <a:p>
            <a:pPr lvl="1"/>
            <a:r>
              <a:rPr lang="en-US" dirty="0"/>
              <a:t>Operating systems</a:t>
            </a:r>
          </a:p>
          <a:p>
            <a:pPr lvl="1"/>
            <a:r>
              <a:rPr lang="en-US" dirty="0"/>
              <a:t>Web scraping</a:t>
            </a:r>
          </a:p>
          <a:p>
            <a:pPr lvl="1"/>
            <a:r>
              <a:rPr lang="en-US" dirty="0"/>
              <a:t>Multilingual corpora</a:t>
            </a:r>
          </a:p>
        </p:txBody>
      </p:sp>
    </p:spTree>
    <p:extLst>
      <p:ext uri="{BB962C8B-B14F-4D97-AF65-F5344CB8AC3E}">
        <p14:creationId xmlns:p14="http://schemas.microsoft.com/office/powerpoint/2010/main" val="1785458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235E-E383-49F7-6813-E62E26DB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593F-00BE-2247-7851-6C54CC8A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Sentence Segmentation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D29926-6DEF-05E2-03B0-996315DD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14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6E9D7-C9E9-3BEA-ED3B-27F4CE9B29D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The Problem of Sentence Boundaries</a:t>
            </a:r>
          </a:p>
          <a:p>
            <a:r>
              <a:rPr lang="en-US" dirty="0"/>
              <a:t>Humans easily recognize sentence boundaries. For machines, this is non-trivial.</a:t>
            </a:r>
          </a:p>
          <a:p>
            <a:r>
              <a:rPr lang="en-US" dirty="0"/>
              <a:t>A naive approach would split text at every period. However:</a:t>
            </a:r>
          </a:p>
          <a:p>
            <a:r>
              <a:rPr lang="en-US" dirty="0"/>
              <a:t>“Dr. Ahmed lives in the U.S. He teaches NLP.”</a:t>
            </a:r>
          </a:p>
          <a:p>
            <a:r>
              <a:rPr lang="en-US" dirty="0"/>
              <a:t>The period after “Dr.” and “U.S.” does not signal sentence termination.</a:t>
            </a:r>
          </a:p>
          <a:p>
            <a:r>
              <a:rPr lang="en-US" dirty="0"/>
              <a:t>Sentence segmentation must distinguish between:</a:t>
            </a:r>
          </a:p>
          <a:p>
            <a:r>
              <a:rPr lang="en-US" dirty="0"/>
              <a:t>• Abbreviations</a:t>
            </a:r>
            <a:br>
              <a:rPr lang="en-US" dirty="0"/>
            </a:br>
            <a:r>
              <a:rPr lang="en-US" dirty="0"/>
              <a:t>• Decimal numbers</a:t>
            </a:r>
            <a:br>
              <a:rPr lang="en-US" dirty="0"/>
            </a:br>
            <a:r>
              <a:rPr lang="en-US" dirty="0"/>
              <a:t>• Sentence-final punctuation</a:t>
            </a:r>
          </a:p>
          <a:p>
            <a:r>
              <a:rPr lang="en-US" dirty="0"/>
              <a:t>Modern systems treat sentence boundary detection as a classification problem using contextual cues rather than simple rules.</a:t>
            </a:r>
          </a:p>
        </p:txBody>
      </p:sp>
    </p:spTree>
    <p:extLst>
      <p:ext uri="{BB962C8B-B14F-4D97-AF65-F5344CB8AC3E}">
        <p14:creationId xmlns:p14="http://schemas.microsoft.com/office/powerpoint/2010/main" val="2445027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27C80-CBF6-C1E2-6F58-E885F13C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1A04-9934-F91B-0BC9-6FAC01FC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Linguistic Signals for Segmentation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1BE704-B657-BA04-5DEE-83B73B7F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15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7AEFD-97E7-ED4F-5899-105CE0F76DB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/>
          </a:bodyPr>
          <a:lstStyle/>
          <a:p>
            <a:r>
              <a:rPr lang="en-US" dirty="0"/>
              <a:t>Effective sentence segmentation relies on contextual features:</a:t>
            </a:r>
          </a:p>
          <a:p>
            <a:pPr lvl="1"/>
            <a:r>
              <a:rPr lang="en-US" dirty="0"/>
              <a:t>Is the word before the period a known abbreviation?</a:t>
            </a:r>
          </a:p>
          <a:p>
            <a:pPr lvl="1"/>
            <a:r>
              <a:rPr lang="en-US" dirty="0"/>
              <a:t>Does the next word begin with a capital letter?</a:t>
            </a:r>
          </a:p>
          <a:p>
            <a:pPr lvl="1"/>
            <a:r>
              <a:rPr lang="en-US" dirty="0"/>
              <a:t>Is the period part of a numeric pattern?</a:t>
            </a:r>
          </a:p>
          <a:p>
            <a:pPr lvl="1"/>
            <a:r>
              <a:rPr lang="en-US" dirty="0"/>
              <a:t>Does the punctuation sequence include exclamation or question marks?</a:t>
            </a:r>
          </a:p>
          <a:p>
            <a:r>
              <a:rPr lang="en-US" dirty="0"/>
              <a:t>In classical NLP systems, rule-based heuristics were used. In modern pipelines, segmentation is learned from annotated corpora.</a:t>
            </a:r>
          </a:p>
          <a:p>
            <a:r>
              <a:rPr lang="en-US" dirty="0"/>
              <a:t>The complexity of this task increases significantly in informal domains such as social media, where punctuation conventions are inconsistent.</a:t>
            </a:r>
          </a:p>
        </p:txBody>
      </p:sp>
    </p:spTree>
    <p:extLst>
      <p:ext uri="{BB962C8B-B14F-4D97-AF65-F5344CB8AC3E}">
        <p14:creationId xmlns:p14="http://schemas.microsoft.com/office/powerpoint/2010/main" val="1821207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533-1EA2-9AE0-31C1-26CD0D35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637A-0E21-BD77-343D-3D2A58ED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E1E7-C4F8-DC5D-C9AC-0BD7C1E4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700808"/>
            <a:ext cx="6330264" cy="4547624"/>
          </a:xfrm>
        </p:spPr>
        <p:txBody>
          <a:bodyPr>
            <a:normAutofit lnSpcReduction="10000"/>
          </a:bodyPr>
          <a:lstStyle/>
          <a:p>
            <a:r>
              <a:rPr lang="en-US" spc="-85" dirty="0"/>
              <a:t>Regular</a:t>
            </a:r>
            <a:r>
              <a:rPr lang="en-US" spc="-225" dirty="0"/>
              <a:t> </a:t>
            </a:r>
            <a:r>
              <a:rPr lang="en-US" spc="-95" dirty="0"/>
              <a:t>expressions</a:t>
            </a:r>
            <a:r>
              <a:rPr lang="en-US" spc="-225" dirty="0"/>
              <a:t> </a:t>
            </a:r>
            <a:r>
              <a:rPr lang="en-US" spc="-50" dirty="0"/>
              <a:t>are</a:t>
            </a:r>
            <a:r>
              <a:rPr lang="en-US" spc="-229" dirty="0"/>
              <a:t> </a:t>
            </a:r>
            <a:r>
              <a:rPr lang="en-US" spc="-25" dirty="0"/>
              <a:t>used</a:t>
            </a:r>
            <a:r>
              <a:rPr lang="en-US" spc="-220" dirty="0"/>
              <a:t> </a:t>
            </a:r>
            <a:r>
              <a:rPr lang="en-US" spc="-65" dirty="0"/>
              <a:t>everywhere</a:t>
            </a:r>
          </a:p>
          <a:p>
            <a:pPr lvl="1"/>
            <a:r>
              <a:rPr lang="en-US" dirty="0"/>
              <a:t>Part of every text processing task</a:t>
            </a:r>
          </a:p>
          <a:p>
            <a:pPr lvl="1"/>
            <a:r>
              <a:rPr lang="en-US" dirty="0"/>
              <a:t>Not a general NLP solution (for that we use large NLP systems we will see in later lectures)</a:t>
            </a:r>
          </a:p>
          <a:p>
            <a:pPr lvl="1"/>
            <a:r>
              <a:rPr lang="en-US" dirty="0"/>
              <a:t>But very useful as part of those systems (e.g., for pre- processing or text formatting)	</a:t>
            </a:r>
          </a:p>
          <a:p>
            <a:pPr lvl="1"/>
            <a:r>
              <a:rPr lang="en-US" dirty="0"/>
              <a:t>Necessary for data analysis of text data</a:t>
            </a:r>
          </a:p>
          <a:p>
            <a:pPr lvl="1"/>
            <a:r>
              <a:rPr lang="en-US" dirty="0"/>
              <a:t>A widely used tool in industry and academics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A68C-403C-B1EF-3DA9-6CA7E3C1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04FFC-C773-F1A7-46DC-708B68B19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88" y="1866361"/>
            <a:ext cx="5064172" cy="245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77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8616" y="383388"/>
            <a:ext cx="4735513" cy="687795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spc="-71" dirty="0"/>
              <a:t>Regular</a:t>
            </a:r>
            <a:r>
              <a:rPr spc="-162" dirty="0"/>
              <a:t> </a:t>
            </a:r>
            <a:r>
              <a:rPr spc="-67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592" y="1412776"/>
            <a:ext cx="10327217" cy="484799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0583">
              <a:spcBef>
                <a:spcPts val="1200"/>
              </a:spcBef>
            </a:pP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167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formal</a:t>
            </a:r>
            <a:r>
              <a:rPr sz="3167" spc="-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language</a:t>
            </a:r>
            <a:r>
              <a:rPr sz="3167" spc="-2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167" spc="-2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specifying</a:t>
            </a:r>
            <a:r>
              <a:rPr sz="3167" spc="-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3167" spc="-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strings</a:t>
            </a:r>
            <a:endParaRPr sz="3167" dirty="0">
              <a:latin typeface="Calibri"/>
              <a:cs typeface="Calibri"/>
            </a:endParaRPr>
          </a:p>
          <a:p>
            <a:pPr marL="10583">
              <a:spcBef>
                <a:spcPts val="1121"/>
              </a:spcBef>
            </a:pP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3167" spc="-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can we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search for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mentions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167" spc="-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cute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animals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text?</a:t>
            </a:r>
            <a:endParaRPr sz="3167" dirty="0">
              <a:latin typeface="Calibri"/>
              <a:cs typeface="Calibri"/>
            </a:endParaRPr>
          </a:p>
          <a:p>
            <a:pPr marL="459298" indent="-338653">
              <a:spcBef>
                <a:spcPts val="3378"/>
              </a:spcBef>
              <a:buClr>
                <a:srgbClr val="E48312"/>
              </a:buClr>
              <a:buChar char="◦"/>
              <a:tabLst>
                <a:tab pos="459298" algn="l"/>
              </a:tabLst>
            </a:pP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woodchuck</a:t>
            </a:r>
            <a:endParaRPr sz="3167" dirty="0">
              <a:latin typeface="Calibri"/>
              <a:cs typeface="Calibri"/>
            </a:endParaRPr>
          </a:p>
          <a:p>
            <a:pPr marL="459298" indent="-338653">
              <a:spcBef>
                <a:spcPts val="362"/>
              </a:spcBef>
              <a:buClr>
                <a:srgbClr val="E48312"/>
              </a:buClr>
              <a:buChar char="◦"/>
              <a:tabLst>
                <a:tab pos="459298" algn="l"/>
              </a:tabLst>
            </a:pP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woodchucks</a:t>
            </a:r>
            <a:endParaRPr sz="3167" dirty="0">
              <a:latin typeface="Calibri"/>
              <a:cs typeface="Calibri"/>
            </a:endParaRPr>
          </a:p>
          <a:p>
            <a:pPr marL="459298" indent="-338653">
              <a:spcBef>
                <a:spcPts val="279"/>
              </a:spcBef>
              <a:buClr>
                <a:srgbClr val="E48312"/>
              </a:buClr>
              <a:buChar char="◦"/>
              <a:tabLst>
                <a:tab pos="459298" algn="l"/>
              </a:tabLst>
            </a:pP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Woodchuck</a:t>
            </a:r>
            <a:endParaRPr sz="3167" dirty="0">
              <a:latin typeface="Calibri"/>
              <a:cs typeface="Calibri"/>
            </a:endParaRPr>
          </a:p>
          <a:p>
            <a:pPr marL="459298" indent="-338653">
              <a:spcBef>
                <a:spcPts val="279"/>
              </a:spcBef>
              <a:buClr>
                <a:srgbClr val="E48312"/>
              </a:buClr>
              <a:buChar char="◦"/>
              <a:tabLst>
                <a:tab pos="459298" algn="l"/>
              </a:tabLst>
            </a:pP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Woodchucks</a:t>
            </a:r>
            <a:endParaRPr sz="3167" dirty="0">
              <a:latin typeface="Calibri"/>
              <a:cs typeface="Calibri"/>
            </a:endParaRPr>
          </a:p>
          <a:p>
            <a:pPr marL="459298" indent="-338653">
              <a:spcBef>
                <a:spcPts val="379"/>
              </a:spcBef>
              <a:buClr>
                <a:srgbClr val="E48312"/>
              </a:buClr>
              <a:buChar char="◦"/>
              <a:tabLst>
                <a:tab pos="459298" algn="l"/>
              </a:tabLst>
            </a:pP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Groundhog</a:t>
            </a:r>
            <a:endParaRPr sz="3167" dirty="0">
              <a:latin typeface="Calibri"/>
              <a:cs typeface="Calibri"/>
            </a:endParaRPr>
          </a:p>
          <a:p>
            <a:pPr marL="459298" indent="-338653">
              <a:spcBef>
                <a:spcPts val="283"/>
              </a:spcBef>
              <a:buClr>
                <a:srgbClr val="E48312"/>
              </a:buClr>
              <a:buChar char="◦"/>
              <a:tabLst>
                <a:tab pos="459298" algn="l"/>
              </a:tabLst>
            </a:pP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groundhogs</a:t>
            </a:r>
            <a:endParaRPr sz="3167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1" y="2921000"/>
            <a:ext cx="487679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720" y="259353"/>
            <a:ext cx="9059333" cy="687795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spc="-71" dirty="0"/>
              <a:t>Regular</a:t>
            </a:r>
            <a:r>
              <a:rPr spc="-187" dirty="0"/>
              <a:t> </a:t>
            </a:r>
            <a:r>
              <a:rPr spc="-67" dirty="0"/>
              <a:t>Expressions:</a:t>
            </a:r>
            <a:r>
              <a:rPr spc="-175" dirty="0"/>
              <a:t> </a:t>
            </a:r>
            <a:r>
              <a:rPr spc="-46" dirty="0"/>
              <a:t>Disjunctions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234" y="1474470"/>
            <a:ext cx="5239279" cy="498064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Letters</a:t>
            </a:r>
            <a:r>
              <a:rPr sz="3167" spc="-8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inside</a:t>
            </a:r>
            <a:r>
              <a:rPr sz="3167" spc="-7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square</a:t>
            </a:r>
            <a:r>
              <a:rPr sz="3167" spc="-6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brackets</a:t>
            </a:r>
            <a:r>
              <a:rPr sz="3167" spc="-8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21" dirty="0">
                <a:solidFill>
                  <a:srgbClr val="404040"/>
                </a:solidFill>
                <a:latin typeface="Calibri"/>
                <a:cs typeface="Calibri"/>
              </a:rPr>
              <a:t>[]</a:t>
            </a:r>
            <a:endParaRPr sz="3167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233" y="3930649"/>
            <a:ext cx="4983692" cy="498064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Ranges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167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dash</a:t>
            </a:r>
            <a:r>
              <a:rPr sz="3167" spc="2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CC0000"/>
                </a:solidFill>
                <a:latin typeface="Courier New"/>
                <a:cs typeface="Courier New"/>
              </a:rPr>
              <a:t>[A-</a:t>
            </a:r>
            <a:r>
              <a:rPr sz="3167" spc="-21" dirty="0">
                <a:solidFill>
                  <a:srgbClr val="CC0000"/>
                </a:solidFill>
                <a:latin typeface="Courier New"/>
                <a:cs typeface="Courier New"/>
              </a:rPr>
              <a:t>Z]</a:t>
            </a:r>
            <a:endParaRPr sz="3167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3533" y="2404532"/>
          <a:ext cx="8128000" cy="1462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1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[wW]oodchuck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Woodchuck,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woodchuck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1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[1234567890]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digit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07533" y="4680373"/>
          <a:ext cx="10666942" cy="19494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1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[A-Z]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upper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letter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renched</a:t>
                      </a:r>
                      <a:r>
                        <a:rPr sz="2400" spc="-2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10" dirty="0">
                          <a:latin typeface="Courier New"/>
                          <a:cs typeface="Courier New"/>
                        </a:rPr>
                        <a:t>Blossoms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[a-z]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letter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2400" u="sng" dirty="0"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24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beans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were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10" dirty="0">
                          <a:latin typeface="Courier New"/>
                          <a:cs typeface="Courier New"/>
                        </a:rPr>
                        <a:t>impatient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[0-9]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digit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746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Chapter</a:t>
                      </a:r>
                      <a:r>
                        <a:rPr sz="24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:</a:t>
                      </a:r>
                      <a:r>
                        <a:rPr sz="24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Down</a:t>
                      </a:r>
                      <a:r>
                        <a:rPr sz="24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24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Rabbit</a:t>
                      </a:r>
                      <a:r>
                        <a:rPr sz="24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20" dirty="0">
                          <a:latin typeface="Courier New"/>
                          <a:cs typeface="Courier New"/>
                        </a:rPr>
                        <a:t>Hole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069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537" y="383388"/>
            <a:ext cx="10566929" cy="687795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spc="-71" dirty="0"/>
              <a:t>Regular</a:t>
            </a:r>
            <a:r>
              <a:rPr spc="-179" dirty="0"/>
              <a:t> </a:t>
            </a:r>
            <a:r>
              <a:rPr spc="-67" dirty="0"/>
              <a:t>Expressions:</a:t>
            </a:r>
            <a:r>
              <a:rPr spc="-162" dirty="0"/>
              <a:t> </a:t>
            </a:r>
            <a:r>
              <a:rPr spc="-79" dirty="0"/>
              <a:t>Negation</a:t>
            </a:r>
            <a:r>
              <a:rPr spc="-17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33" dirty="0"/>
              <a:t>Disjunction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2537" y="1430522"/>
            <a:ext cx="9110663" cy="1547561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10583">
              <a:spcBef>
                <a:spcPts val="567"/>
              </a:spcBef>
            </a:pPr>
            <a:r>
              <a:rPr sz="3750" dirty="0">
                <a:latin typeface="Calibri"/>
                <a:cs typeface="Calibri"/>
              </a:rPr>
              <a:t>Carat</a:t>
            </a:r>
            <a:r>
              <a:rPr sz="3750" spc="-112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as</a:t>
            </a:r>
            <a:r>
              <a:rPr sz="3750" spc="-108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first</a:t>
            </a:r>
            <a:r>
              <a:rPr sz="3750" spc="-112" dirty="0">
                <a:latin typeface="Calibri"/>
                <a:cs typeface="Calibri"/>
              </a:rPr>
              <a:t> </a:t>
            </a:r>
            <a:r>
              <a:rPr sz="3750" spc="-8" dirty="0">
                <a:latin typeface="Calibri"/>
                <a:cs typeface="Calibri"/>
              </a:rPr>
              <a:t>character</a:t>
            </a:r>
            <a:r>
              <a:rPr sz="3750" spc="-108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in</a:t>
            </a:r>
            <a:r>
              <a:rPr sz="3750" spc="-108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[]</a:t>
            </a:r>
            <a:r>
              <a:rPr sz="3750" spc="-104" dirty="0">
                <a:latin typeface="Calibri"/>
                <a:cs typeface="Calibri"/>
              </a:rPr>
              <a:t> </a:t>
            </a:r>
            <a:r>
              <a:rPr sz="3750" spc="-8" dirty="0">
                <a:latin typeface="Calibri"/>
                <a:cs typeface="Calibri"/>
              </a:rPr>
              <a:t>negates</a:t>
            </a:r>
            <a:r>
              <a:rPr sz="3750" spc="-104" dirty="0">
                <a:latin typeface="Calibri"/>
                <a:cs typeface="Calibri"/>
              </a:rPr>
              <a:t> </a:t>
            </a:r>
            <a:r>
              <a:rPr sz="3750" dirty="0">
                <a:latin typeface="Calibri"/>
                <a:cs typeface="Calibri"/>
              </a:rPr>
              <a:t>the</a:t>
            </a:r>
            <a:r>
              <a:rPr sz="3750" spc="-121" dirty="0">
                <a:latin typeface="Calibri"/>
                <a:cs typeface="Calibri"/>
              </a:rPr>
              <a:t> </a:t>
            </a:r>
            <a:r>
              <a:rPr sz="3750" spc="-17" dirty="0">
                <a:latin typeface="Calibri"/>
                <a:cs typeface="Calibri"/>
              </a:rPr>
              <a:t>list</a:t>
            </a:r>
            <a:endParaRPr sz="3750" dirty="0">
              <a:latin typeface="Calibri"/>
              <a:cs typeface="Calibri"/>
            </a:endParaRPr>
          </a:p>
          <a:p>
            <a:pPr marL="442366" indent="-338653">
              <a:spcBef>
                <a:spcPts val="341"/>
              </a:spcBef>
              <a:buClr>
                <a:srgbClr val="E48312"/>
              </a:buClr>
              <a:buChar char="◦"/>
              <a:tabLst>
                <a:tab pos="442366" algn="l"/>
              </a:tabLst>
            </a:pP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Note: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Carat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means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spc="-8" dirty="0">
                <a:solidFill>
                  <a:srgbClr val="404040"/>
                </a:solidFill>
                <a:latin typeface="Calibri"/>
                <a:cs typeface="Calibri"/>
              </a:rPr>
              <a:t>negation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667" spc="-7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it's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first</a:t>
            </a:r>
            <a:r>
              <a:rPr sz="2667" spc="-5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667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spc="-21" dirty="0">
                <a:solidFill>
                  <a:srgbClr val="404040"/>
                </a:solidFill>
                <a:latin typeface="Calibri"/>
                <a:cs typeface="Calibri"/>
              </a:rPr>
              <a:t>[]</a:t>
            </a:r>
            <a:endParaRPr sz="2667" dirty="0">
              <a:latin typeface="Calibri"/>
              <a:cs typeface="Calibri"/>
            </a:endParaRPr>
          </a:p>
          <a:p>
            <a:pPr marL="442366" indent="-338653">
              <a:spcBef>
                <a:spcPts val="300"/>
              </a:spcBef>
              <a:buClr>
                <a:srgbClr val="E48312"/>
              </a:buClr>
              <a:buChar char="◦"/>
              <a:tabLst>
                <a:tab pos="442366" algn="l"/>
              </a:tabLst>
            </a:pP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Special</a:t>
            </a:r>
            <a:r>
              <a:rPr sz="2667" spc="-4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characters</a:t>
            </a:r>
            <a:r>
              <a:rPr sz="2667" spc="-4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(.,</a:t>
            </a:r>
            <a:r>
              <a:rPr sz="2667" spc="-4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*,</a:t>
            </a:r>
            <a:r>
              <a:rPr sz="2667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+,</a:t>
            </a:r>
            <a:r>
              <a:rPr sz="2667" spc="-4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?)</a:t>
            </a:r>
            <a:r>
              <a:rPr sz="2667" spc="-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lose</a:t>
            </a:r>
            <a:r>
              <a:rPr sz="2667" spc="-4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2667" spc="-4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special</a:t>
            </a:r>
            <a:r>
              <a:rPr sz="2667" spc="-4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meaning</a:t>
            </a:r>
            <a:r>
              <a:rPr sz="2667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404040"/>
                </a:solidFill>
                <a:latin typeface="Calibri"/>
                <a:cs typeface="Calibri"/>
              </a:rPr>
              <a:t>inside</a:t>
            </a:r>
            <a:r>
              <a:rPr sz="2667" spc="-4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67" spc="-21" dirty="0">
                <a:solidFill>
                  <a:srgbClr val="404040"/>
                </a:solidFill>
                <a:latin typeface="Calibri"/>
                <a:cs typeface="Calibri"/>
              </a:rPr>
              <a:t>[]</a:t>
            </a:r>
            <a:endParaRPr sz="2667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1133" y="3298612"/>
          <a:ext cx="11175999" cy="2640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Examples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spc="-3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[^A-</a:t>
                      </a: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Z]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7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upper</a:t>
                      </a:r>
                      <a:r>
                        <a:rPr sz="27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2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letter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27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fn</a:t>
                      </a:r>
                      <a:r>
                        <a:rPr sz="27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spc="-10" dirty="0">
                          <a:latin typeface="Courier New"/>
                          <a:cs typeface="Courier New"/>
                        </a:rPr>
                        <a:t>pripetchik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spc="-1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[^Ss]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Neither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‘S’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nor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5" dirty="0">
                          <a:latin typeface="Calibri"/>
                          <a:cs typeface="Calibri"/>
                        </a:rPr>
                        <a:t>‘s’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700" spc="-100" dirty="0">
                          <a:solidFill>
                            <a:srgbClr val="3366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have</a:t>
                      </a:r>
                      <a:r>
                        <a:rPr sz="27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27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exquisite</a:t>
                      </a:r>
                      <a:r>
                        <a:rPr sz="27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spc="-10" dirty="0">
                          <a:latin typeface="Courier New"/>
                          <a:cs typeface="Courier New"/>
                        </a:rPr>
                        <a:t>reason”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spc="-2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[^.]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period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ur</a:t>
                      </a:r>
                      <a:r>
                        <a:rPr sz="27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resident</a:t>
                      </a:r>
                      <a:r>
                        <a:rPr sz="27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spc="-10" dirty="0">
                          <a:latin typeface="Courier New"/>
                          <a:cs typeface="Courier New"/>
                        </a:rPr>
                        <a:t>Djinn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spc="-2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[e^]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Either</a:t>
                      </a:r>
                      <a:r>
                        <a:rPr sz="27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7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7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^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39688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700" dirty="0">
                          <a:latin typeface="Courier New"/>
                          <a:cs typeface="Courier New"/>
                        </a:rPr>
                        <a:t>Look</a:t>
                      </a:r>
                      <a:r>
                        <a:rPr sz="27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up</a:t>
                      </a:r>
                      <a:r>
                        <a:rPr sz="27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^</a:t>
                      </a:r>
                      <a:r>
                        <a:rPr sz="2700" spc="-55" dirty="0">
                          <a:solidFill>
                            <a:srgbClr val="3366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spc="-25" dirty="0">
                          <a:latin typeface="Courier New"/>
                          <a:cs typeface="Courier New"/>
                        </a:rPr>
                        <a:t>now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9633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537" y="383388"/>
            <a:ext cx="9445096" cy="687795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spc="-71" dirty="0"/>
              <a:t>Regular</a:t>
            </a:r>
            <a:r>
              <a:rPr spc="-175" dirty="0"/>
              <a:t> </a:t>
            </a:r>
            <a:r>
              <a:rPr spc="-67" dirty="0"/>
              <a:t>Expressions:</a:t>
            </a:r>
            <a:r>
              <a:rPr spc="-158" dirty="0"/>
              <a:t> </a:t>
            </a:r>
            <a:r>
              <a:rPr spc="-79" dirty="0"/>
              <a:t>Convenient</a:t>
            </a:r>
            <a:r>
              <a:rPr spc="-162" dirty="0"/>
              <a:t> </a:t>
            </a:r>
            <a:r>
              <a:rPr spc="-17" dirty="0"/>
              <a:t>aliases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9534" y="1611598"/>
          <a:ext cx="11176000" cy="3696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Pattern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Expansion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Examples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\d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3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[0-</a:t>
                      </a: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9]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27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0" dirty="0">
                          <a:latin typeface="Calibri"/>
                          <a:cs typeface="Calibri"/>
                        </a:rPr>
                        <a:t>digit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dirty="0">
                          <a:latin typeface="Courier New"/>
                          <a:cs typeface="Courier New"/>
                        </a:rPr>
                        <a:t>Fahreneit</a:t>
                      </a:r>
                      <a:r>
                        <a:rPr sz="2700" spc="-2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u="sng" spc="-25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2700" spc="-25" dirty="0">
                          <a:latin typeface="Courier New"/>
                          <a:cs typeface="Courier New"/>
                        </a:rPr>
                        <a:t>51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\D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3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[^0-</a:t>
                      </a: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9]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2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5" dirty="0">
                          <a:latin typeface="Calibri"/>
                          <a:cs typeface="Calibri"/>
                        </a:rPr>
                        <a:t>non-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digit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lue</a:t>
                      </a:r>
                      <a:r>
                        <a:rPr sz="27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spc="-20" dirty="0">
                          <a:latin typeface="Courier New"/>
                          <a:cs typeface="Courier New"/>
                        </a:rPr>
                        <a:t>Moon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\w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3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[a-ZA-Z0-</a:t>
                      </a: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9_]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2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alphanumeric</a:t>
                      </a:r>
                      <a:r>
                        <a:rPr sz="27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7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_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u="sng" spc="-10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700" spc="-10" dirty="0">
                          <a:latin typeface="Courier New"/>
                          <a:cs typeface="Courier New"/>
                        </a:rPr>
                        <a:t>aiyu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\W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1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[^\w]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7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alphanumeric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 _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10" dirty="0">
                          <a:latin typeface="Courier New"/>
                          <a:cs typeface="Courier New"/>
                        </a:rPr>
                        <a:t>Look</a:t>
                      </a:r>
                      <a:r>
                        <a:rPr sz="2700" u="sng" spc="-10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!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\s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spc="-1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\r\t\n\f]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Whitespace</a:t>
                      </a:r>
                      <a:r>
                        <a:rPr sz="2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(space,</a:t>
                      </a:r>
                      <a:r>
                        <a:rPr sz="2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0" dirty="0">
                          <a:latin typeface="Calibri"/>
                          <a:cs typeface="Calibri"/>
                        </a:rPr>
                        <a:t>tab)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10" dirty="0">
                          <a:latin typeface="Courier New"/>
                          <a:cs typeface="Courier New"/>
                        </a:rPr>
                        <a:t>Look</a:t>
                      </a:r>
                      <a:r>
                        <a:rPr sz="2700" spc="-10" dirty="0">
                          <a:solidFill>
                            <a:srgbClr val="3365FF"/>
                          </a:solidFill>
                          <a:latin typeface="Segoe UI Symbol"/>
                          <a:cs typeface="Segoe UI Symbol"/>
                        </a:rPr>
                        <a:t>␣</a:t>
                      </a:r>
                      <a:r>
                        <a:rPr sz="2700" spc="-10" dirty="0">
                          <a:latin typeface="Courier New"/>
                          <a:cs typeface="Courier New"/>
                        </a:rPr>
                        <a:t>up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10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25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\S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spc="-10" dirty="0">
                          <a:solidFill>
                            <a:srgbClr val="CC0000"/>
                          </a:solidFill>
                          <a:latin typeface="Courier New"/>
                          <a:cs typeface="Courier New"/>
                        </a:rPr>
                        <a:t>[^\s]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7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10" dirty="0">
                          <a:latin typeface="Calibri"/>
                          <a:cs typeface="Calibri"/>
                        </a:rPr>
                        <a:t>whitespace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40217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700" u="sng" dirty="0">
                          <a:solidFill>
                            <a:srgbClr val="3366FF"/>
                          </a:solidFill>
                          <a:uFill>
                            <a:solidFill>
                              <a:srgbClr val="3366FF"/>
                            </a:solidFill>
                          </a:u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2700" dirty="0">
                          <a:latin typeface="Courier New"/>
                          <a:cs typeface="Courier New"/>
                        </a:rPr>
                        <a:t>ook</a:t>
                      </a:r>
                      <a:r>
                        <a:rPr sz="27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700" spc="-25" dirty="0">
                          <a:latin typeface="Courier New"/>
                          <a:cs typeface="Courier New"/>
                        </a:rPr>
                        <a:t>up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30162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137" y="256388"/>
            <a:ext cx="9693275" cy="687795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spcBef>
                <a:spcPts val="83"/>
              </a:spcBef>
            </a:pPr>
            <a:r>
              <a:rPr dirty="0"/>
              <a:t>A</a:t>
            </a:r>
            <a:r>
              <a:rPr spc="-196" dirty="0"/>
              <a:t> </a:t>
            </a:r>
            <a:r>
              <a:rPr spc="-46" dirty="0"/>
              <a:t>note</a:t>
            </a:r>
            <a:r>
              <a:rPr spc="-191" dirty="0"/>
              <a:t> </a:t>
            </a:r>
            <a:r>
              <a:rPr spc="-33" dirty="0"/>
              <a:t>about</a:t>
            </a:r>
            <a:r>
              <a:rPr spc="-175" dirty="0"/>
              <a:t> </a:t>
            </a:r>
            <a:r>
              <a:rPr spc="-62" dirty="0"/>
              <a:t>Python</a:t>
            </a:r>
            <a:r>
              <a:rPr spc="-183" dirty="0"/>
              <a:t> </a:t>
            </a:r>
            <a:r>
              <a:rPr spc="-67" dirty="0"/>
              <a:t>regular</a:t>
            </a:r>
            <a:r>
              <a:rPr spc="-183" dirty="0"/>
              <a:t> </a:t>
            </a:r>
            <a:r>
              <a:rPr spc="-5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408" y="1700808"/>
            <a:ext cx="10366375" cy="4715223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349236" marR="16933" indent="-338653">
              <a:lnSpc>
                <a:spcPts val="4083"/>
              </a:lnSpc>
              <a:spcBef>
                <a:spcPts val="567"/>
              </a:spcBef>
              <a:buClr>
                <a:srgbClr val="E48312"/>
              </a:buClr>
              <a:buChar char="◦"/>
              <a:tabLst>
                <a:tab pos="349236" algn="l"/>
              </a:tabLst>
            </a:pPr>
            <a:r>
              <a:rPr sz="3750" spc="-8" dirty="0">
                <a:solidFill>
                  <a:srgbClr val="404040"/>
                </a:solidFill>
                <a:latin typeface="Calibri"/>
                <a:cs typeface="Calibri"/>
              </a:rPr>
              <a:t>Regex</a:t>
            </a:r>
            <a:r>
              <a:rPr sz="3750" spc="-8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750" spc="-7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Python</a:t>
            </a:r>
            <a:r>
              <a:rPr sz="3750" spc="-7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both</a:t>
            </a:r>
            <a:r>
              <a:rPr sz="3750" spc="-7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3750" spc="-9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backslash</a:t>
            </a:r>
            <a:r>
              <a:rPr sz="3750" spc="-7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"</a:t>
            </a:r>
            <a:r>
              <a:rPr sz="3750" dirty="0">
                <a:solidFill>
                  <a:srgbClr val="404040"/>
                </a:solidFill>
                <a:latin typeface="Courier New"/>
                <a:cs typeface="Courier New"/>
              </a:rPr>
              <a:t>\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"</a:t>
            </a:r>
            <a:r>
              <a:rPr sz="375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spc="-21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special</a:t>
            </a:r>
            <a:r>
              <a:rPr sz="3750" spc="-14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spc="-17" dirty="0">
                <a:solidFill>
                  <a:srgbClr val="404040"/>
                </a:solidFill>
                <a:latin typeface="Calibri"/>
                <a:cs typeface="Calibri"/>
              </a:rPr>
              <a:t>characters.</a:t>
            </a:r>
            <a:r>
              <a:rPr sz="3750" spc="-1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spc="-54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750" spc="-12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3750" spc="-1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r>
              <a:rPr sz="375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spc="-8" dirty="0">
                <a:solidFill>
                  <a:srgbClr val="404040"/>
                </a:solidFill>
                <a:latin typeface="Calibri"/>
                <a:cs typeface="Calibri"/>
              </a:rPr>
              <a:t>extra</a:t>
            </a:r>
            <a:r>
              <a:rPr sz="375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spc="-8" dirty="0">
                <a:solidFill>
                  <a:srgbClr val="404040"/>
                </a:solidFill>
                <a:latin typeface="Calibri"/>
                <a:cs typeface="Calibri"/>
              </a:rPr>
              <a:t>backslashes!</a:t>
            </a:r>
            <a:endParaRPr sz="3750" dirty="0">
              <a:latin typeface="Calibri"/>
              <a:cs typeface="Calibri"/>
            </a:endParaRPr>
          </a:p>
          <a:p>
            <a:pPr marL="496868" lvl="1" indent="-304259">
              <a:spcBef>
                <a:spcPts val="271"/>
              </a:spcBef>
              <a:buClr>
                <a:srgbClr val="E48312"/>
              </a:buClr>
              <a:buFont typeface="Calibri"/>
              <a:buChar char="◦"/>
              <a:tabLst>
                <a:tab pos="496868" algn="l"/>
              </a:tabLst>
            </a:pPr>
            <a:r>
              <a:rPr sz="3167" dirty="0">
                <a:solidFill>
                  <a:srgbClr val="404040"/>
                </a:solidFill>
                <a:latin typeface="Courier New"/>
                <a:cs typeface="Courier New"/>
              </a:rPr>
              <a:t>"\\d+"</a:t>
            </a:r>
            <a:r>
              <a:rPr sz="3167" spc="-4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167" spc="-1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search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167" spc="-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167" spc="-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digits</a:t>
            </a:r>
            <a:endParaRPr sz="3167" dirty="0">
              <a:latin typeface="Calibri"/>
              <a:cs typeface="Calibri"/>
            </a:endParaRPr>
          </a:p>
          <a:p>
            <a:pPr marL="497397" marR="4233" lvl="1" indent="-304788">
              <a:lnSpc>
                <a:spcPts val="3417"/>
              </a:lnSpc>
              <a:spcBef>
                <a:spcPts val="717"/>
              </a:spcBef>
              <a:buClr>
                <a:srgbClr val="E48312"/>
              </a:buClr>
              <a:buFont typeface="Calibri"/>
              <a:buChar char="◦"/>
              <a:tabLst>
                <a:tab pos="497397" algn="l"/>
              </a:tabLst>
            </a:pPr>
            <a:r>
              <a:rPr sz="3167" dirty="0">
                <a:solidFill>
                  <a:srgbClr val="404040"/>
                </a:solidFill>
                <a:latin typeface="Courier New"/>
                <a:cs typeface="Courier New"/>
              </a:rPr>
              <a:t>"\n"</a:t>
            </a:r>
            <a:r>
              <a:rPr sz="3167" spc="17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167" spc="1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Python</a:t>
            </a:r>
            <a:r>
              <a:rPr sz="3167" spc="1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means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167" spc="2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"newline"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25" dirty="0">
                <a:solidFill>
                  <a:srgbClr val="404040"/>
                </a:solidFill>
                <a:latin typeface="Calibri"/>
                <a:cs typeface="Calibri"/>
              </a:rPr>
              <a:t>character,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not </a:t>
            </a:r>
            <a:r>
              <a:rPr sz="3167" spc="-42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"slash"</a:t>
            </a:r>
            <a:r>
              <a:rPr sz="3167" spc="-1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followed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by an</a:t>
            </a:r>
            <a:r>
              <a:rPr sz="3167" spc="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"n".</a:t>
            </a:r>
            <a:r>
              <a:rPr sz="3167" spc="-1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3167" spc="1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ourier New"/>
                <a:cs typeface="Courier New"/>
              </a:rPr>
              <a:t>"\\n"</a:t>
            </a:r>
            <a:r>
              <a:rPr sz="3167" spc="-1171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167" spc="-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two 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characters.</a:t>
            </a:r>
            <a:endParaRPr sz="3167" dirty="0">
              <a:latin typeface="Calibri"/>
              <a:cs typeface="Calibri"/>
            </a:endParaRPr>
          </a:p>
          <a:p>
            <a:pPr marL="348707" indent="-338124">
              <a:spcBef>
                <a:spcPts val="150"/>
              </a:spcBef>
              <a:buClr>
                <a:srgbClr val="E48312"/>
              </a:buClr>
              <a:buChar char="◦"/>
              <a:tabLst>
                <a:tab pos="348707" algn="l"/>
              </a:tabLst>
            </a:pP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Instead:</a:t>
            </a:r>
            <a:r>
              <a:rPr sz="3750" spc="-12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3750" spc="-146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Python's</a:t>
            </a:r>
            <a:r>
              <a:rPr sz="3750" spc="-1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b="1" dirty="0">
                <a:solidFill>
                  <a:srgbClr val="404040"/>
                </a:solidFill>
                <a:latin typeface="Calibri"/>
                <a:cs typeface="Calibri"/>
              </a:rPr>
              <a:t>raw</a:t>
            </a:r>
            <a:r>
              <a:rPr sz="3750" b="1" spc="-1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b="1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3750" b="1" spc="-13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b="1" spc="-8" dirty="0">
                <a:solidFill>
                  <a:srgbClr val="404040"/>
                </a:solidFill>
                <a:latin typeface="Calibri"/>
                <a:cs typeface="Calibri"/>
              </a:rPr>
              <a:t>notation</a:t>
            </a:r>
            <a:r>
              <a:rPr sz="3750" b="1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750" spc="-133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750" spc="-8" dirty="0">
                <a:solidFill>
                  <a:srgbClr val="404040"/>
                </a:solidFill>
                <a:latin typeface="Calibri"/>
                <a:cs typeface="Calibri"/>
              </a:rPr>
              <a:t>regex:</a:t>
            </a:r>
            <a:endParaRPr sz="3750" dirty="0">
              <a:latin typeface="Calibri"/>
              <a:cs typeface="Calibri"/>
            </a:endParaRPr>
          </a:p>
          <a:p>
            <a:pPr marL="496868" lvl="1" indent="-304259">
              <a:spcBef>
                <a:spcPts val="341"/>
              </a:spcBef>
              <a:buClr>
                <a:srgbClr val="E48312"/>
              </a:buClr>
              <a:buFont typeface="Calibri"/>
              <a:buChar char="◦"/>
              <a:tabLst>
                <a:tab pos="496868" algn="l"/>
              </a:tabLst>
            </a:pPr>
            <a:r>
              <a:rPr sz="3167" spc="-8" dirty="0">
                <a:solidFill>
                  <a:srgbClr val="404040"/>
                </a:solidFill>
                <a:latin typeface="Courier New"/>
                <a:cs typeface="Courier New"/>
              </a:rPr>
              <a:t>r"[tT]he"</a:t>
            </a:r>
            <a:endParaRPr sz="3167" dirty="0">
              <a:latin typeface="Courier New"/>
              <a:cs typeface="Courier New"/>
            </a:endParaRPr>
          </a:p>
          <a:p>
            <a:pPr marL="496868" lvl="1" indent="-304259">
              <a:spcBef>
                <a:spcPts val="279"/>
              </a:spcBef>
              <a:buClr>
                <a:srgbClr val="E48312"/>
              </a:buClr>
              <a:buFont typeface="Calibri"/>
              <a:buChar char="◦"/>
              <a:tabLst>
                <a:tab pos="496868" algn="l"/>
              </a:tabLst>
            </a:pPr>
            <a:r>
              <a:rPr sz="3167" dirty="0">
                <a:solidFill>
                  <a:srgbClr val="404040"/>
                </a:solidFill>
                <a:latin typeface="Courier New"/>
                <a:cs typeface="Courier New"/>
              </a:rPr>
              <a:t>r"\d+"</a:t>
            </a:r>
            <a:r>
              <a:rPr sz="3167" spc="-1171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matches</a:t>
            </a:r>
            <a:r>
              <a:rPr sz="3167" spc="-1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167" spc="8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dirty="0">
                <a:solidFill>
                  <a:srgbClr val="404040"/>
                </a:solidFill>
                <a:latin typeface="Calibri"/>
                <a:cs typeface="Calibri"/>
              </a:rPr>
              <a:t>or more</a:t>
            </a:r>
            <a:r>
              <a:rPr sz="3167" spc="1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67" spc="-8" dirty="0">
                <a:solidFill>
                  <a:srgbClr val="404040"/>
                </a:solidFill>
                <a:latin typeface="Calibri"/>
                <a:cs typeface="Calibri"/>
              </a:rPr>
              <a:t>digits</a:t>
            </a:r>
            <a:endParaRPr lang="en-US" sz="3167" spc="-8" dirty="0">
              <a:latin typeface="Calibri"/>
              <a:cs typeface="Calibri"/>
            </a:endParaRPr>
          </a:p>
          <a:p>
            <a:pPr marL="496868" lvl="1" indent="-304259">
              <a:spcBef>
                <a:spcPts val="279"/>
              </a:spcBef>
              <a:buClr>
                <a:srgbClr val="E48312"/>
              </a:buClr>
              <a:buFont typeface="Calibri"/>
              <a:buChar char="◦"/>
              <a:tabLst>
                <a:tab pos="496868" algn="l"/>
              </a:tabLst>
            </a:pP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sz="2800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800" spc="-62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8" dirty="0">
                <a:solidFill>
                  <a:srgbClr val="404040"/>
                </a:solidFill>
                <a:latin typeface="Courier New"/>
                <a:cs typeface="Courier New"/>
              </a:rPr>
              <a:t>"\\d+"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okenization — A Complete Guide. Natural Language Processing — NLP From… |  by Utkarsh Kant | KantCodes">
            <a:extLst>
              <a:ext uri="{FF2B5EF4-FFF2-40B4-BE49-F238E27FC236}">
                <a16:creationId xmlns:a16="http://schemas.microsoft.com/office/drawing/2014/main" id="{544EE2E1-71A2-6EE3-DD30-723B1695A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2204864"/>
            <a:ext cx="4684791" cy="263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CDBD0D-0427-C133-9C5F-CA309F58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Tokenization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F61C0A-13EB-E929-8E99-C0AD7346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22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8E339-5417-BE25-A351-30E1F967DE1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7079336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Tokenization defines the fundamental units that the model will operate on.</a:t>
            </a:r>
          </a:p>
          <a:p>
            <a:r>
              <a:rPr lang="en-US" dirty="0"/>
              <a:t>In English, whitespace appears to separate words. However, whitespace is not sufficient.</a:t>
            </a:r>
          </a:p>
          <a:p>
            <a:r>
              <a:rPr lang="en-US" dirty="0"/>
              <a:t>Consider:</a:t>
            </a:r>
          </a:p>
          <a:p>
            <a:pPr lvl="1"/>
            <a:r>
              <a:rPr lang="en-US" dirty="0"/>
              <a:t>“Don’t stop believing.”</a:t>
            </a:r>
          </a:p>
          <a:p>
            <a:pPr lvl="1"/>
            <a:r>
              <a:rPr lang="en-US" dirty="0"/>
              <a:t>Should “Don’t” remain one token, or be split into “Do” and “</a:t>
            </a:r>
            <a:r>
              <a:rPr lang="en-US" dirty="0" err="1"/>
              <a:t>n’t</a:t>
            </a:r>
            <a:r>
              <a:rPr lang="en-US" dirty="0"/>
              <a:t>”? </a:t>
            </a:r>
          </a:p>
          <a:p>
            <a:pPr lvl="1"/>
            <a:r>
              <a:rPr lang="en-US" dirty="0"/>
              <a:t>The decision affects syntactic analysis and language modeling.</a:t>
            </a:r>
          </a:p>
          <a:p>
            <a:r>
              <a:rPr lang="en-US" dirty="0"/>
              <a:t>Tokenization is therefore not trivial splitting. It encodes linguistic assumptions.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36748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867D-1696-1ED2-F8AE-ED32E1E4E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8D64-C418-0C6B-693F-6EEABC49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Challenges in Real Text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B919C3-07FB-8D43-8924-7DC631B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23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F12A0-DC0B-5F43-09A0-44AF458C4C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Real-world text contains:</a:t>
            </a:r>
          </a:p>
          <a:p>
            <a:pPr lvl="1"/>
            <a:r>
              <a:rPr lang="en-US" dirty="0"/>
              <a:t>Contractions (</a:t>
            </a:r>
            <a:r>
              <a:rPr lang="it-IT" i="1" dirty="0"/>
              <a:t>don’t</a:t>
            </a:r>
            <a:r>
              <a:rPr lang="it-IT" dirty="0"/>
              <a:t>, </a:t>
            </a:r>
            <a:r>
              <a:rPr lang="it-IT" i="1" dirty="0"/>
              <a:t>I’m</a:t>
            </a:r>
            <a:r>
              <a:rPr lang="it-IT" dirty="0"/>
              <a:t>, </a:t>
            </a:r>
            <a:r>
              <a:rPr lang="it-IT" i="1" dirty="0"/>
              <a:t>they’ll)</a:t>
            </a:r>
            <a:endParaRPr lang="en-US" dirty="0"/>
          </a:p>
          <a:p>
            <a:pPr lvl="1"/>
            <a:r>
              <a:rPr lang="en-US" dirty="0"/>
              <a:t>Hyphenated compounds (</a:t>
            </a:r>
            <a:r>
              <a:rPr lang="it-IT" dirty="0"/>
              <a:t>state-of-the-art)</a:t>
            </a:r>
            <a:endParaRPr lang="en-US" dirty="0"/>
          </a:p>
          <a:p>
            <a:pPr lvl="1"/>
            <a:r>
              <a:rPr lang="en-US" dirty="0"/>
              <a:t>Multiword names (</a:t>
            </a:r>
            <a:r>
              <a:rPr lang="it-IT" dirty="0"/>
              <a:t>United Nations)</a:t>
            </a:r>
            <a:endParaRPr lang="en-US" dirty="0"/>
          </a:p>
          <a:p>
            <a:pPr lvl="1"/>
            <a:r>
              <a:rPr lang="en-US" dirty="0"/>
              <a:t>URLs and email addresses </a:t>
            </a:r>
          </a:p>
          <a:p>
            <a:pPr lvl="1"/>
            <a:r>
              <a:rPr lang="en-US" dirty="0"/>
              <a:t>Emojis and hashtags</a:t>
            </a:r>
          </a:p>
          <a:p>
            <a:pPr lvl="1"/>
            <a:r>
              <a:rPr lang="en-US" dirty="0"/>
              <a:t>Code-switching (“Yaar, this lecture was amazing!”)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“I love #NLP!!!”</a:t>
            </a:r>
          </a:p>
          <a:p>
            <a:pPr lvl="1"/>
            <a:r>
              <a:rPr lang="en-US" dirty="0"/>
              <a:t>Should “#NLP” be treated as a single semantic unit? In social media analytics, probably yes. In formal text analysis, perhaps not.</a:t>
            </a:r>
          </a:p>
          <a:p>
            <a:pPr lvl="1"/>
            <a:r>
              <a:rPr lang="en-US" dirty="0"/>
              <a:t>Thus, tokenization must align with the application domain.</a:t>
            </a:r>
          </a:p>
        </p:txBody>
      </p:sp>
    </p:spTree>
    <p:extLst>
      <p:ext uri="{BB962C8B-B14F-4D97-AF65-F5344CB8AC3E}">
        <p14:creationId xmlns:p14="http://schemas.microsoft.com/office/powerpoint/2010/main" val="2576606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D3739-DF39-1137-D4CF-7625A2799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6F044-86F1-A6D3-15E6-4EA490AA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Subword</a:t>
            </a:r>
            <a:r>
              <a:rPr lang="en-US" dirty="0"/>
              <a:t> Tokenization in Modern NLP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014CBF-F661-1CA1-0E3E-84C02539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24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3FD07-102F-7D73-2A40-F6F109DC0D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53136"/>
          </a:xfrm>
        </p:spPr>
        <p:txBody>
          <a:bodyPr>
            <a:normAutofit/>
          </a:bodyPr>
          <a:lstStyle/>
          <a:p>
            <a:r>
              <a:rPr lang="en-US" b="1" dirty="0"/>
              <a:t>Limitations of Word-Level Tokenization</a:t>
            </a:r>
          </a:p>
          <a:p>
            <a:pPr lvl="1"/>
            <a:r>
              <a:rPr lang="en-US" dirty="0"/>
              <a:t>Traditional NLP treated words as atomic units. However, this leads to two major problems:</a:t>
            </a:r>
          </a:p>
          <a:p>
            <a:pPr lvl="2"/>
            <a:r>
              <a:rPr lang="en-US" dirty="0"/>
              <a:t>Rare words are unseen during training.</a:t>
            </a:r>
          </a:p>
          <a:p>
            <a:pPr lvl="2"/>
            <a:r>
              <a:rPr lang="en-US" dirty="0"/>
              <a:t>Vocabulary size becomes extremely large.</a:t>
            </a:r>
          </a:p>
          <a:p>
            <a:pPr lvl="1"/>
            <a:r>
              <a:rPr lang="en-US" dirty="0"/>
              <a:t>For example: “electroencephalographically”</a:t>
            </a:r>
          </a:p>
          <a:p>
            <a:pPr lvl="1"/>
            <a:r>
              <a:rPr lang="en-US" dirty="0"/>
              <a:t>If unseen during training, it becomes an unknown token, losing internal structure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546887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F57C-0AEF-6FD4-82E4-854D8EC5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1EF5-298D-CEA6-E0BA-F942FBC1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Subword</a:t>
            </a:r>
            <a:r>
              <a:rPr lang="en-US" dirty="0"/>
              <a:t> Modeling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66AFB-305D-EBE3-0C6C-915185B2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25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A31CD-71D7-DAF0-3CAA-5A8356530B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531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Modern language models developed by organizations such as Google and OpenAI address this problem using </a:t>
            </a:r>
            <a:r>
              <a:rPr lang="en-US" dirty="0" err="1"/>
              <a:t>subword</a:t>
            </a:r>
            <a:r>
              <a:rPr lang="en-US" dirty="0"/>
              <a:t> tokenization.</a:t>
            </a:r>
          </a:p>
          <a:p>
            <a:r>
              <a:rPr lang="en-US" dirty="0"/>
              <a:t>Instead of treating words as indivisible units, they are decomposed into frequently occurring </a:t>
            </a:r>
            <a:r>
              <a:rPr lang="en-US" dirty="0" err="1"/>
              <a:t>subword</a:t>
            </a:r>
            <a:r>
              <a:rPr lang="en-US" dirty="0"/>
              <a:t> components.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“playing” → “play” + “</a:t>
            </a:r>
            <a:r>
              <a:rPr lang="en-US" dirty="0" err="1"/>
              <a:t>ing</a:t>
            </a:r>
            <a:r>
              <a:rPr lang="en-US" dirty="0"/>
              <a:t>”</a:t>
            </a:r>
          </a:p>
          <a:p>
            <a:r>
              <a:rPr lang="en-US" dirty="0"/>
              <a:t>“unbelievable” → “un” + “believe” + “able”</a:t>
            </a:r>
          </a:p>
          <a:p>
            <a:r>
              <a:rPr lang="en-US" dirty="0"/>
              <a:t>This approach balances vocabulary size and expressive power.</a:t>
            </a:r>
          </a:p>
          <a:p>
            <a:r>
              <a:rPr lang="en-US" dirty="0"/>
              <a:t>It allows models to generalize to unseen words by leveraging shared </a:t>
            </a:r>
            <a:r>
              <a:rPr lang="en-US" dirty="0" err="1"/>
              <a:t>subword</a:t>
            </a:r>
            <a:r>
              <a:rPr lang="en-US" dirty="0"/>
              <a:t> structure.</a:t>
            </a:r>
          </a:p>
        </p:txBody>
      </p:sp>
    </p:spTree>
    <p:extLst>
      <p:ext uri="{BB962C8B-B14F-4D97-AF65-F5344CB8AC3E}">
        <p14:creationId xmlns:p14="http://schemas.microsoft.com/office/powerpoint/2010/main" val="302813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2A97-35B3-BFC6-4995-450819D5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46DF-E1D2-328C-28E2-760FF25F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Morphological Processing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E7DC0-0ED7-00C9-B096-5FA8CD75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26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396E-CCAF-4633-101F-4CC3DB895BB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5313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Stemming: Heuristic Root Extraction</a:t>
            </a:r>
          </a:p>
          <a:p>
            <a:r>
              <a:rPr lang="en-US" dirty="0"/>
              <a:t>Stemming removes suffixes using hand-crafted rules. For example:</a:t>
            </a:r>
          </a:p>
          <a:p>
            <a:pPr lvl="1"/>
            <a:r>
              <a:rPr lang="en-US" dirty="0"/>
              <a:t>“running” → “run”</a:t>
            </a:r>
          </a:p>
          <a:p>
            <a:pPr lvl="1"/>
            <a:r>
              <a:rPr lang="en-US" dirty="0"/>
              <a:t>“studies” → “</a:t>
            </a:r>
            <a:r>
              <a:rPr lang="en-US" dirty="0" err="1"/>
              <a:t>studi</a:t>
            </a:r>
            <a:r>
              <a:rPr lang="en-US" dirty="0"/>
              <a:t>”</a:t>
            </a:r>
          </a:p>
          <a:p>
            <a:r>
              <a:rPr lang="en-US" dirty="0"/>
              <a:t>The goal is not linguistic perfection but reducing morphological variants to a shared base form.</a:t>
            </a:r>
          </a:p>
          <a:p>
            <a:r>
              <a:rPr lang="en-US" dirty="0"/>
              <a:t>The Porter Stemmer algorithm uses a sequence of condition-based suffix stripping rules. While efficient, it may produce stems that are not valid dictionary words.</a:t>
            </a:r>
          </a:p>
          <a:p>
            <a:r>
              <a:rPr lang="en-US" dirty="0"/>
              <a:t>Stemming is widely used in information retrieval systems where recall is more important than grammatical accuracy.</a:t>
            </a:r>
          </a:p>
        </p:txBody>
      </p:sp>
    </p:spTree>
    <p:extLst>
      <p:ext uri="{BB962C8B-B14F-4D97-AF65-F5344CB8AC3E}">
        <p14:creationId xmlns:p14="http://schemas.microsoft.com/office/powerpoint/2010/main" val="2006572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3B53-FA58-55E6-60C8-83311464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D5FA-5873-C9AE-F5D2-7C773D10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Morphological Processing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EE562A-A8AD-8A23-97C5-60709F6B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27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9E3F8-727A-0242-E382-993B2957F95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5313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Lemmatization: Linguistically Informed Normalization</a:t>
            </a:r>
          </a:p>
          <a:p>
            <a:r>
              <a:rPr lang="en-US" dirty="0"/>
              <a:t>Lemmatization uses vocabulary knowledge and part-of-speech information.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“better” → “good”</a:t>
            </a:r>
          </a:p>
          <a:p>
            <a:pPr lvl="1"/>
            <a:r>
              <a:rPr lang="en-US" dirty="0"/>
              <a:t>“running” (verb) → “run”</a:t>
            </a:r>
          </a:p>
          <a:p>
            <a:pPr lvl="1"/>
            <a:r>
              <a:rPr lang="en-US" dirty="0"/>
              <a:t>“running” (noun) → “running”</a:t>
            </a:r>
          </a:p>
          <a:p>
            <a:r>
              <a:rPr lang="en-US" dirty="0"/>
              <a:t>Unlike stemming, lemmatization preserves valid dictionary forms and respects grammatical categories.</a:t>
            </a:r>
          </a:p>
          <a:p>
            <a:r>
              <a:rPr lang="en-US" dirty="0"/>
              <a:t>It is computationally heavier but more semantically precise.</a:t>
            </a:r>
          </a:p>
        </p:txBody>
      </p:sp>
    </p:spTree>
    <p:extLst>
      <p:ext uri="{BB962C8B-B14F-4D97-AF65-F5344CB8AC3E}">
        <p14:creationId xmlns:p14="http://schemas.microsoft.com/office/powerpoint/2010/main" val="173728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C763-DC5A-6AFB-C545-FF1E1C3D7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1F1A-9FCB-C213-5174-5E4807183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Words and Their Role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7A668-EF8B-8300-F8D8-AF332D0B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28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C766D-F4EF-3439-0AE1-572F79AE1C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5313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Stopwords</a:t>
            </a:r>
            <a:r>
              <a:rPr lang="en-US" dirty="0"/>
              <a:t> are high-frequency grammatical words such as:</a:t>
            </a:r>
          </a:p>
          <a:p>
            <a:r>
              <a:rPr lang="en-US" dirty="0"/>
              <a:t>the, is, at, on, of</a:t>
            </a:r>
          </a:p>
          <a:p>
            <a:r>
              <a:rPr lang="en-US" dirty="0"/>
              <a:t>In bag-of-words models, they dominate frequency counts but contribute little topical meaning.</a:t>
            </a:r>
          </a:p>
          <a:p>
            <a:r>
              <a:rPr lang="en-US" dirty="0"/>
              <a:t>Removing </a:t>
            </a:r>
            <a:r>
              <a:rPr lang="en-US" dirty="0" err="1"/>
              <a:t>stopwords</a:t>
            </a:r>
            <a:r>
              <a:rPr lang="en-US" dirty="0"/>
              <a:t> reduces dimensionality and computational cost. However, in tasks such as sentiment analysis or question answering, these words may carry critical meaning.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“I do not like this.”</a:t>
            </a:r>
          </a:p>
          <a:p>
            <a:r>
              <a:rPr lang="en-US" dirty="0"/>
              <a:t>Removing “not” reverses sentiment.</a:t>
            </a:r>
          </a:p>
          <a:p>
            <a:r>
              <a:rPr lang="en-US" dirty="0"/>
              <a:t>Thus, </a:t>
            </a:r>
            <a:r>
              <a:rPr lang="en-US" dirty="0" err="1"/>
              <a:t>stopword</a:t>
            </a:r>
            <a:r>
              <a:rPr lang="en-US" dirty="0"/>
              <a:t> removal must be carefully considered.</a:t>
            </a:r>
          </a:p>
        </p:txBody>
      </p:sp>
    </p:spTree>
    <p:extLst>
      <p:ext uri="{BB962C8B-B14F-4D97-AF65-F5344CB8AC3E}">
        <p14:creationId xmlns:p14="http://schemas.microsoft.com/office/powerpoint/2010/main" val="2479720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CC66-2DF8-ACB7-DDE7-9C64D74E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A357-DA66-C9A1-F1A1-C833FA8D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Noise in Modern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7A1B4-D4D2-D507-1024-E89943BD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29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00E6-96A3-9029-A242-8585008B59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53136"/>
          </a:xfrm>
        </p:spPr>
        <p:txBody>
          <a:bodyPr>
            <a:normAutofit lnSpcReduction="10000"/>
          </a:bodyPr>
          <a:lstStyle/>
          <a:p>
            <a:r>
              <a:rPr lang="it-IT" dirty="0"/>
              <a:t>Text from social media introduces additional complexity:</a:t>
            </a:r>
          </a:p>
          <a:p>
            <a:pPr lvl="1"/>
            <a:r>
              <a:rPr lang="it-IT" dirty="0"/>
              <a:t>Repeated letters (“sooooo”)</a:t>
            </a:r>
          </a:p>
          <a:p>
            <a:pPr lvl="1"/>
            <a:r>
              <a:rPr lang="it-IT" dirty="0"/>
              <a:t>Informal abbreviations (“gr8”)</a:t>
            </a:r>
          </a:p>
          <a:p>
            <a:pPr lvl="1"/>
            <a:r>
              <a:rPr lang="it-IT" dirty="0"/>
              <a:t>Emojis</a:t>
            </a:r>
          </a:p>
          <a:p>
            <a:pPr lvl="1"/>
            <a:r>
              <a:rPr lang="it-IT" dirty="0"/>
              <a:t>Hashtags</a:t>
            </a:r>
          </a:p>
          <a:p>
            <a:r>
              <a:rPr lang="it-IT" dirty="0"/>
              <a:t>Normalization may compress repeated letters or map slang to canonical forms. However, aggressive normalization may remove stylistic signals important for sentiment detection.</a:t>
            </a:r>
          </a:p>
          <a:p>
            <a:r>
              <a:rPr lang="it-IT" dirty="0"/>
              <a:t>Modern deep learning models are often trained on noisy corpora and may require minimal normalization compared to classical NLP pipelines.</a:t>
            </a:r>
          </a:p>
        </p:txBody>
      </p:sp>
    </p:spTree>
    <p:extLst>
      <p:ext uri="{BB962C8B-B14F-4D97-AF65-F5344CB8AC3E}">
        <p14:creationId xmlns:p14="http://schemas.microsoft.com/office/powerpoint/2010/main" val="1386956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6FEC-2990-5747-2744-032E595C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AE89-8218-4467-9FB3-2F09787B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Principles of Text Preprocessing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AE569C-0AC9-FD73-99A1-161C98A9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pPr/>
              <a:t>30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CE63E-651F-7F0D-CCEC-287A96CCF4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531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Text preprocessing is not mechanical cleaning. It is a series of linguistically informed design decisions that shape how language is represented computationally.</a:t>
            </a:r>
          </a:p>
          <a:p>
            <a:r>
              <a:rPr lang="en-US" dirty="0"/>
              <a:t>Every step — normalization, segmentation, tokenization, morphological reduction — alters the statistical structure of the corpus.</a:t>
            </a:r>
          </a:p>
          <a:p>
            <a:r>
              <a:rPr lang="en-US" dirty="0"/>
              <a:t>The guiding principle is:</a:t>
            </a:r>
          </a:p>
          <a:p>
            <a:pPr lvl="1"/>
            <a:r>
              <a:rPr lang="en-US" dirty="0"/>
              <a:t>Preprocessing should reduce harmful variability while preserving meaningful distinctions.</a:t>
            </a:r>
          </a:p>
          <a:p>
            <a:r>
              <a:rPr lang="en-US" dirty="0"/>
              <a:t>There is no universal preprocessing pipeline. The correct design depends on:</a:t>
            </a:r>
          </a:p>
          <a:p>
            <a:pPr lvl="1"/>
            <a:r>
              <a:rPr lang="en-US" dirty="0"/>
              <a:t>The task</a:t>
            </a:r>
          </a:p>
          <a:p>
            <a:pPr lvl="1"/>
            <a:r>
              <a:rPr lang="en-US" dirty="0"/>
              <a:t>The model</a:t>
            </a:r>
          </a:p>
          <a:p>
            <a:pPr lvl="1"/>
            <a:r>
              <a:rPr lang="en-US" dirty="0"/>
              <a:t>The data domain</a:t>
            </a:r>
          </a:p>
        </p:txBody>
      </p:sp>
    </p:spTree>
    <p:extLst>
      <p:ext uri="{BB962C8B-B14F-4D97-AF65-F5344CB8AC3E}">
        <p14:creationId xmlns:p14="http://schemas.microsoft.com/office/powerpoint/2010/main" val="109376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B64A-132F-A1FA-5133-6216C9E2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92EF-D70A-938B-04A7-F8E3C271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2A23-B241-0541-DA04-99ADB0B5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05920-88A7-BF52-118E-4C8DA12D9D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2050" name="Picture 2" descr="10 Motivational Quotes That Motivates Me Daily | by Amit Roy | Medium">
            <a:extLst>
              <a:ext uri="{FF2B5EF4-FFF2-40B4-BE49-F238E27FC236}">
                <a16:creationId xmlns:a16="http://schemas.microsoft.com/office/drawing/2014/main" id="{C4DEEC36-2A4E-18FA-4D46-5493D6CC3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16" y="1988840"/>
            <a:ext cx="3528368" cy="430702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67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6941</TotalTime>
  <Words>2418</Words>
  <Application>Microsoft Office PowerPoint</Application>
  <PresentationFormat>Widescreen</PresentationFormat>
  <Paragraphs>337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 MT</vt:lpstr>
      <vt:lpstr>Arial</vt:lpstr>
      <vt:lpstr>Bahnschrift SemiBold</vt:lpstr>
      <vt:lpstr>Calibri</vt:lpstr>
      <vt:lpstr>Congenial Black</vt:lpstr>
      <vt:lpstr>Courier New</vt:lpstr>
      <vt:lpstr>Lucida Sans Unicode</vt:lpstr>
      <vt:lpstr>Segoe UI Symbol</vt:lpstr>
      <vt:lpstr>Times New Roman</vt:lpstr>
      <vt:lpstr>Wingdings</vt:lpstr>
      <vt:lpstr>Wingdings 2</vt:lpstr>
      <vt:lpstr>Median</vt:lpstr>
      <vt:lpstr>State history report presentation</vt:lpstr>
      <vt:lpstr>Dr. Muzamil Ahmed (Assistant Professor)  Namal University Mianwali   </vt:lpstr>
      <vt:lpstr>Lesson from Quran</vt:lpstr>
      <vt:lpstr>Lecture Outline</vt:lpstr>
      <vt:lpstr>Text Data is Superficial</vt:lpstr>
      <vt:lpstr>Corpora</vt:lpstr>
      <vt:lpstr>Corpora</vt:lpstr>
      <vt:lpstr>How many words in a corpus?</vt:lpstr>
      <vt:lpstr>The Nature of Raw Text</vt:lpstr>
      <vt:lpstr>Why Preprocessing is Necessary in NLP</vt:lpstr>
      <vt:lpstr>Text Normalization as Canonicalization</vt:lpstr>
      <vt:lpstr>Case Folding and Its Consequences</vt:lpstr>
      <vt:lpstr>Unicode and Representation Consistency</vt:lpstr>
      <vt:lpstr>Unicode &amp; Encoding Issues</vt:lpstr>
      <vt:lpstr>Sentence Segmentation</vt:lpstr>
      <vt:lpstr>Linguistic Signals for Segmentation</vt:lpstr>
      <vt:lpstr>Regular Expressions</vt:lpstr>
      <vt:lpstr>Regular expressions</vt:lpstr>
      <vt:lpstr>Regular Expressions: Disjunctions</vt:lpstr>
      <vt:lpstr>Regular Expressions: Negation in Disjunction</vt:lpstr>
      <vt:lpstr>Regular Expressions: Convenient aliases</vt:lpstr>
      <vt:lpstr>A note about Python regular expressions</vt:lpstr>
      <vt:lpstr>Tokenization</vt:lpstr>
      <vt:lpstr>Tokenization Challenges in Real Text</vt:lpstr>
      <vt:lpstr>Subword Tokenization in Modern NLP</vt:lpstr>
      <vt:lpstr>Subword Modeling</vt:lpstr>
      <vt:lpstr>Morphological Processing</vt:lpstr>
      <vt:lpstr>Morphological Processing</vt:lpstr>
      <vt:lpstr>Function Words and Their Role</vt:lpstr>
      <vt:lpstr>Noise in Modern Text</vt:lpstr>
      <vt:lpstr>Core Principles of Text Preprocessing</vt:lpstr>
      <vt:lpstr>Thanks</vt:lpstr>
    </vt:vector>
  </TitlesOfParts>
  <Company>TU Wien - Campusversion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Iqbal</dc:creator>
  <cp:lastModifiedBy>Muzamil Ahmed</cp:lastModifiedBy>
  <cp:revision>562</cp:revision>
  <dcterms:created xsi:type="dcterms:W3CDTF">2012-01-21T01:40:52Z</dcterms:created>
  <dcterms:modified xsi:type="dcterms:W3CDTF">2026-03-03T04:56:42Z</dcterms:modified>
</cp:coreProperties>
</file>