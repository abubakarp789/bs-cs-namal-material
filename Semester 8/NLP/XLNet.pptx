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6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0629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75" y="1172468"/>
            <a:ext cx="8858250" cy="190559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142875" y="2992338"/>
            <a:ext cx="8858250" cy="57150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458218"/>
            <a:ext cx="8001000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6800"/>
              </a:lnSpc>
              <a:buNone/>
            </a:pPr>
            <a:r>
              <a:rPr lang="en-US" sz="6218" b="1" kern="0" spc="-3" dirty="0">
                <a:solidFill>
                  <a:srgbClr val="EAEA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XLNET</a:t>
            </a:r>
            <a:endParaRPr lang="en-US" sz="6218" dirty="0"/>
          </a:p>
        </p:txBody>
      </p:sp>
      <p:sp>
        <p:nvSpPr>
          <p:cNvPr id="6" name="Text 3"/>
          <p:cNvSpPr/>
          <p:nvPr/>
        </p:nvSpPr>
        <p:spPr>
          <a:xfrm>
            <a:off x="571500" y="2458343"/>
            <a:ext cx="800100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4" kern="0" spc="2" dirty="0">
                <a:solidFill>
                  <a:srgbClr val="FF3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GENERALIZED AUTOREGRESSIVE PRETRAINING</a:t>
            </a:r>
            <a:endParaRPr lang="en-US" sz="1704" dirty="0"/>
          </a:p>
        </p:txBody>
      </p:sp>
      <p:sp>
        <p:nvSpPr>
          <p:cNvPr id="7" name="Text 4"/>
          <p:cNvSpPr/>
          <p:nvPr/>
        </p:nvSpPr>
        <p:spPr>
          <a:xfrm>
            <a:off x="1659136" y="3763863"/>
            <a:ext cx="240744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CONTEXTUAL EMBEDDINGS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4200740" y="3763863"/>
            <a:ext cx="221242" cy="194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4707731" y="3763863"/>
            <a:ext cx="277713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NLP ARCHITECTURE</a:t>
            </a:r>
            <a:endParaRPr lang="en-US" sz="1193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09E3C6-60DC-4B49-BD1A-B51258D10926}"/>
              </a:ext>
            </a:extLst>
          </p:cNvPr>
          <p:cNvSpPr txBox="1"/>
          <p:nvPr/>
        </p:nvSpPr>
        <p:spPr>
          <a:xfrm>
            <a:off x="5025762" y="4187934"/>
            <a:ext cx="39753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PRESENTERS: </a:t>
            </a:r>
            <a:br>
              <a:rPr lang="en-US" sz="1400" b="1" dirty="0"/>
            </a:br>
            <a:r>
              <a:rPr lang="en-US" sz="1400" b="1" dirty="0"/>
              <a:t>TOUSEEF AHMED NUM-BSCS-2022-18</a:t>
            </a:r>
            <a:br>
              <a:rPr lang="en-US" sz="1400" b="1" dirty="0"/>
            </a:br>
            <a:r>
              <a:rPr lang="en-US" sz="1400" b="1" dirty="0"/>
              <a:t>REHAN MAHMOOD FAROOQI NUM-BSCS-2022-49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32159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264444"/>
            <a:ext cx="9144000" cy="57150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AEA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EVOLUTION OF CONTEXTUAL EMBEDDINGS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214313" y="1550194"/>
            <a:ext cx="1828800" cy="342900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 ERA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214313" y="2035969"/>
            <a:ext cx="182880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Word2Vec &amp; GloVe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214313" y="2264206"/>
            <a:ext cx="1335881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Fixed vectors for words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214313" y="2444223"/>
            <a:ext cx="1243013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regardless of context.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214313" y="2754613"/>
            <a:ext cx="182880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Limitation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214313" y="2982850"/>
            <a:ext cx="1716286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Cannot handle polysemy (e.g.,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214313" y="3162867"/>
            <a:ext cx="439341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"bank").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2500313" y="1550194"/>
            <a:ext cx="1828800" cy="342900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RNN ERA</a:t>
            </a:r>
            <a:endParaRPr lang="en-US" sz="1397" dirty="0"/>
          </a:p>
        </p:txBody>
      </p:sp>
      <p:sp>
        <p:nvSpPr>
          <p:cNvPr id="14" name="Text 11"/>
          <p:cNvSpPr/>
          <p:nvPr/>
        </p:nvSpPr>
        <p:spPr>
          <a:xfrm>
            <a:off x="2500313" y="2035969"/>
            <a:ext cx="182880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ELMo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2500313" y="2264206"/>
            <a:ext cx="1610916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Embeddings from Language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2500313" y="2444223"/>
            <a:ext cx="458986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Models.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2500313" y="2754613"/>
            <a:ext cx="182880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Innovation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2500313" y="2982850"/>
            <a:ext cx="1614488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Bidirectional LSTM captures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2500313" y="3162867"/>
            <a:ext cx="1223367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left and right context.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4786313" y="1550194"/>
            <a:ext cx="1828800" cy="58578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TRANSFORMER ERA</a:t>
            </a:r>
            <a:endParaRPr lang="en-US" sz="1397" dirty="0"/>
          </a:p>
        </p:txBody>
      </p:sp>
      <p:sp>
        <p:nvSpPr>
          <p:cNvPr id="21" name="Text 18"/>
          <p:cNvSpPr/>
          <p:nvPr/>
        </p:nvSpPr>
        <p:spPr>
          <a:xfrm>
            <a:off x="4786313" y="2278856"/>
            <a:ext cx="182880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BERT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4786313" y="2507093"/>
            <a:ext cx="121800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Bidirectional Encoder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4786313" y="2687110"/>
            <a:ext cx="964406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Representations.</a:t>
            </a:r>
            <a:endParaRPr lang="en-US" sz="942" dirty="0"/>
          </a:p>
        </p:txBody>
      </p:sp>
      <p:sp>
        <p:nvSpPr>
          <p:cNvPr id="24" name="Text 21"/>
          <p:cNvSpPr/>
          <p:nvPr/>
        </p:nvSpPr>
        <p:spPr>
          <a:xfrm>
            <a:off x="4786313" y="2997501"/>
            <a:ext cx="182880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Innovation</a:t>
            </a:r>
            <a:endParaRPr lang="en-US" sz="885" dirty="0"/>
          </a:p>
        </p:txBody>
      </p:sp>
      <p:sp>
        <p:nvSpPr>
          <p:cNvPr id="25" name="Text 22"/>
          <p:cNvSpPr/>
          <p:nvPr/>
        </p:nvSpPr>
        <p:spPr>
          <a:xfrm>
            <a:off x="4786313" y="3225738"/>
            <a:ext cx="136267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 bidirectionality via</a:t>
            </a:r>
            <a:endParaRPr lang="en-US" sz="942" dirty="0"/>
          </a:p>
        </p:txBody>
      </p:sp>
      <p:sp>
        <p:nvSpPr>
          <p:cNvPr id="26" name="Text 23"/>
          <p:cNvSpPr/>
          <p:nvPr/>
        </p:nvSpPr>
        <p:spPr>
          <a:xfrm>
            <a:off x="4786313" y="3405755"/>
            <a:ext cx="701873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Masked LM.</a:t>
            </a:r>
            <a:endParaRPr lang="en-US" sz="942" dirty="0"/>
          </a:p>
        </p:txBody>
      </p:sp>
      <p:sp>
        <p:nvSpPr>
          <p:cNvPr id="27" name="Shape 24"/>
          <p:cNvSpPr/>
          <p:nvPr/>
        </p:nvSpPr>
        <p:spPr>
          <a:xfrm>
            <a:off x="6858000" y="1264444"/>
            <a:ext cx="2286000" cy="3879056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28" name="Text 25"/>
          <p:cNvSpPr/>
          <p:nvPr/>
        </p:nvSpPr>
        <p:spPr>
          <a:xfrm>
            <a:off x="7072313" y="1550194"/>
            <a:ext cx="1857375" cy="342900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EAEA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XLNET ROLE</a:t>
            </a:r>
            <a:endParaRPr lang="en-US" sz="1397" dirty="0"/>
          </a:p>
        </p:txBody>
      </p:sp>
      <p:sp>
        <p:nvSpPr>
          <p:cNvPr id="29" name="Text 26"/>
          <p:cNvSpPr/>
          <p:nvPr/>
        </p:nvSpPr>
        <p:spPr>
          <a:xfrm>
            <a:off x="7072313" y="2035969"/>
            <a:ext cx="185737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Hybrid Pretraining</a:t>
            </a:r>
            <a:endParaRPr lang="en-US" sz="885" dirty="0"/>
          </a:p>
        </p:txBody>
      </p:sp>
      <p:sp>
        <p:nvSpPr>
          <p:cNvPr id="30" name="Text 27"/>
          <p:cNvSpPr/>
          <p:nvPr/>
        </p:nvSpPr>
        <p:spPr>
          <a:xfrm>
            <a:off x="7072313" y="2264206"/>
            <a:ext cx="1710928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Combines Autoregressive and</a:t>
            </a:r>
            <a:endParaRPr lang="en-US" sz="942" dirty="0"/>
          </a:p>
        </p:txBody>
      </p:sp>
      <p:sp>
        <p:nvSpPr>
          <p:cNvPr id="31" name="Text 28"/>
          <p:cNvSpPr/>
          <p:nvPr/>
        </p:nvSpPr>
        <p:spPr>
          <a:xfrm>
            <a:off x="7072313" y="2444223"/>
            <a:ext cx="1289447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Autoencoding models.</a:t>
            </a:r>
            <a:endParaRPr lang="en-US" sz="942" dirty="0"/>
          </a:p>
        </p:txBody>
      </p:sp>
      <p:sp>
        <p:nvSpPr>
          <p:cNvPr id="32" name="Text 29"/>
          <p:cNvSpPr/>
          <p:nvPr/>
        </p:nvSpPr>
        <p:spPr>
          <a:xfrm>
            <a:off x="7072313" y="2754613"/>
            <a:ext cx="185737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Goal</a:t>
            </a:r>
            <a:endParaRPr lang="en-US" sz="885" dirty="0"/>
          </a:p>
        </p:txBody>
      </p:sp>
      <p:sp>
        <p:nvSpPr>
          <p:cNvPr id="33" name="Text 30"/>
          <p:cNvSpPr/>
          <p:nvPr/>
        </p:nvSpPr>
        <p:spPr>
          <a:xfrm>
            <a:off x="7072313" y="2982850"/>
            <a:ext cx="1523405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Overcome BERT's masking</a:t>
            </a:r>
            <a:endParaRPr lang="en-US" sz="942" dirty="0"/>
          </a:p>
        </p:txBody>
      </p:sp>
      <p:sp>
        <p:nvSpPr>
          <p:cNvPr id="34" name="Text 31"/>
          <p:cNvSpPr/>
          <p:nvPr/>
        </p:nvSpPr>
        <p:spPr>
          <a:xfrm>
            <a:off x="7072313" y="3162867"/>
            <a:ext cx="641152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limitations.</a:t>
            </a:r>
            <a:endParaRPr lang="en-US" sz="942" dirty="0"/>
          </a:p>
        </p:txBody>
      </p:sp>
      <p:sp>
        <p:nvSpPr>
          <p:cNvPr id="35" name="Shape 32"/>
          <p:cNvSpPr/>
          <p:nvPr/>
        </p:nvSpPr>
        <p:spPr>
          <a:xfrm>
            <a:off x="7072313" y="4580930"/>
            <a:ext cx="1857375" cy="2768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6" name="Text 33"/>
          <p:cNvSpPr/>
          <p:nvPr/>
        </p:nvSpPr>
        <p:spPr>
          <a:xfrm>
            <a:off x="7072313" y="4580930"/>
            <a:ext cx="1857375" cy="27682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NEXT LEAP</a:t>
            </a:r>
            <a:endParaRPr lang="en-US" sz="78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7871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121569"/>
            <a:ext cx="9144000" cy="57150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AEA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BERT'S ACHILLES' HEEL: THE MASKING PROBLEM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428625" y="1407319"/>
            <a:ext cx="3843338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3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1: INDEPENDENCE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428625" y="1898452"/>
            <a:ext cx="38433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INDEPENDENCE ASSUMPTION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428625" y="2169914"/>
            <a:ext cx="3843338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BERT assumes masked tokens are independent of each other. It predicts each [MASK] separately, failing to capture dependencies between them.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8625" y="2955727"/>
            <a:ext cx="3843338" cy="710803"/>
          </a:xfrm>
          <a:prstGeom prst="rect">
            <a:avLst/>
          </a:prstGeom>
          <a:solidFill>
            <a:srgbClr val="FF3366"/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8625" y="2955727"/>
            <a:ext cx="3843338" cy="71080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Loss of contextual nuances between masked words.</a:t>
            </a:r>
            <a:endParaRPr lang="en-US" sz="1090" dirty="0"/>
          </a:p>
        </p:txBody>
      </p:sp>
      <p:sp>
        <p:nvSpPr>
          <p:cNvPr id="11" name="Shape 8"/>
          <p:cNvSpPr/>
          <p:nvPr/>
        </p:nvSpPr>
        <p:spPr>
          <a:xfrm>
            <a:off x="4586288" y="1121569"/>
            <a:ext cx="4557713" cy="402193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4872038" y="1407319"/>
            <a:ext cx="3843338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3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2: DISCREPANCY</a:t>
            </a:r>
            <a:endParaRPr lang="en-US" sz="1602" dirty="0"/>
          </a:p>
        </p:txBody>
      </p:sp>
      <p:sp>
        <p:nvSpPr>
          <p:cNvPr id="13" name="Text 10"/>
          <p:cNvSpPr/>
          <p:nvPr/>
        </p:nvSpPr>
        <p:spPr>
          <a:xfrm>
            <a:off x="4872038" y="1898452"/>
            <a:ext cx="38433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PRETRAIN-FINETUNE GAP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4872038" y="2169914"/>
            <a:ext cx="3843338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[MASK] token used during training never appears during real-world inference. This artificial noise limits performance on downstream tasks.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872038" y="2955727"/>
            <a:ext cx="3843338" cy="526852"/>
          </a:xfrm>
          <a:prstGeom prst="rect">
            <a:avLst/>
          </a:prstGeom>
          <a:solidFill>
            <a:srgbClr val="0055FF"/>
          </a:solidFill>
          <a:ln w="27432">
            <a:solidFill>
              <a:srgbClr val="EAEA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72038" y="2955727"/>
            <a:ext cx="3843338" cy="52685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Inconsistent input between training and usage.</a:t>
            </a:r>
            <a:endParaRPr lang="en-US" sz="109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7871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121569"/>
            <a:ext cx="9144000" cy="57150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AEA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XLNET BREAKTHROUGH: HYBRID PRETRAINING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285750" y="1407319"/>
            <a:ext cx="2257425" cy="18930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4"/>
          <p:cNvSpPr/>
          <p:nvPr/>
        </p:nvSpPr>
        <p:spPr>
          <a:xfrm>
            <a:off x="285750" y="1407319"/>
            <a:ext cx="2257425" cy="189309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AUTOREGRESSIVE (AR)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285750" y="1739503"/>
            <a:ext cx="2257425" cy="342900"/>
          </a:xfrm>
          <a:prstGeom prst="rect">
            <a:avLst/>
          </a:prstGeom>
          <a:noFill/>
          <a:ln/>
        </p:spPr>
        <p:txBody>
          <a:bodyPr wrap="none" lIns="0" tIns="8509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GPT WAY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285750" y="2225278"/>
            <a:ext cx="2257425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Predicts the next token based on a fixed direction (left-to-right). Excellent for generation but lacks bidirectional context.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3143250" y="1407319"/>
            <a:ext cx="2257425" cy="18930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3143250" y="1407319"/>
            <a:ext cx="2257425" cy="189309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AUTOENCODING (AE)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3143250" y="1739503"/>
            <a:ext cx="2257425" cy="342900"/>
          </a:xfrm>
          <a:prstGeom prst="rect">
            <a:avLst/>
          </a:prstGeom>
          <a:noFill/>
          <a:ln/>
        </p:spPr>
        <p:txBody>
          <a:bodyPr wrap="none" lIns="0" tIns="8509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BERT WAY</a:t>
            </a:r>
            <a:endParaRPr lang="en-US" sz="1397" dirty="0"/>
          </a:p>
        </p:txBody>
      </p:sp>
      <p:sp>
        <p:nvSpPr>
          <p:cNvPr id="13" name="Text 10"/>
          <p:cNvSpPr/>
          <p:nvPr/>
        </p:nvSpPr>
        <p:spPr>
          <a:xfrm>
            <a:off x="3143250" y="2225278"/>
            <a:ext cx="2257425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Reconstructs input from corrupted versions using [MASK]. Captures bidirectional context but introduces artificial noise and independence assumptions.</a:t>
            </a:r>
            <a:endParaRPr lang="en-US" sz="942" dirty="0"/>
          </a:p>
        </p:txBody>
      </p:sp>
      <p:sp>
        <p:nvSpPr>
          <p:cNvPr id="14" name="Shape 11"/>
          <p:cNvSpPr/>
          <p:nvPr/>
        </p:nvSpPr>
        <p:spPr>
          <a:xfrm>
            <a:off x="5715000" y="1121569"/>
            <a:ext cx="3429000" cy="4021931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15" name="Shape 12"/>
          <p:cNvSpPr/>
          <p:nvPr/>
        </p:nvSpPr>
        <p:spPr>
          <a:xfrm>
            <a:off x="6000750" y="1407319"/>
            <a:ext cx="2857500" cy="189309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16" name="Text 13"/>
          <p:cNvSpPr/>
          <p:nvPr/>
        </p:nvSpPr>
        <p:spPr>
          <a:xfrm>
            <a:off x="6000750" y="1407319"/>
            <a:ext cx="2857500" cy="189309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GENERALIZED AR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6000750" y="1739503"/>
            <a:ext cx="2857500" cy="342900"/>
          </a:xfrm>
          <a:prstGeom prst="rect">
            <a:avLst/>
          </a:prstGeom>
          <a:noFill/>
          <a:ln/>
        </p:spPr>
        <p:txBody>
          <a:bodyPr wrap="none" lIns="0" tIns="8509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EAEA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XLNET WAY</a:t>
            </a:r>
            <a:endParaRPr lang="en-US" sz="1397" dirty="0"/>
          </a:p>
        </p:txBody>
      </p:sp>
      <p:sp>
        <p:nvSpPr>
          <p:cNvPr id="18" name="Text 15"/>
          <p:cNvSpPr/>
          <p:nvPr/>
        </p:nvSpPr>
        <p:spPr>
          <a:xfrm>
            <a:off x="6000750" y="2225278"/>
            <a:ext cx="28575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Uses an AR objective on </a:t>
            </a:r>
            <a:r>
              <a:rPr lang="en-US" sz="885" b="1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permutations</a:t>
            </a:r>
            <a:r>
              <a:rPr lang="en-US" sz="942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the input sequence. Captures bidirectional context naturally without masking.</a:t>
            </a:r>
            <a:endParaRPr lang="en-US" sz="942" dirty="0"/>
          </a:p>
        </p:txBody>
      </p:sp>
      <p:sp>
        <p:nvSpPr>
          <p:cNvPr id="19" name="Shape 16"/>
          <p:cNvSpPr/>
          <p:nvPr/>
        </p:nvSpPr>
        <p:spPr>
          <a:xfrm>
            <a:off x="6000750" y="4380905"/>
            <a:ext cx="2857500" cy="476845"/>
          </a:xfrm>
          <a:prstGeom prst="rect">
            <a:avLst/>
          </a:prstGeom>
          <a:solidFill>
            <a:srgbClr val="EAEAEA"/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00750" y="4380905"/>
            <a:ext cx="2857500" cy="47684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 OF BOTH WORLDS</a:t>
            </a:r>
            <a:endParaRPr lang="en-US" sz="78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6080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03659"/>
            <a:ext cx="9144000" cy="57150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AEA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PERMUTATION LANGUAGE MODELING (PLM)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285750" y="989409"/>
            <a:ext cx="2447906" cy="242888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CORE CONCEPT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285750" y="1375172"/>
            <a:ext cx="2447906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Instead of a fixed left-to-right order, XLNet trains on </a:t>
            </a:r>
            <a:r>
              <a:rPr lang="en-US" sz="987" b="1" dirty="0">
                <a:solidFill>
                  <a:srgbClr val="FF33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possible permutations</a:t>
            </a: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a sequence. This allows the model to predict a token using context from any other position.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85750" y="4330898"/>
            <a:ext cx="2447906" cy="526852"/>
          </a:xfrm>
          <a:prstGeom prst="rect">
            <a:avLst/>
          </a:prstGeom>
          <a:solidFill>
            <a:srgbClr val="000000"/>
          </a:solidFill>
          <a:ln w="27432">
            <a:solidFill>
              <a:srgbClr val="0055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85750" y="4330898"/>
            <a:ext cx="2447906" cy="52685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SHUFFLED ORDERING</a:t>
            </a:r>
            <a:endParaRPr lang="en-US" sz="1090" dirty="0"/>
          </a:p>
        </p:txBody>
      </p:sp>
      <p:sp>
        <p:nvSpPr>
          <p:cNvPr id="10" name="Text 7"/>
          <p:cNvSpPr/>
          <p:nvPr/>
        </p:nvSpPr>
        <p:spPr>
          <a:xfrm>
            <a:off x="3333731" y="989409"/>
            <a:ext cx="2447934" cy="485775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BIDIRECTIONAL CAPTURE</a:t>
            </a:r>
            <a:endParaRPr lang="en-US" sz="1397" dirty="0"/>
          </a:p>
        </p:txBody>
      </p:sp>
      <p:sp>
        <p:nvSpPr>
          <p:cNvPr id="11" name="Text 8"/>
          <p:cNvSpPr/>
          <p:nvPr/>
        </p:nvSpPr>
        <p:spPr>
          <a:xfrm>
            <a:off x="3333731" y="1618059"/>
            <a:ext cx="2447934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shuffling the order, a token can "see" tokens that originally appeared both before and after it. This achieves </a:t>
            </a:r>
            <a:r>
              <a:rPr lang="en-US" sz="987" b="1" dirty="0">
                <a:solidFill>
                  <a:srgbClr val="FF33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 bidirectionality</a:t>
            </a: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without the need for artificial masking.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33731" y="4330898"/>
            <a:ext cx="2447934" cy="526852"/>
          </a:xfrm>
          <a:prstGeom prst="rect">
            <a:avLst/>
          </a:prstGeom>
          <a:solidFill>
            <a:srgbClr val="000000"/>
          </a:solidFill>
          <a:ln w="27432">
            <a:solidFill>
              <a:srgbClr val="0055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33731" y="4330898"/>
            <a:ext cx="2447934" cy="52685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NATURAL CONTEXT</a:t>
            </a:r>
            <a:endParaRPr lang="en-US" sz="1090" dirty="0"/>
          </a:p>
        </p:txBody>
      </p:sp>
      <p:sp>
        <p:nvSpPr>
          <p:cNvPr id="14" name="Text 11"/>
          <p:cNvSpPr/>
          <p:nvPr/>
        </p:nvSpPr>
        <p:spPr>
          <a:xfrm>
            <a:off x="6381741" y="989409"/>
            <a:ext cx="2476481" cy="485775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MASKING REQUIRED</a:t>
            </a:r>
            <a:endParaRPr lang="en-US" sz="1397" dirty="0"/>
          </a:p>
        </p:txBody>
      </p:sp>
      <p:sp>
        <p:nvSpPr>
          <p:cNvPr id="15" name="Text 12"/>
          <p:cNvSpPr/>
          <p:nvPr/>
        </p:nvSpPr>
        <p:spPr>
          <a:xfrm>
            <a:off x="6381741" y="1618059"/>
            <a:ext cx="2476481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Since the prediction order is permuted, the model naturally learns dependencies without needing </a:t>
            </a:r>
            <a:r>
              <a:rPr lang="en-US" sz="987" b="1" dirty="0">
                <a:solidFill>
                  <a:srgbClr val="FF33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[MASK]</a:t>
            </a: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tokens, eliminating the pretrain-finetune discrepancy.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381741" y="4330898"/>
            <a:ext cx="2476481" cy="526852"/>
          </a:xfrm>
          <a:prstGeom prst="rect">
            <a:avLst/>
          </a:prstGeom>
          <a:solidFill>
            <a:srgbClr val="000000"/>
          </a:solidFill>
          <a:ln w="27432">
            <a:solidFill>
              <a:srgbClr val="0055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81741" y="4330898"/>
            <a:ext cx="2476481" cy="52685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 NOISE</a:t>
            </a:r>
            <a:endParaRPr lang="en-US" sz="109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0728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050131"/>
            <a:ext cx="9144000" cy="57150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764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226" b="1" dirty="0">
                <a:solidFill>
                  <a:srgbClr val="EAEA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XLNET EMBEDDING PROCESS: STEP-BY-STEP</a:t>
            </a:r>
            <a:endParaRPr lang="en-US" sz="2226" dirty="0"/>
          </a:p>
        </p:txBody>
      </p:sp>
      <p:sp>
        <p:nvSpPr>
          <p:cNvPr id="6" name="Text 3"/>
          <p:cNvSpPr/>
          <p:nvPr/>
        </p:nvSpPr>
        <p:spPr>
          <a:xfrm>
            <a:off x="214313" y="1335881"/>
            <a:ext cx="1828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0055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294" dirty="0"/>
          </a:p>
        </p:txBody>
      </p:sp>
      <p:sp>
        <p:nvSpPr>
          <p:cNvPr id="7" name="Text 4"/>
          <p:cNvSpPr/>
          <p:nvPr/>
        </p:nvSpPr>
        <p:spPr>
          <a:xfrm>
            <a:off x="214313" y="1864519"/>
            <a:ext cx="1828800" cy="307181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TOKENIZATION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214313" y="2314575"/>
            <a:ext cx="1828800" cy="90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Sentences are broken into subwords using </a:t>
            </a:r>
            <a:r>
              <a:rPr lang="en-US" sz="885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SentencePiece</a:t>
            </a:r>
            <a:r>
              <a:rPr lang="en-US" sz="942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Unlike BERT, no [MASK] tokens are added to the input sequence.</a:t>
            </a:r>
            <a:endParaRPr lang="en-US" sz="942" dirty="0"/>
          </a:p>
        </p:txBody>
      </p:sp>
      <p:sp>
        <p:nvSpPr>
          <p:cNvPr id="9" name="Shape 6"/>
          <p:cNvSpPr/>
          <p:nvPr/>
        </p:nvSpPr>
        <p:spPr>
          <a:xfrm>
            <a:off x="214313" y="4625578"/>
            <a:ext cx="1828800" cy="2321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214313" y="4625578"/>
            <a:ext cx="1828800" cy="232172"/>
          </a:xfrm>
          <a:prstGeom prst="rect">
            <a:avLst/>
          </a:prstGeom>
          <a:noFill/>
          <a:ln/>
        </p:spPr>
        <p:txBody>
          <a:bodyPr wrap="square" lIns="127508" tIns="68072" rIns="127508" bIns="68072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SUBWORD ENCODING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2500313" y="1335881"/>
            <a:ext cx="1828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0055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294" dirty="0"/>
          </a:p>
        </p:txBody>
      </p:sp>
      <p:sp>
        <p:nvSpPr>
          <p:cNvPr id="12" name="Text 9"/>
          <p:cNvSpPr/>
          <p:nvPr/>
        </p:nvSpPr>
        <p:spPr>
          <a:xfrm>
            <a:off x="2500313" y="1864519"/>
            <a:ext cx="1828800" cy="307181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POSITIONING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2500313" y="2314575"/>
            <a:ext cx="1828800" cy="90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Relative Positional Encoding</a:t>
            </a:r>
            <a:r>
              <a:rPr lang="en-US" sz="942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applied. This allows XLNet to understand where tokens are relative to each other across long sequences.</a:t>
            </a:r>
            <a:endParaRPr lang="en-US" sz="942" dirty="0"/>
          </a:p>
        </p:txBody>
      </p:sp>
      <p:sp>
        <p:nvSpPr>
          <p:cNvPr id="14" name="Shape 11"/>
          <p:cNvSpPr/>
          <p:nvPr/>
        </p:nvSpPr>
        <p:spPr>
          <a:xfrm>
            <a:off x="2500313" y="4625578"/>
            <a:ext cx="1828800" cy="2321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2500313" y="4625578"/>
            <a:ext cx="1828800" cy="232172"/>
          </a:xfrm>
          <a:prstGeom prst="rect">
            <a:avLst/>
          </a:prstGeom>
          <a:noFill/>
          <a:ln/>
        </p:spPr>
        <p:txBody>
          <a:bodyPr wrap="square" lIns="127508" tIns="68072" rIns="127508" bIns="68072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DISTANCE-AWARE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4786313" y="1335881"/>
            <a:ext cx="1828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0055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294" dirty="0"/>
          </a:p>
        </p:txBody>
      </p:sp>
      <p:sp>
        <p:nvSpPr>
          <p:cNvPr id="17" name="Text 14"/>
          <p:cNvSpPr/>
          <p:nvPr/>
        </p:nvSpPr>
        <p:spPr>
          <a:xfrm>
            <a:off x="4786313" y="1864519"/>
            <a:ext cx="1828800" cy="307181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ATTENTION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4786313" y="2314575"/>
            <a:ext cx="1828800" cy="90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r>
              <a:rPr lang="en-US" sz="885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Two-Stream Mechanism</a:t>
            </a:r>
            <a:r>
              <a:rPr lang="en-US" sz="942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processes the tokens. Content and Query streams ensure context is learned without "cheating."</a:t>
            </a:r>
            <a:endParaRPr lang="en-US" sz="942" dirty="0"/>
          </a:p>
        </p:txBody>
      </p:sp>
      <p:sp>
        <p:nvSpPr>
          <p:cNvPr id="19" name="Shape 16"/>
          <p:cNvSpPr/>
          <p:nvPr/>
        </p:nvSpPr>
        <p:spPr>
          <a:xfrm>
            <a:off x="4786313" y="4625578"/>
            <a:ext cx="1828800" cy="2321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Text 17"/>
          <p:cNvSpPr/>
          <p:nvPr/>
        </p:nvSpPr>
        <p:spPr>
          <a:xfrm>
            <a:off x="4786313" y="4625578"/>
            <a:ext cx="1828800" cy="232172"/>
          </a:xfrm>
          <a:prstGeom prst="rect">
            <a:avLst/>
          </a:prstGeom>
          <a:noFill/>
          <a:ln/>
        </p:spPr>
        <p:txBody>
          <a:bodyPr wrap="square" lIns="127508" tIns="68072" rIns="127508" bIns="68072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PLM MECHANISM</a:t>
            </a:r>
            <a:endParaRPr lang="en-US" sz="683" dirty="0"/>
          </a:p>
        </p:txBody>
      </p:sp>
      <p:sp>
        <p:nvSpPr>
          <p:cNvPr id="21" name="Shape 18"/>
          <p:cNvSpPr/>
          <p:nvPr/>
        </p:nvSpPr>
        <p:spPr>
          <a:xfrm>
            <a:off x="6858000" y="1050131"/>
            <a:ext cx="2286000" cy="4093369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22" name="Text 19"/>
          <p:cNvSpPr/>
          <p:nvPr/>
        </p:nvSpPr>
        <p:spPr>
          <a:xfrm>
            <a:off x="7072313" y="1335881"/>
            <a:ext cx="185737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3294" dirty="0"/>
          </a:p>
        </p:txBody>
      </p:sp>
      <p:sp>
        <p:nvSpPr>
          <p:cNvPr id="23" name="Text 20"/>
          <p:cNvSpPr/>
          <p:nvPr/>
        </p:nvSpPr>
        <p:spPr>
          <a:xfrm>
            <a:off x="7072313" y="1864519"/>
            <a:ext cx="1857375" cy="307181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</a:t>
            </a:r>
            <a:endParaRPr lang="en-US" sz="1193" dirty="0"/>
          </a:p>
        </p:txBody>
      </p:sp>
      <p:sp>
        <p:nvSpPr>
          <p:cNvPr id="24" name="Text 21"/>
          <p:cNvSpPr/>
          <p:nvPr/>
        </p:nvSpPr>
        <p:spPr>
          <a:xfrm>
            <a:off x="7072313" y="2314575"/>
            <a:ext cx="1857375" cy="90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final hidden state for each token is a </a:t>
            </a:r>
            <a:r>
              <a:rPr lang="en-US" sz="885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dense vector</a:t>
            </a:r>
            <a:r>
              <a:rPr lang="en-US" sz="942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representing its meaning within the specific context of the sentence.</a:t>
            </a:r>
            <a:endParaRPr lang="en-US" sz="942" dirty="0"/>
          </a:p>
        </p:txBody>
      </p:sp>
      <p:sp>
        <p:nvSpPr>
          <p:cNvPr id="25" name="Shape 22"/>
          <p:cNvSpPr/>
          <p:nvPr/>
        </p:nvSpPr>
        <p:spPr>
          <a:xfrm>
            <a:off x="7072313" y="4625578"/>
            <a:ext cx="1857375" cy="2321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6" name="Text 23"/>
          <p:cNvSpPr/>
          <p:nvPr/>
        </p:nvSpPr>
        <p:spPr>
          <a:xfrm>
            <a:off x="7072313" y="4625578"/>
            <a:ext cx="1857375" cy="232172"/>
          </a:xfrm>
          <a:prstGeom prst="rect">
            <a:avLst/>
          </a:prstGeom>
          <a:noFill/>
          <a:ln/>
        </p:spPr>
        <p:txBody>
          <a:bodyPr wrap="square" lIns="127508" tIns="68072" rIns="127508" bIns="68072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DYNAMIC EMBEDDING</a:t>
            </a:r>
            <a:endParaRPr lang="en-US" sz="68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2509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667941"/>
            <a:ext cx="9144000" cy="57150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3821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226" b="1" dirty="0">
                <a:solidFill>
                  <a:srgbClr val="EAEA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SIMPLE MATHEMATICAL EXAMPLE</a:t>
            </a:r>
            <a:endParaRPr lang="en-US" sz="2226" dirty="0"/>
          </a:p>
        </p:txBody>
      </p:sp>
      <p:sp>
        <p:nvSpPr>
          <p:cNvPr id="6" name="Text 3"/>
          <p:cNvSpPr/>
          <p:nvPr/>
        </p:nvSpPr>
        <p:spPr>
          <a:xfrm>
            <a:off x="428625" y="953691"/>
            <a:ext cx="370046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5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SETUP</a:t>
            </a:r>
            <a:endParaRPr lang="en-US" sz="1397" dirty="0"/>
          </a:p>
        </p:txBody>
      </p:sp>
      <p:sp>
        <p:nvSpPr>
          <p:cNvPr id="7" name="Shape 4"/>
          <p:cNvSpPr/>
          <p:nvPr/>
        </p:nvSpPr>
        <p:spPr>
          <a:xfrm>
            <a:off x="428625" y="1339453"/>
            <a:ext cx="3700463" cy="610791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8625" y="1339453"/>
            <a:ext cx="3700463" cy="61079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Sentence:</a:t>
            </a:r>
            <a:r>
              <a:rPr lang="en-US" sz="834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"The cat sat"
</a:t>
            </a:r>
            <a:r>
              <a:rPr lang="en-US" sz="784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Tokens:</a:t>
            </a:r>
            <a:r>
              <a:rPr lang="en-US" sz="834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x₁="The", x₂="cat", x₃="sat"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428625" y="2107406"/>
            <a:ext cx="370046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5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RANDOM PERMUTATION</a:t>
            </a:r>
            <a:endParaRPr lang="en-US" sz="1397" dirty="0"/>
          </a:p>
        </p:txBody>
      </p:sp>
      <p:sp>
        <p:nvSpPr>
          <p:cNvPr id="10" name="Shape 7"/>
          <p:cNvSpPr/>
          <p:nvPr/>
        </p:nvSpPr>
        <p:spPr>
          <a:xfrm>
            <a:off x="428625" y="2493169"/>
            <a:ext cx="3700463" cy="610791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8625" y="2493169"/>
            <a:ext cx="3700463" cy="61079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Order:</a:t>
            </a:r>
            <a:r>
              <a:rPr lang="en-US" sz="834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[3, 1, 2]
</a:t>
            </a:r>
            <a:r>
              <a:rPr lang="en-US" sz="784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Goal:</a:t>
            </a:r>
            <a:r>
              <a:rPr lang="en-US" sz="834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Predict x₂ ("cat") at position 2.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428625" y="3261122"/>
            <a:ext cx="3700463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this order, the model sees </a:t>
            </a:r>
            <a:r>
              <a:rPr lang="en-US" sz="885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x₃</a:t>
            </a:r>
            <a:r>
              <a:rPr lang="en-US" sz="942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885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x₁</a:t>
            </a:r>
            <a:r>
              <a:rPr lang="en-US" sz="942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before predicting </a:t>
            </a:r>
            <a:r>
              <a:rPr lang="en-US" sz="885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x₂</a:t>
            </a:r>
            <a:r>
              <a:rPr lang="en-US" sz="942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942" dirty="0"/>
          </a:p>
        </p:txBody>
      </p:sp>
      <p:sp>
        <p:nvSpPr>
          <p:cNvPr id="13" name="Shape 10"/>
          <p:cNvSpPr/>
          <p:nvPr/>
        </p:nvSpPr>
        <p:spPr>
          <a:xfrm>
            <a:off x="4586288" y="667941"/>
            <a:ext cx="4557713" cy="447555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5014913" y="953691"/>
            <a:ext cx="370046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3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PREDICTION MATH</a:t>
            </a:r>
            <a:endParaRPr lang="en-US" sz="1397" dirty="0"/>
          </a:p>
        </p:txBody>
      </p:sp>
      <p:sp>
        <p:nvSpPr>
          <p:cNvPr id="15" name="Shape 12"/>
          <p:cNvSpPr/>
          <p:nvPr/>
        </p:nvSpPr>
        <p:spPr>
          <a:xfrm>
            <a:off x="5014913" y="1339453"/>
            <a:ext cx="3700463" cy="480417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6" name="Shape 13"/>
          <p:cNvSpPr/>
          <p:nvPr/>
        </p:nvSpPr>
        <p:spPr>
          <a:xfrm>
            <a:off x="5014913" y="1339453"/>
            <a:ext cx="57150" cy="480417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17" name="Text 14"/>
          <p:cNvSpPr/>
          <p:nvPr/>
        </p:nvSpPr>
        <p:spPr>
          <a:xfrm>
            <a:off x="5014913" y="1339453"/>
            <a:ext cx="3700463" cy="48041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P(x₂ | x₃, x₁, z₂)</a:t>
            </a:r>
            <a:endParaRPr lang="en-US" sz="1269" dirty="0"/>
          </a:p>
        </p:txBody>
      </p:sp>
      <p:sp>
        <p:nvSpPr>
          <p:cNvPr id="18" name="Text 15"/>
          <p:cNvSpPr/>
          <p:nvPr/>
        </p:nvSpPr>
        <p:spPr>
          <a:xfrm>
            <a:off x="5014913" y="1962745"/>
            <a:ext cx="3700463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33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z₂</a:t>
            </a:r>
            <a:r>
              <a:rPr lang="en-US" sz="942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represents the </a:t>
            </a:r>
            <a:r>
              <a:rPr lang="en-US" sz="885" b="1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position</a:t>
            </a:r>
            <a:r>
              <a:rPr lang="en-US" sz="942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(index 2).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5014913" y="2249918"/>
            <a:ext cx="370046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model uses the </a:t>
            </a:r>
            <a:r>
              <a:rPr lang="en-US" sz="885" b="1" dirty="0">
                <a:solidFill>
                  <a:srgbClr val="FF33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Query Stream (g₂)</a:t>
            </a:r>
            <a:r>
              <a:rPr lang="en-US" sz="942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calculate the probability:</a:t>
            </a:r>
            <a:endParaRPr lang="en-US" sz="942" dirty="0"/>
          </a:p>
        </p:txBody>
      </p:sp>
      <p:sp>
        <p:nvSpPr>
          <p:cNvPr id="20" name="Shape 17"/>
          <p:cNvSpPr/>
          <p:nvPr/>
        </p:nvSpPr>
        <p:spPr>
          <a:xfrm>
            <a:off x="5014913" y="2717109"/>
            <a:ext cx="3700463" cy="5786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1" name="Shape 18"/>
          <p:cNvSpPr/>
          <p:nvPr/>
        </p:nvSpPr>
        <p:spPr>
          <a:xfrm>
            <a:off x="5014913" y="2717109"/>
            <a:ext cx="57150" cy="578644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22" name="Text 19"/>
          <p:cNvSpPr/>
          <p:nvPr/>
        </p:nvSpPr>
        <p:spPr>
          <a:xfrm>
            <a:off x="5014913" y="2717109"/>
            <a:ext cx="3700463" cy="57864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g₂ = Attention(Query=z₂, Key={x₃, x₁}, Value={x₃, x₁})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5014913" y="3438627"/>
            <a:ext cx="370046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only using the position </a:t>
            </a:r>
            <a:r>
              <a:rPr lang="en-US" sz="885" b="1" dirty="0">
                <a:solidFill>
                  <a:srgbClr val="FF33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z₂</a:t>
            </a:r>
            <a:r>
              <a:rPr lang="en-US" sz="942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(not the content "cat"), XLNet learns to predict "cat" using context from "sat" and "The".</a:t>
            </a:r>
            <a:endParaRPr lang="en-US" sz="94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7871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121569"/>
            <a:ext cx="9144000" cy="57150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AEA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VISUALIZING PLM: HOW SHUFFLING CAPTURES CONTEXT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428625" y="1407319"/>
            <a:ext cx="168592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5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ORIGINAL ORDER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428625" y="1685925"/>
            <a:ext cx="1685925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Natural sequence of tokens in the sentence.</a:t>
            </a:r>
            <a:endParaRPr lang="en-US" sz="834" dirty="0"/>
          </a:p>
        </p:txBody>
      </p:sp>
      <p:sp>
        <p:nvSpPr>
          <p:cNvPr id="8" name="Shape 5"/>
          <p:cNvSpPr/>
          <p:nvPr/>
        </p:nvSpPr>
        <p:spPr>
          <a:xfrm>
            <a:off x="2428875" y="1407319"/>
            <a:ext cx="571500" cy="571500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28875" y="1407319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2" dirty="0"/>
          </a:p>
        </p:txBody>
      </p:sp>
      <p:sp>
        <p:nvSpPr>
          <p:cNvPr id="10" name="Shape 7"/>
          <p:cNvSpPr/>
          <p:nvPr/>
        </p:nvSpPr>
        <p:spPr>
          <a:xfrm>
            <a:off x="3143250" y="1407319"/>
            <a:ext cx="571500" cy="571500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43250" y="1407319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2" dirty="0"/>
          </a:p>
        </p:txBody>
      </p:sp>
      <p:sp>
        <p:nvSpPr>
          <p:cNvPr id="12" name="Shape 9"/>
          <p:cNvSpPr/>
          <p:nvPr/>
        </p:nvSpPr>
        <p:spPr>
          <a:xfrm>
            <a:off x="3857625" y="1407319"/>
            <a:ext cx="571500" cy="571500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57625" y="1407319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2" dirty="0"/>
          </a:p>
        </p:txBody>
      </p:sp>
      <p:sp>
        <p:nvSpPr>
          <p:cNvPr id="14" name="Shape 11"/>
          <p:cNvSpPr/>
          <p:nvPr/>
        </p:nvSpPr>
        <p:spPr>
          <a:xfrm>
            <a:off x="4572000" y="1407319"/>
            <a:ext cx="571500" cy="571500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0" y="1407319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2" dirty="0"/>
          </a:p>
        </p:txBody>
      </p:sp>
      <p:sp>
        <p:nvSpPr>
          <p:cNvPr id="16" name="Text 13"/>
          <p:cNvSpPr/>
          <p:nvPr/>
        </p:nvSpPr>
        <p:spPr>
          <a:xfrm>
            <a:off x="428625" y="2614613"/>
            <a:ext cx="168592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5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PERMUTATION A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428625" y="2893219"/>
            <a:ext cx="1685925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Order: [3, 2, 4, 1]
Predicting 4 using 3 and 2.</a:t>
            </a:r>
            <a:endParaRPr lang="en-US" sz="834" dirty="0"/>
          </a:p>
        </p:txBody>
      </p:sp>
      <p:sp>
        <p:nvSpPr>
          <p:cNvPr id="18" name="Shape 15"/>
          <p:cNvSpPr/>
          <p:nvPr/>
        </p:nvSpPr>
        <p:spPr>
          <a:xfrm>
            <a:off x="2428875" y="2614613"/>
            <a:ext cx="571500" cy="571500"/>
          </a:xfrm>
          <a:prstGeom prst="rect">
            <a:avLst/>
          </a:prstGeom>
          <a:solidFill>
            <a:srgbClr val="0055FF"/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428875" y="2614613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2" dirty="0"/>
          </a:p>
        </p:txBody>
      </p:sp>
      <p:sp>
        <p:nvSpPr>
          <p:cNvPr id="20" name="Shape 17"/>
          <p:cNvSpPr/>
          <p:nvPr/>
        </p:nvSpPr>
        <p:spPr>
          <a:xfrm>
            <a:off x="3143250" y="2614613"/>
            <a:ext cx="571500" cy="571500"/>
          </a:xfrm>
          <a:prstGeom prst="rect">
            <a:avLst/>
          </a:prstGeom>
          <a:solidFill>
            <a:srgbClr val="0055FF"/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143250" y="2614613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2" dirty="0"/>
          </a:p>
        </p:txBody>
      </p:sp>
      <p:sp>
        <p:nvSpPr>
          <p:cNvPr id="22" name="Shape 19"/>
          <p:cNvSpPr/>
          <p:nvPr/>
        </p:nvSpPr>
        <p:spPr>
          <a:xfrm>
            <a:off x="3857625" y="2614613"/>
            <a:ext cx="571500" cy="571500"/>
          </a:xfrm>
          <a:prstGeom prst="rect">
            <a:avLst/>
          </a:prstGeom>
          <a:solidFill>
            <a:srgbClr val="FF3366"/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857625" y="2614613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2" dirty="0"/>
          </a:p>
        </p:txBody>
      </p:sp>
      <p:sp>
        <p:nvSpPr>
          <p:cNvPr id="24" name="Shape 21"/>
          <p:cNvSpPr/>
          <p:nvPr/>
        </p:nvSpPr>
        <p:spPr>
          <a:xfrm>
            <a:off x="4572000" y="2614613"/>
            <a:ext cx="571500" cy="571500"/>
          </a:xfrm>
          <a:prstGeom prst="rect">
            <a:avLst/>
          </a:prstGeom>
          <a:solidFill>
            <a:srgbClr val="333333">
              <a:alpha val="20000"/>
            </a:srgbClr>
          </a:solidFill>
          <a:ln w="27432">
            <a:solidFill>
              <a:srgbClr val="000000">
                <a:alpha val="2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0" y="2614613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33333">
                    <a:alpha val="2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2" dirty="0"/>
          </a:p>
        </p:txBody>
      </p:sp>
      <p:sp>
        <p:nvSpPr>
          <p:cNvPr id="26" name="Text 23"/>
          <p:cNvSpPr/>
          <p:nvPr/>
        </p:nvSpPr>
        <p:spPr>
          <a:xfrm>
            <a:off x="428625" y="3821906"/>
            <a:ext cx="168592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5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PERMUTATION B</a:t>
            </a:r>
            <a:endParaRPr lang="en-US" sz="1193" dirty="0"/>
          </a:p>
        </p:txBody>
      </p:sp>
      <p:sp>
        <p:nvSpPr>
          <p:cNvPr id="27" name="Text 24"/>
          <p:cNvSpPr/>
          <p:nvPr/>
        </p:nvSpPr>
        <p:spPr>
          <a:xfrm>
            <a:off x="428625" y="4100513"/>
            <a:ext cx="1685925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Order: [2, 4, 3, 1]
Predicting 4 using only 2.</a:t>
            </a:r>
            <a:endParaRPr lang="en-US" sz="834" dirty="0"/>
          </a:p>
        </p:txBody>
      </p:sp>
      <p:sp>
        <p:nvSpPr>
          <p:cNvPr id="28" name="Shape 25"/>
          <p:cNvSpPr/>
          <p:nvPr/>
        </p:nvSpPr>
        <p:spPr>
          <a:xfrm>
            <a:off x="2428875" y="3821906"/>
            <a:ext cx="571500" cy="571500"/>
          </a:xfrm>
          <a:prstGeom prst="rect">
            <a:avLst/>
          </a:prstGeom>
          <a:solidFill>
            <a:srgbClr val="0055FF"/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428875" y="3821906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2" dirty="0"/>
          </a:p>
        </p:txBody>
      </p:sp>
      <p:sp>
        <p:nvSpPr>
          <p:cNvPr id="30" name="Shape 27"/>
          <p:cNvSpPr/>
          <p:nvPr/>
        </p:nvSpPr>
        <p:spPr>
          <a:xfrm>
            <a:off x="3143250" y="3821906"/>
            <a:ext cx="571500" cy="571500"/>
          </a:xfrm>
          <a:prstGeom prst="rect">
            <a:avLst/>
          </a:prstGeom>
          <a:solidFill>
            <a:srgbClr val="FF3366"/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143250" y="3821906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2" dirty="0"/>
          </a:p>
        </p:txBody>
      </p:sp>
      <p:sp>
        <p:nvSpPr>
          <p:cNvPr id="32" name="Shape 29"/>
          <p:cNvSpPr/>
          <p:nvPr/>
        </p:nvSpPr>
        <p:spPr>
          <a:xfrm>
            <a:off x="3857625" y="3821906"/>
            <a:ext cx="571500" cy="571500"/>
          </a:xfrm>
          <a:prstGeom prst="rect">
            <a:avLst/>
          </a:prstGeom>
          <a:solidFill>
            <a:srgbClr val="333333">
              <a:alpha val="20000"/>
            </a:srgbClr>
          </a:solidFill>
          <a:ln w="27432">
            <a:solidFill>
              <a:srgbClr val="000000">
                <a:alpha val="2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857625" y="3821906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33333">
                    <a:alpha val="2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2" dirty="0"/>
          </a:p>
        </p:txBody>
      </p:sp>
      <p:sp>
        <p:nvSpPr>
          <p:cNvPr id="34" name="Shape 31"/>
          <p:cNvSpPr/>
          <p:nvPr/>
        </p:nvSpPr>
        <p:spPr>
          <a:xfrm>
            <a:off x="4572000" y="3821906"/>
            <a:ext cx="571500" cy="571500"/>
          </a:xfrm>
          <a:prstGeom prst="rect">
            <a:avLst/>
          </a:prstGeom>
          <a:solidFill>
            <a:srgbClr val="333333">
              <a:alpha val="20000"/>
            </a:srgbClr>
          </a:solidFill>
          <a:ln w="27432">
            <a:solidFill>
              <a:srgbClr val="000000">
                <a:alpha val="20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72000" y="3821906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33333">
                    <a:alpha val="2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2" dirty="0"/>
          </a:p>
        </p:txBody>
      </p:sp>
      <p:sp>
        <p:nvSpPr>
          <p:cNvPr id="36" name="Shape 33"/>
          <p:cNvSpPr/>
          <p:nvPr/>
        </p:nvSpPr>
        <p:spPr>
          <a:xfrm>
            <a:off x="0" y="4714875"/>
            <a:ext cx="9144000" cy="4286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7" name="Text 34"/>
          <p:cNvSpPr/>
          <p:nvPr/>
        </p:nvSpPr>
        <p:spPr>
          <a:xfrm>
            <a:off x="585788" y="4939903"/>
            <a:ext cx="90725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AEA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VISIBLE CONTEXT</a:t>
            </a:r>
            <a:endParaRPr lang="en-US" sz="683" dirty="0"/>
          </a:p>
        </p:txBody>
      </p:sp>
      <p:sp>
        <p:nvSpPr>
          <p:cNvPr id="38" name="Text 35"/>
          <p:cNvSpPr/>
          <p:nvPr/>
        </p:nvSpPr>
        <p:spPr>
          <a:xfrm>
            <a:off x="1935956" y="4939903"/>
            <a:ext cx="78402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AEA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TOKEN</a:t>
            </a:r>
            <a:endParaRPr lang="en-US" sz="683" dirty="0"/>
          </a:p>
        </p:txBody>
      </p:sp>
      <p:sp>
        <p:nvSpPr>
          <p:cNvPr id="39" name="Text 36"/>
          <p:cNvSpPr/>
          <p:nvPr/>
        </p:nvSpPr>
        <p:spPr>
          <a:xfrm>
            <a:off x="3162895" y="4939903"/>
            <a:ext cx="87868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AEA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(HIDDEN)</a:t>
            </a:r>
            <a:endParaRPr lang="en-US" sz="68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9919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2509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667941"/>
            <a:ext cx="9144000" cy="57150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3821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226" b="1" kern="0" spc="-1" dirty="0">
                <a:solidFill>
                  <a:srgbClr val="EAEA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TWO-STREAM SELF-ATTENTION</a:t>
            </a:r>
            <a:endParaRPr lang="en-US" sz="2226" dirty="0"/>
          </a:p>
        </p:txBody>
      </p:sp>
      <p:sp>
        <p:nvSpPr>
          <p:cNvPr id="6" name="Shape 3"/>
          <p:cNvSpPr/>
          <p:nvPr/>
        </p:nvSpPr>
        <p:spPr>
          <a:xfrm>
            <a:off x="0" y="667941"/>
            <a:ext cx="9144000" cy="325041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7" name="Shape 4"/>
          <p:cNvSpPr/>
          <p:nvPr/>
        </p:nvSpPr>
        <p:spPr>
          <a:xfrm>
            <a:off x="0" y="964406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0" y="667941"/>
            <a:ext cx="9144000" cy="325041"/>
          </a:xfrm>
          <a:prstGeom prst="rect">
            <a:avLst/>
          </a:prstGeom>
          <a:noFill/>
          <a:ln/>
        </p:spPr>
        <p:txBody>
          <a:bodyPr wrap="square" lIns="510286" tIns="127508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SOLVING THE PREDICTION PARADOX: KNOWING "WHERE" WITHOUT SEEING "WHAT"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428625" y="1250156"/>
            <a:ext cx="321469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</a:t>
            </a:r>
            <a:endParaRPr lang="en-US" sz="3294" dirty="0"/>
          </a:p>
        </p:txBody>
      </p:sp>
      <p:sp>
        <p:nvSpPr>
          <p:cNvPr id="10" name="Text 7"/>
          <p:cNvSpPr/>
          <p:nvPr/>
        </p:nvSpPr>
        <p:spPr>
          <a:xfrm>
            <a:off x="750094" y="1416583"/>
            <a:ext cx="125016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720" b="1" baseline="-40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</a:t>
            </a:r>
            <a:endParaRPr lang="en-US" sz="2720" dirty="0"/>
          </a:p>
        </p:txBody>
      </p:sp>
      <p:sp>
        <p:nvSpPr>
          <p:cNvPr id="11" name="Text 8"/>
          <p:cNvSpPr/>
          <p:nvPr/>
        </p:nvSpPr>
        <p:spPr>
          <a:xfrm>
            <a:off x="428625" y="1954150"/>
            <a:ext cx="3700463" cy="3196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STREAM</a:t>
            </a:r>
            <a:endParaRPr lang="en-US" sz="1602" dirty="0"/>
          </a:p>
        </p:txBody>
      </p:sp>
      <p:sp>
        <p:nvSpPr>
          <p:cNvPr id="12" name="Text 9"/>
          <p:cNvSpPr/>
          <p:nvPr/>
        </p:nvSpPr>
        <p:spPr>
          <a:xfrm>
            <a:off x="428625" y="2416708"/>
            <a:ext cx="37004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standard Transformer attention. It encodes both the </a:t>
            </a:r>
            <a:r>
              <a:rPr lang="en-US" sz="987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positional information</a:t>
            </a: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the </a:t>
            </a:r>
            <a:r>
              <a:rPr lang="en-US" sz="987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actual content</a:t>
            </a: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the token.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28625" y="3195377"/>
            <a:ext cx="3700463" cy="237530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USED AS CONTEXT FOR OTHERS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428625" y="3540063"/>
            <a:ext cx="3700463" cy="237530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SEMANTIC REPRESENTATION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428625" y="3884749"/>
            <a:ext cx="3700463" cy="237530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VISIBLE TO ALL SUBSEQUENT TOKENS</a:t>
            </a:r>
            <a:endParaRPr lang="en-US" sz="885" dirty="0"/>
          </a:p>
        </p:txBody>
      </p:sp>
      <p:sp>
        <p:nvSpPr>
          <p:cNvPr id="16" name="Shape 13"/>
          <p:cNvSpPr/>
          <p:nvPr/>
        </p:nvSpPr>
        <p:spPr>
          <a:xfrm>
            <a:off x="428625" y="4380905"/>
            <a:ext cx="3700463" cy="476845"/>
          </a:xfrm>
          <a:prstGeom prst="rect">
            <a:avLst/>
          </a:prstGeom>
          <a:solidFill>
            <a:srgbClr val="000000"/>
          </a:solidFill>
          <a:ln w="27432">
            <a:solidFill>
              <a:srgbClr val="FF336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8625" y="4380905"/>
            <a:ext cx="3700463" cy="47684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REPRESENTS THE "KNOWLEDGE"</a:t>
            </a:r>
            <a:endParaRPr lang="en-US" sz="784" dirty="0"/>
          </a:p>
        </p:txBody>
      </p:sp>
      <p:sp>
        <p:nvSpPr>
          <p:cNvPr id="18" name="Shape 15"/>
          <p:cNvSpPr/>
          <p:nvPr/>
        </p:nvSpPr>
        <p:spPr>
          <a:xfrm>
            <a:off x="4586288" y="964406"/>
            <a:ext cx="4557713" cy="4179094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19" name="Text 16"/>
          <p:cNvSpPr/>
          <p:nvPr/>
        </p:nvSpPr>
        <p:spPr>
          <a:xfrm>
            <a:off x="5014913" y="1250156"/>
            <a:ext cx="325041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EAEA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</a:t>
            </a:r>
            <a:endParaRPr lang="en-US" sz="3294" dirty="0"/>
          </a:p>
        </p:txBody>
      </p:sp>
      <p:sp>
        <p:nvSpPr>
          <p:cNvPr id="20" name="Text 17"/>
          <p:cNvSpPr/>
          <p:nvPr/>
        </p:nvSpPr>
        <p:spPr>
          <a:xfrm>
            <a:off x="5339953" y="1416583"/>
            <a:ext cx="125016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720" b="1" baseline="-40000" dirty="0">
                <a:solidFill>
                  <a:srgbClr val="EAEA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</a:t>
            </a:r>
            <a:endParaRPr lang="en-US" sz="2720" dirty="0"/>
          </a:p>
        </p:txBody>
      </p:sp>
      <p:sp>
        <p:nvSpPr>
          <p:cNvPr id="21" name="Text 18"/>
          <p:cNvSpPr/>
          <p:nvPr/>
        </p:nvSpPr>
        <p:spPr>
          <a:xfrm>
            <a:off x="5014913" y="1954150"/>
            <a:ext cx="3700463" cy="3196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AEA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STREAM</a:t>
            </a:r>
            <a:endParaRPr lang="en-US" sz="1602" dirty="0"/>
          </a:p>
        </p:txBody>
      </p:sp>
      <p:sp>
        <p:nvSpPr>
          <p:cNvPr id="22" name="Text 19"/>
          <p:cNvSpPr/>
          <p:nvPr/>
        </p:nvSpPr>
        <p:spPr>
          <a:xfrm>
            <a:off x="5014913" y="2416708"/>
            <a:ext cx="37004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specialized stream that only has access to the </a:t>
            </a:r>
            <a:r>
              <a:rPr lang="en-US" sz="987" b="1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position</a:t>
            </a:r>
            <a:r>
              <a:rPr lang="en-US" sz="1050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the </a:t>
            </a:r>
            <a:r>
              <a:rPr lang="en-US" sz="987" b="1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context</a:t>
            </a:r>
            <a:r>
              <a:rPr lang="en-US" sz="1050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other words, but not the target word's content.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014913" y="3423977"/>
            <a:ext cx="3700463" cy="237530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PREVENTS "CHEATING"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5014913" y="3768663"/>
            <a:ext cx="3700463" cy="237530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POSITION-AWARE PREDICTION</a:t>
            </a:r>
            <a:endParaRPr lang="en-US" sz="885" dirty="0"/>
          </a:p>
        </p:txBody>
      </p:sp>
      <p:sp>
        <p:nvSpPr>
          <p:cNvPr id="25" name="Text 22"/>
          <p:cNvSpPr/>
          <p:nvPr/>
        </p:nvSpPr>
        <p:spPr>
          <a:xfrm>
            <a:off x="5014913" y="4113349"/>
            <a:ext cx="3700463" cy="237530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ESSENTIAL FOR AR OBJECTIVE</a:t>
            </a:r>
            <a:endParaRPr lang="en-US" sz="885" dirty="0"/>
          </a:p>
        </p:txBody>
      </p:sp>
      <p:sp>
        <p:nvSpPr>
          <p:cNvPr id="26" name="Shape 23"/>
          <p:cNvSpPr/>
          <p:nvPr/>
        </p:nvSpPr>
        <p:spPr>
          <a:xfrm>
            <a:off x="5014913" y="4380905"/>
            <a:ext cx="3700463" cy="476845"/>
          </a:xfrm>
          <a:prstGeom prst="rect">
            <a:avLst/>
          </a:prstGeom>
          <a:solidFill>
            <a:srgbClr val="000000"/>
          </a:solidFill>
          <a:ln w="27432">
            <a:solidFill>
              <a:srgbClr val="FF336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14913" y="4380905"/>
            <a:ext cx="3700463" cy="47684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ENABLES THE "PREDICTION"</a:t>
            </a:r>
            <a:endParaRPr lang="en-US" sz="78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7871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121569"/>
            <a:ext cx="9144000" cy="57150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AEA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LEVERAGING TRANSFORMER-XL: LONG-RANGE DEPENDENCIES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428625" y="1407319"/>
            <a:ext cx="3843338" cy="276820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5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 RECURRENCE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428625" y="1898452"/>
            <a:ext cx="38433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BEYOND FIXED WINDOWS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428625" y="2169914"/>
            <a:ext cx="3843338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XLNet reuses hidden states from previous segments to provide context for the current one. This creates a "memory" that flows across the document.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8625" y="2955727"/>
            <a:ext cx="3843338" cy="72509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Shape 7"/>
          <p:cNvSpPr/>
          <p:nvPr/>
        </p:nvSpPr>
        <p:spPr>
          <a:xfrm>
            <a:off x="428625" y="2955727"/>
            <a:ext cx="57150" cy="725091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11" name="Text 8"/>
          <p:cNvSpPr/>
          <p:nvPr/>
        </p:nvSpPr>
        <p:spPr>
          <a:xfrm>
            <a:off x="428625" y="2955727"/>
            <a:ext cx="3843338" cy="725091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Enables modeling of dependencies that span thousands of tokens.</a:t>
            </a:r>
            <a:endParaRPr lang="en-US" sz="1090" dirty="0"/>
          </a:p>
        </p:txBody>
      </p:sp>
      <p:sp>
        <p:nvSpPr>
          <p:cNvPr id="12" name="Text 9"/>
          <p:cNvSpPr/>
          <p:nvPr/>
        </p:nvSpPr>
        <p:spPr>
          <a:xfrm>
            <a:off x="4872038" y="1407319"/>
            <a:ext cx="3843338" cy="553641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5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RELATIVE POSITIONAL ENCODING</a:t>
            </a:r>
            <a:endParaRPr lang="en-US" sz="1602" dirty="0"/>
          </a:p>
        </p:txBody>
      </p:sp>
      <p:sp>
        <p:nvSpPr>
          <p:cNvPr id="13" name="Text 10"/>
          <p:cNvSpPr/>
          <p:nvPr/>
        </p:nvSpPr>
        <p:spPr>
          <a:xfrm>
            <a:off x="4872038" y="2175272"/>
            <a:ext cx="38433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DISTANCE-BASED CONTEXT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4872038" y="2446734"/>
            <a:ext cx="3843338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Instead of absolute positions, it learns the relative distance between tokens. This is crucial for maintaining coherence when segments are reused.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872038" y="3161109"/>
            <a:ext cx="1307306" cy="348258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16" name="Text 13"/>
          <p:cNvSpPr/>
          <p:nvPr/>
        </p:nvSpPr>
        <p:spPr>
          <a:xfrm>
            <a:off x="4872038" y="3161109"/>
            <a:ext cx="1307306" cy="34825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512-TOKEN LIMIT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4872038" y="3795117"/>
            <a:ext cx="38433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RESULT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4872038" y="4066580"/>
            <a:ext cx="38433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Superior performance on long-form text tasks like document summarization and long-passage question answering.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7871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121569"/>
            <a:ext cx="9144000" cy="57150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AEA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XLNET VS. BERT: A HEAD-TO-HEAD COMPARISON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442913" y="1421606"/>
            <a:ext cx="2064544" cy="378619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42913" y="1421606"/>
            <a:ext cx="2064544" cy="378619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</a:t>
            </a:r>
            <a:endParaRPr lang="en-US" sz="1193" dirty="0"/>
          </a:p>
        </p:txBody>
      </p:sp>
      <p:sp>
        <p:nvSpPr>
          <p:cNvPr id="8" name="Shape 5"/>
          <p:cNvSpPr/>
          <p:nvPr/>
        </p:nvSpPr>
        <p:spPr>
          <a:xfrm>
            <a:off x="2507456" y="1421606"/>
            <a:ext cx="3096816" cy="378619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507456" y="1421606"/>
            <a:ext cx="3096816" cy="378619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BERT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04272" y="1421606"/>
            <a:ext cx="3096816" cy="378619"/>
          </a:xfrm>
          <a:prstGeom prst="rect">
            <a:avLst/>
          </a:prstGeom>
          <a:solidFill>
            <a:srgbClr val="0055FF"/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04272" y="1421606"/>
            <a:ext cx="3096816" cy="378619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AEA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XLNET</a:t>
            </a:r>
            <a:endParaRPr lang="en-US" sz="1193" dirty="0"/>
          </a:p>
        </p:txBody>
      </p:sp>
      <p:sp>
        <p:nvSpPr>
          <p:cNvPr id="12" name="Shape 9"/>
          <p:cNvSpPr/>
          <p:nvPr/>
        </p:nvSpPr>
        <p:spPr>
          <a:xfrm>
            <a:off x="442913" y="1800225"/>
            <a:ext cx="2064544" cy="351467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0075" y="1943100"/>
            <a:ext cx="17502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</a:t>
            </a:r>
            <a:endParaRPr lang="en-US" sz="885" dirty="0"/>
          </a:p>
        </p:txBody>
      </p:sp>
      <p:sp>
        <p:nvSpPr>
          <p:cNvPr id="14" name="Shape 11"/>
          <p:cNvSpPr/>
          <p:nvPr/>
        </p:nvSpPr>
        <p:spPr>
          <a:xfrm>
            <a:off x="2507456" y="1800225"/>
            <a:ext cx="3096816" cy="351467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50331" y="1943100"/>
            <a:ext cx="279677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Autoencoding (Denoising)</a:t>
            </a:r>
            <a:endParaRPr lang="en-US" sz="942" dirty="0"/>
          </a:p>
        </p:txBody>
      </p:sp>
      <p:sp>
        <p:nvSpPr>
          <p:cNvPr id="16" name="Shape 13"/>
          <p:cNvSpPr/>
          <p:nvPr/>
        </p:nvSpPr>
        <p:spPr>
          <a:xfrm>
            <a:off x="5604272" y="1800225"/>
            <a:ext cx="3096816" cy="351467"/>
          </a:xfrm>
          <a:prstGeom prst="rect">
            <a:avLst/>
          </a:prstGeom>
          <a:solidFill>
            <a:srgbClr val="0055FF"/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47147" y="1928813"/>
            <a:ext cx="279677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Permutation Autoregressive</a:t>
            </a:r>
            <a:endParaRPr lang="en-US" sz="942" dirty="0"/>
          </a:p>
        </p:txBody>
      </p:sp>
      <p:sp>
        <p:nvSpPr>
          <p:cNvPr id="18" name="Shape 15"/>
          <p:cNvSpPr/>
          <p:nvPr/>
        </p:nvSpPr>
        <p:spPr>
          <a:xfrm>
            <a:off x="442913" y="2123117"/>
            <a:ext cx="2064544" cy="351467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0075" y="2265992"/>
            <a:ext cx="17502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</a:t>
            </a:r>
            <a:endParaRPr lang="en-US" sz="885" dirty="0"/>
          </a:p>
        </p:txBody>
      </p:sp>
      <p:sp>
        <p:nvSpPr>
          <p:cNvPr id="20" name="Shape 17"/>
          <p:cNvSpPr/>
          <p:nvPr/>
        </p:nvSpPr>
        <p:spPr>
          <a:xfrm>
            <a:off x="2507456" y="2123117"/>
            <a:ext cx="3096816" cy="351467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650331" y="2265992"/>
            <a:ext cx="279677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Bidirectional (via Masking)</a:t>
            </a:r>
            <a:endParaRPr lang="en-US" sz="942" dirty="0"/>
          </a:p>
        </p:txBody>
      </p:sp>
      <p:sp>
        <p:nvSpPr>
          <p:cNvPr id="22" name="Shape 19"/>
          <p:cNvSpPr/>
          <p:nvPr/>
        </p:nvSpPr>
        <p:spPr>
          <a:xfrm>
            <a:off x="5604272" y="2123117"/>
            <a:ext cx="3096816" cy="351467"/>
          </a:xfrm>
          <a:prstGeom prst="rect">
            <a:avLst/>
          </a:prstGeom>
          <a:solidFill>
            <a:srgbClr val="0055FF"/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47147" y="2251704"/>
            <a:ext cx="279677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Bidirectional (via Permutation)</a:t>
            </a:r>
            <a:endParaRPr lang="en-US" sz="942" dirty="0"/>
          </a:p>
        </p:txBody>
      </p:sp>
      <p:sp>
        <p:nvSpPr>
          <p:cNvPr id="24" name="Shape 21"/>
          <p:cNvSpPr/>
          <p:nvPr/>
        </p:nvSpPr>
        <p:spPr>
          <a:xfrm>
            <a:off x="442913" y="2446009"/>
            <a:ext cx="2064544" cy="564328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0075" y="2588884"/>
            <a:ext cx="17502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NOISE</a:t>
            </a:r>
            <a:endParaRPr lang="en-US" sz="885" dirty="0"/>
          </a:p>
        </p:txBody>
      </p:sp>
      <p:sp>
        <p:nvSpPr>
          <p:cNvPr id="26" name="Shape 23"/>
          <p:cNvSpPr/>
          <p:nvPr/>
        </p:nvSpPr>
        <p:spPr>
          <a:xfrm>
            <a:off x="2507456" y="2446009"/>
            <a:ext cx="3096816" cy="564328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650331" y="2617459"/>
            <a:ext cx="317897" cy="148568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28" name="Text 25"/>
          <p:cNvSpPr/>
          <p:nvPr/>
        </p:nvSpPr>
        <p:spPr>
          <a:xfrm>
            <a:off x="2650331" y="2617459"/>
            <a:ext cx="317897" cy="148568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</a:t>
            </a:r>
            <a:endParaRPr lang="en-US" sz="584" dirty="0"/>
          </a:p>
        </p:txBody>
      </p:sp>
      <p:sp>
        <p:nvSpPr>
          <p:cNvPr id="29" name="Text 26"/>
          <p:cNvSpPr/>
          <p:nvPr/>
        </p:nvSpPr>
        <p:spPr>
          <a:xfrm>
            <a:off x="2650331" y="2814247"/>
            <a:ext cx="135016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Artificial [MASK] tokens</a:t>
            </a:r>
            <a:endParaRPr lang="en-US" sz="942" dirty="0"/>
          </a:p>
        </p:txBody>
      </p:sp>
      <p:sp>
        <p:nvSpPr>
          <p:cNvPr id="30" name="Shape 27"/>
          <p:cNvSpPr/>
          <p:nvPr/>
        </p:nvSpPr>
        <p:spPr>
          <a:xfrm>
            <a:off x="5604272" y="2446009"/>
            <a:ext cx="3096816" cy="564328"/>
          </a:xfrm>
          <a:prstGeom prst="rect">
            <a:avLst/>
          </a:prstGeom>
          <a:solidFill>
            <a:srgbClr val="0055FF"/>
          </a:solidFill>
          <a:ln w="27432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5747147" y="2603171"/>
            <a:ext cx="342900" cy="14856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2" name="Text 29"/>
          <p:cNvSpPr/>
          <p:nvPr/>
        </p:nvSpPr>
        <p:spPr>
          <a:xfrm>
            <a:off x="5747147" y="2603171"/>
            <a:ext cx="342900" cy="148568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NONE</a:t>
            </a:r>
            <a:endParaRPr lang="en-US" sz="584" dirty="0"/>
          </a:p>
        </p:txBody>
      </p:sp>
      <p:sp>
        <p:nvSpPr>
          <p:cNvPr id="33" name="Text 30"/>
          <p:cNvSpPr/>
          <p:nvPr/>
        </p:nvSpPr>
        <p:spPr>
          <a:xfrm>
            <a:off x="5747147" y="2799959"/>
            <a:ext cx="98048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Natural Text Only</a:t>
            </a:r>
            <a:endParaRPr lang="en-US" sz="942" dirty="0"/>
          </a:p>
        </p:txBody>
      </p:sp>
      <p:sp>
        <p:nvSpPr>
          <p:cNvPr id="34" name="Shape 31"/>
          <p:cNvSpPr/>
          <p:nvPr/>
        </p:nvSpPr>
        <p:spPr>
          <a:xfrm>
            <a:off x="442913" y="2981762"/>
            <a:ext cx="2064544" cy="351467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00075" y="3124637"/>
            <a:ext cx="17502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 CONTEXT</a:t>
            </a:r>
            <a:endParaRPr lang="en-US" sz="885" dirty="0"/>
          </a:p>
        </p:txBody>
      </p:sp>
      <p:sp>
        <p:nvSpPr>
          <p:cNvPr id="36" name="Shape 33"/>
          <p:cNvSpPr/>
          <p:nvPr/>
        </p:nvSpPr>
        <p:spPr>
          <a:xfrm>
            <a:off x="2507456" y="2981762"/>
            <a:ext cx="3096816" cy="351467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650331" y="3124637"/>
            <a:ext cx="279677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Limited (Fixed 512 segments)</a:t>
            </a:r>
            <a:endParaRPr lang="en-US" sz="942" dirty="0"/>
          </a:p>
        </p:txBody>
      </p:sp>
      <p:sp>
        <p:nvSpPr>
          <p:cNvPr id="38" name="Shape 35"/>
          <p:cNvSpPr/>
          <p:nvPr/>
        </p:nvSpPr>
        <p:spPr>
          <a:xfrm>
            <a:off x="5604272" y="2981762"/>
            <a:ext cx="3096816" cy="351467"/>
          </a:xfrm>
          <a:prstGeom prst="rect">
            <a:avLst/>
          </a:prstGeom>
          <a:solidFill>
            <a:srgbClr val="0055FF"/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747147" y="3110350"/>
            <a:ext cx="279677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Excellent (Transformer-XL)</a:t>
            </a:r>
            <a:endParaRPr lang="en-US" sz="942" dirty="0"/>
          </a:p>
        </p:txBody>
      </p:sp>
      <p:sp>
        <p:nvSpPr>
          <p:cNvPr id="40" name="Shape 37"/>
          <p:cNvSpPr/>
          <p:nvPr/>
        </p:nvSpPr>
        <p:spPr>
          <a:xfrm>
            <a:off x="442913" y="3304654"/>
            <a:ext cx="2064544" cy="351467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00075" y="3447529"/>
            <a:ext cx="17502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DEPENDENCIES</a:t>
            </a:r>
            <a:endParaRPr lang="en-US" sz="885" dirty="0"/>
          </a:p>
        </p:txBody>
      </p:sp>
      <p:sp>
        <p:nvSpPr>
          <p:cNvPr id="42" name="Shape 39"/>
          <p:cNvSpPr/>
          <p:nvPr/>
        </p:nvSpPr>
        <p:spPr>
          <a:xfrm>
            <a:off x="2507456" y="3304654"/>
            <a:ext cx="3096816" cy="351467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650331" y="3447529"/>
            <a:ext cx="279677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Independence Assumption</a:t>
            </a:r>
            <a:endParaRPr lang="en-US" sz="942" dirty="0"/>
          </a:p>
        </p:txBody>
      </p:sp>
      <p:sp>
        <p:nvSpPr>
          <p:cNvPr id="44" name="Shape 41"/>
          <p:cNvSpPr/>
          <p:nvPr/>
        </p:nvSpPr>
        <p:spPr>
          <a:xfrm>
            <a:off x="5604272" y="3304654"/>
            <a:ext cx="3096816" cy="351467"/>
          </a:xfrm>
          <a:prstGeom prst="rect">
            <a:avLst/>
          </a:prstGeom>
          <a:solidFill>
            <a:srgbClr val="0055FF"/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747147" y="3433242"/>
            <a:ext cx="279677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Dependency Modeling</a:t>
            </a:r>
            <a:endParaRPr lang="en-US" sz="94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91781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7871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121569"/>
            <a:ext cx="9144000" cy="57150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AEA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STATE-OF-THE-ART PERFORMANCE: BENCHMARK RESULTS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428625" y="1407319"/>
            <a:ext cx="84010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GLUE BENCHMARK COMPARISON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428625" y="1685925"/>
            <a:ext cx="8401050" cy="2286000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1800225"/>
            <a:ext cx="8115300" cy="200025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72600" y="1407319"/>
            <a:ext cx="1164431" cy="154302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Shape 6"/>
          <p:cNvSpPr/>
          <p:nvPr/>
        </p:nvSpPr>
        <p:spPr>
          <a:xfrm>
            <a:off x="9372600" y="1407319"/>
            <a:ext cx="71438" cy="1543022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11" name="Text 7"/>
          <p:cNvSpPr/>
          <p:nvPr/>
        </p:nvSpPr>
        <p:spPr>
          <a:xfrm>
            <a:off x="9458325" y="1493044"/>
            <a:ext cx="921544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3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SQUAD 2.0</a:t>
            </a:r>
            <a:endParaRPr lang="en-US" sz="1193" dirty="0"/>
          </a:p>
        </p:txBody>
      </p:sp>
      <p:sp>
        <p:nvSpPr>
          <p:cNvPr id="12" name="Text 8"/>
          <p:cNvSpPr/>
          <p:nvPr/>
        </p:nvSpPr>
        <p:spPr>
          <a:xfrm>
            <a:off x="9458325" y="1964531"/>
            <a:ext cx="921544" cy="90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XLNet leads BERT by over 7 F1 points in reading comprehension.</a:t>
            </a:r>
            <a:endParaRPr lang="en-US" sz="942" dirty="0"/>
          </a:p>
        </p:txBody>
      </p:sp>
      <p:sp>
        <p:nvSpPr>
          <p:cNvPr id="13" name="Shape 9"/>
          <p:cNvSpPr/>
          <p:nvPr/>
        </p:nvSpPr>
        <p:spPr>
          <a:xfrm>
            <a:off x="9372600" y="3036066"/>
            <a:ext cx="1092994" cy="208307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Shape 10"/>
          <p:cNvSpPr/>
          <p:nvPr/>
        </p:nvSpPr>
        <p:spPr>
          <a:xfrm>
            <a:off x="9372600" y="3036066"/>
            <a:ext cx="71438" cy="2083073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15" name="Text 11"/>
          <p:cNvSpPr/>
          <p:nvPr/>
        </p:nvSpPr>
        <p:spPr>
          <a:xfrm>
            <a:off x="9458325" y="3121791"/>
            <a:ext cx="921544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3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20+ TASKS</a:t>
            </a:r>
            <a:endParaRPr lang="en-US" sz="1193" dirty="0"/>
          </a:p>
        </p:txBody>
      </p:sp>
      <p:sp>
        <p:nvSpPr>
          <p:cNvPr id="16" name="Text 12"/>
          <p:cNvSpPr/>
          <p:nvPr/>
        </p:nvSpPr>
        <p:spPr>
          <a:xfrm>
            <a:off x="9458325" y="3593278"/>
            <a:ext cx="921544" cy="1260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XLNet outperforms BERT across 20+ NLP tasks, showing robust permutation modeling.</a:t>
            </a:r>
            <a:endParaRPr lang="en-US" sz="942" dirty="0"/>
          </a:p>
        </p:txBody>
      </p:sp>
      <p:sp>
        <p:nvSpPr>
          <p:cNvPr id="17" name="Text 13"/>
          <p:cNvSpPr/>
          <p:nvPr/>
        </p:nvSpPr>
        <p:spPr>
          <a:xfrm>
            <a:off x="9372600" y="5110572"/>
            <a:ext cx="1092994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SOURCE: YANG ET AL. (2019) "XLNET: GENERALIZED AUTOREGRESSIVE PRETRAINING"</a:t>
            </a:r>
            <a:endParaRPr lang="en-US" sz="683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6080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03659"/>
            <a:ext cx="9144000" cy="57150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AEA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REAL-WORLD APPLICATIONS OF XLNET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428625" y="989409"/>
            <a:ext cx="368617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 QUESTION ANSWERING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428625" y="1339453"/>
            <a:ext cx="368617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Ideal for systems that need to "read" and synthesize information from long passages or multiple documents to find precise answers.</a:t>
            </a:r>
            <a:endParaRPr lang="en-US" sz="942" dirty="0"/>
          </a:p>
        </p:txBody>
      </p:sp>
      <p:sp>
        <p:nvSpPr>
          <p:cNvPr id="8" name="Shape 5"/>
          <p:cNvSpPr/>
          <p:nvPr/>
        </p:nvSpPr>
        <p:spPr>
          <a:xfrm>
            <a:off x="428625" y="2419945"/>
            <a:ext cx="1589484" cy="26074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428625" y="2419945"/>
            <a:ext cx="1589484" cy="260747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TRANSFORMER-XL MEMORY</a:t>
            </a:r>
            <a:endParaRPr lang="en-US" sz="683" dirty="0"/>
          </a:p>
        </p:txBody>
      </p:sp>
      <p:sp>
        <p:nvSpPr>
          <p:cNvPr id="10" name="Shape 7"/>
          <p:cNvSpPr/>
          <p:nvPr/>
        </p:nvSpPr>
        <p:spPr>
          <a:xfrm>
            <a:off x="4572000" y="703659"/>
            <a:ext cx="4572000" cy="2219920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0" y="2895005"/>
            <a:ext cx="457200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5000625" y="989409"/>
            <a:ext cx="371475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EAEA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NUANCED SENTIMENT ANALYSIS</a:t>
            </a:r>
            <a:endParaRPr lang="en-US" sz="1397" dirty="0"/>
          </a:p>
        </p:txBody>
      </p:sp>
      <p:sp>
        <p:nvSpPr>
          <p:cNvPr id="13" name="Text 10"/>
          <p:cNvSpPr/>
          <p:nvPr/>
        </p:nvSpPr>
        <p:spPr>
          <a:xfrm>
            <a:off x="5000625" y="1339453"/>
            <a:ext cx="3714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Captures subtle emotional shifts in long reviews or social media threads where context from the beginning affects the end.</a:t>
            </a:r>
            <a:endParaRPr lang="en-US" sz="942" dirty="0"/>
          </a:p>
        </p:txBody>
      </p:sp>
      <p:sp>
        <p:nvSpPr>
          <p:cNvPr id="14" name="Shape 11"/>
          <p:cNvSpPr/>
          <p:nvPr/>
        </p:nvSpPr>
        <p:spPr>
          <a:xfrm>
            <a:off x="5000624" y="2502097"/>
            <a:ext cx="1462683" cy="260747"/>
          </a:xfrm>
          <a:prstGeom prst="rect">
            <a:avLst/>
          </a:prstGeom>
          <a:solidFill>
            <a:srgbClr val="EAEAE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000625" y="2448520"/>
            <a:ext cx="1462683" cy="260747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BIDIRECTIONAL CONTEXT</a:t>
            </a:r>
            <a:endParaRPr lang="en-US" sz="683" dirty="0"/>
          </a:p>
        </p:txBody>
      </p:sp>
      <p:sp>
        <p:nvSpPr>
          <p:cNvPr id="16" name="Shape 13"/>
          <p:cNvSpPr/>
          <p:nvPr/>
        </p:nvSpPr>
        <p:spPr>
          <a:xfrm>
            <a:off x="0" y="2923580"/>
            <a:ext cx="4572000" cy="2219920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17" name="Shape 14"/>
          <p:cNvSpPr/>
          <p:nvPr/>
        </p:nvSpPr>
        <p:spPr>
          <a:xfrm>
            <a:off x="4543425" y="2923580"/>
            <a:ext cx="28575" cy="2219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5"/>
          <p:cNvSpPr/>
          <p:nvPr/>
        </p:nvSpPr>
        <p:spPr>
          <a:xfrm>
            <a:off x="428625" y="3209330"/>
            <a:ext cx="371475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EAEA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 &amp; MEDICAL CLASSIFICATION</a:t>
            </a:r>
            <a:endParaRPr lang="en-US" sz="1397" dirty="0"/>
          </a:p>
        </p:txBody>
      </p:sp>
      <p:sp>
        <p:nvSpPr>
          <p:cNvPr id="19" name="Text 16"/>
          <p:cNvSpPr/>
          <p:nvPr/>
        </p:nvSpPr>
        <p:spPr>
          <a:xfrm>
            <a:off x="428625" y="3559373"/>
            <a:ext cx="3714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Organizing large-scale professional documents where long-range dependencies and technical terminology are vital.</a:t>
            </a:r>
            <a:endParaRPr lang="en-US" sz="942" dirty="0"/>
          </a:p>
        </p:txBody>
      </p:sp>
      <p:sp>
        <p:nvSpPr>
          <p:cNvPr id="20" name="Shape 17"/>
          <p:cNvSpPr/>
          <p:nvPr/>
        </p:nvSpPr>
        <p:spPr>
          <a:xfrm>
            <a:off x="428625" y="4668441"/>
            <a:ext cx="1555552" cy="260747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21" name="Text 18"/>
          <p:cNvSpPr/>
          <p:nvPr/>
        </p:nvSpPr>
        <p:spPr>
          <a:xfrm>
            <a:off x="428625" y="4668441"/>
            <a:ext cx="1555552" cy="260747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LONG-RANGE DEPENDENCY</a:t>
            </a:r>
            <a:endParaRPr lang="en-US" sz="683" dirty="0"/>
          </a:p>
        </p:txBody>
      </p:sp>
      <p:sp>
        <p:nvSpPr>
          <p:cNvPr id="22" name="Text 19"/>
          <p:cNvSpPr/>
          <p:nvPr/>
        </p:nvSpPr>
        <p:spPr>
          <a:xfrm>
            <a:off x="5000625" y="3209330"/>
            <a:ext cx="371475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NEXT-GEN SEARCH ENGINES</a:t>
            </a:r>
            <a:endParaRPr lang="en-US" sz="1397" dirty="0"/>
          </a:p>
        </p:txBody>
      </p:sp>
      <p:sp>
        <p:nvSpPr>
          <p:cNvPr id="23" name="Text 20"/>
          <p:cNvSpPr/>
          <p:nvPr/>
        </p:nvSpPr>
        <p:spPr>
          <a:xfrm>
            <a:off x="5000625" y="3559373"/>
            <a:ext cx="3714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Improving result relevance by better understanding the intent behind long, conversational user queries.</a:t>
            </a:r>
            <a:endParaRPr lang="en-US" sz="942" dirty="0"/>
          </a:p>
        </p:txBody>
      </p:sp>
      <p:sp>
        <p:nvSpPr>
          <p:cNvPr id="24" name="Shape 21"/>
          <p:cNvSpPr/>
          <p:nvPr/>
        </p:nvSpPr>
        <p:spPr>
          <a:xfrm>
            <a:off x="5000625" y="4668441"/>
            <a:ext cx="1310878" cy="26074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5" name="Text 22"/>
          <p:cNvSpPr/>
          <p:nvPr/>
        </p:nvSpPr>
        <p:spPr>
          <a:xfrm>
            <a:off x="5000625" y="4668441"/>
            <a:ext cx="1310878" cy="260747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 MASKING NOISE</a:t>
            </a:r>
            <a:endParaRPr lang="en-US" sz="683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7871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121569"/>
            <a:ext cx="9144000" cy="57150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AEA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CONCLUSION: THE FUTURE OF CONTEXTUAL EMBEDDINGS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285750" y="1407319"/>
            <a:ext cx="2447906" cy="342900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SUMMARY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285750" y="1893094"/>
            <a:ext cx="244790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XLNet proved that </a:t>
            </a:r>
            <a:r>
              <a:rPr lang="en-US" sz="987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masking is not required</a:t>
            </a: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bidirectionality. By using Permutation Language Modeling, it captures natural context without artificial noise.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85750" y="4380905"/>
            <a:ext cx="2447906" cy="476845"/>
          </a:xfrm>
          <a:prstGeom prst="rect">
            <a:avLst/>
          </a:prstGeom>
          <a:solidFill>
            <a:srgbClr val="FF3366"/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85750" y="4380905"/>
            <a:ext cx="2447906" cy="47684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NATURAL BIDIRECTIONALITY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3333731" y="1407319"/>
            <a:ext cx="2447934" cy="342900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LEGACY</a:t>
            </a:r>
            <a:endParaRPr lang="en-US" sz="1397" dirty="0"/>
          </a:p>
        </p:txBody>
      </p:sp>
      <p:sp>
        <p:nvSpPr>
          <p:cNvPr id="11" name="Text 8"/>
          <p:cNvSpPr/>
          <p:nvPr/>
        </p:nvSpPr>
        <p:spPr>
          <a:xfrm>
            <a:off x="3333731" y="1893094"/>
            <a:ext cx="244793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paved the way for modern architectures like </a:t>
            </a:r>
            <a:r>
              <a:rPr lang="en-US" sz="987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T5</a:t>
            </a: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987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GPT-3</a:t>
            </a: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by refining how we model long-range dependencies and language interconnectedness.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33731" y="4380905"/>
            <a:ext cx="2447934" cy="476845"/>
          </a:xfrm>
          <a:prstGeom prst="rect">
            <a:avLst/>
          </a:prstGeom>
          <a:solidFill>
            <a:srgbClr val="FF3366"/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33731" y="4380905"/>
            <a:ext cx="2447934" cy="47684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ARCHITECTURAL FOUNDATION</a:t>
            </a:r>
            <a:endParaRPr lang="en-US" sz="784" dirty="0"/>
          </a:p>
        </p:txBody>
      </p:sp>
      <p:sp>
        <p:nvSpPr>
          <p:cNvPr id="14" name="Shape 11"/>
          <p:cNvSpPr/>
          <p:nvPr/>
        </p:nvSpPr>
        <p:spPr>
          <a:xfrm>
            <a:off x="6095991" y="1121569"/>
            <a:ext cx="3047981" cy="402193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6381741" y="1407319"/>
            <a:ext cx="2476481" cy="342900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EAEA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TAKEAWAY</a:t>
            </a:r>
            <a:endParaRPr lang="en-US" sz="1397" dirty="0"/>
          </a:p>
        </p:txBody>
      </p:sp>
      <p:sp>
        <p:nvSpPr>
          <p:cNvPr id="16" name="Text 13"/>
          <p:cNvSpPr/>
          <p:nvPr/>
        </p:nvSpPr>
        <p:spPr>
          <a:xfrm>
            <a:off x="6381741" y="1893094"/>
            <a:ext cx="247648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Permutation modeling remains a powerful tool for capturing the true </a:t>
            </a:r>
            <a:r>
              <a:rPr lang="en-US" sz="987" b="1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interconnectedness</a:t>
            </a:r>
            <a:r>
              <a:rPr lang="en-US" sz="1050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human language, moving us closer to human-like understanding.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381741" y="4380905"/>
            <a:ext cx="2476481" cy="476845"/>
          </a:xfrm>
          <a:prstGeom prst="rect">
            <a:avLst/>
          </a:prstGeom>
          <a:solidFill>
            <a:srgbClr val="0055FF"/>
          </a:solidFill>
          <a:ln w="27432">
            <a:solidFill>
              <a:srgbClr val="EAEA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81741" y="4380905"/>
            <a:ext cx="2476481" cy="47684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AEA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POWER OF CONTEXT</a:t>
            </a:r>
            <a:endParaRPr lang="en-US" sz="78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1191</Words>
  <Application>Microsoft Office PowerPoint</Application>
  <PresentationFormat>On-screen Show (16:9)</PresentationFormat>
  <Paragraphs>211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Courier New</vt:lpstr>
      <vt:lpstr>Inter</vt:lpstr>
      <vt:lpstr>Montserrat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bscs22f18</cp:lastModifiedBy>
  <cp:revision>3</cp:revision>
  <dcterms:created xsi:type="dcterms:W3CDTF">2026-04-07T06:29:50Z</dcterms:created>
  <dcterms:modified xsi:type="dcterms:W3CDTF">2026-04-21T10:15:01Z</dcterms:modified>
</cp:coreProperties>
</file>